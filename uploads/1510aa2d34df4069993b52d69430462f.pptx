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6" r:id="rId4"/>
    <p:sldId id="258" r:id="rId5"/>
    <p:sldId id="259" r:id="rId6"/>
    <p:sldId id="260" r:id="rId7"/>
    <p:sldId id="265" r:id="rId8"/>
    <p:sldId id="262" r:id="rId9"/>
    <p:sldId id="261" r:id="rId10"/>
    <p:sldId id="263" r:id="rId11"/>
    <p:sldId id="264" r:id="rId12"/>
    <p:sldId id="266" r:id="rId13"/>
    <p:sldId id="267" r:id="rId14"/>
    <p:sldId id="268" r:id="rId15"/>
    <p:sldId id="269" r:id="rId16"/>
    <p:sldId id="272" r:id="rId17"/>
    <p:sldId id="271" r:id="rId18"/>
    <p:sldId id="275" r:id="rId19"/>
    <p:sldId id="276" r:id="rId20"/>
    <p:sldId id="277" r:id="rId21"/>
    <p:sldId id="278" r:id="rId22"/>
    <p:sldId id="279" r:id="rId23"/>
    <p:sldId id="281" r:id="rId24"/>
    <p:sldId id="282" r:id="rId25"/>
    <p:sldId id="28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70" d="100"/>
          <a:sy n="70" d="100"/>
        </p:scale>
        <p:origin x="7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file:///C:\Users\Student\AppData\Local\Temp\wps\INetCache\6a39b7becd0fc1c5851558b5a294820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pic>
        <p:nvPicPr>
          <p:cNvPr id="103" name="Picture 102"/>
          <p:cNvPicPr/>
          <p:nvPr/>
        </p:nvPicPr>
        <p:blipFill>
          <a:blip r:embed="rId1"/>
          <a:stretch>
            <a:fillRect/>
          </a:stretch>
        </p:blipFill>
        <p:spPr>
          <a:xfrm>
            <a:off x="635" y="0"/>
            <a:ext cx="12191365" cy="6858000"/>
          </a:xfrm>
          <a:prstGeom prst="rect">
            <a:avLst/>
          </a:prstGeom>
          <a:noFill/>
          <a:ln w="9525">
            <a:noFill/>
          </a:ln>
        </p:spPr>
      </p:pic>
      <p:sp>
        <p:nvSpPr>
          <p:cNvPr id="7" name="Content Placeholder 6"/>
          <p:cNvSpPr>
            <a:spLocks noGrp="1"/>
          </p:cNvSpPr>
          <p:nvPr>
            <p:ph idx="1"/>
          </p:nvPr>
        </p:nvSpPr>
        <p:spPr/>
        <p:txBody>
          <a:bodyPr/>
          <a:lstStyle/>
          <a:p>
            <a:endParaRPr lang="en-US"/>
          </a:p>
        </p:txBody>
      </p:sp>
      <p:sp>
        <p:nvSpPr>
          <p:cNvPr id="8" name="Text Box 7"/>
          <p:cNvSpPr txBox="1"/>
          <p:nvPr/>
        </p:nvSpPr>
        <p:spPr>
          <a:xfrm>
            <a:off x="838200" y="365125"/>
            <a:ext cx="10808970" cy="2861310"/>
          </a:xfrm>
          <a:prstGeom prst="rect">
            <a:avLst/>
          </a:prstGeom>
          <a:noFill/>
        </p:spPr>
        <p:txBody>
          <a:bodyPr wrap="square" rtlCol="0">
            <a:spAutoFit/>
          </a:bodyPr>
          <a:lstStyle/>
          <a:p>
            <a:pPr algn="ctr"/>
            <a:r>
              <a:rPr lang="en-PH" altLang="en-US" sz="6000" b="1" dirty="0">
                <a:ln w="13462">
                  <a:solidFill>
                    <a:schemeClr val="bg1"/>
                  </a:solidFill>
                  <a:prstDash val="solid"/>
                </a:ln>
                <a:solidFill>
                  <a:srgbClr val="FFFF00"/>
                </a:solidFill>
                <a:effectLst>
                  <a:outerShdw dist="38100" dir="2700000" algn="bl" rotWithShape="0">
                    <a:schemeClr val="accent5"/>
                  </a:outerShdw>
                </a:effectLst>
              </a:rPr>
              <a:t>Motivations and ramifications of cyber terrorism and criminal hacking, “cracking”</a:t>
            </a:r>
            <a:endParaRPr lang="en-PH" altLang="en-US" sz="6000" b="1" dirty="0">
              <a:ln w="13462">
                <a:solidFill>
                  <a:schemeClr val="bg1"/>
                </a:solidFill>
                <a:prstDash val="solid"/>
              </a:ln>
              <a:solidFill>
                <a:srgbClr val="FFFF00"/>
              </a:solidFill>
              <a:effectLst>
                <a:outerShdw dist="38100" dir="2700000" algn="bl" rotWithShape="0">
                  <a:schemeClr val="accent5"/>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0" y="0"/>
            <a:ext cx="12192000" cy="6858000"/>
          </a:xfrm>
          <a:prstGeom prst="rect">
            <a:avLst/>
          </a:prstGeom>
        </p:spPr>
      </p:pic>
      <p:sp>
        <p:nvSpPr>
          <p:cNvPr id="6" name="Text Box 5"/>
          <p:cNvSpPr txBox="1"/>
          <p:nvPr/>
        </p:nvSpPr>
        <p:spPr>
          <a:xfrm>
            <a:off x="154305" y="1013460"/>
            <a:ext cx="11882755" cy="3415030"/>
          </a:xfrm>
          <a:prstGeom prst="rect">
            <a:avLst/>
          </a:prstGeom>
          <a:noFill/>
        </p:spPr>
        <p:txBody>
          <a:bodyPr wrap="square" rtlCol="0">
            <a:spAutoFit/>
          </a:bodyPr>
          <a:lstStyle/>
          <a:p>
            <a:pPr algn="just"/>
            <a:r>
              <a:rPr sz="3600" dirty="0">
                <a:solidFill>
                  <a:schemeClr val="bg1"/>
                </a:solidFill>
              </a:rPr>
              <a:t>Many of the cyberattacks are not conducted for money, rather the cyberattacks are conducted due to different ideological beliefs and due to wanting to get personal revenge and outrage towards company or individual, the cybercriminal is attacking.</a:t>
            </a:r>
            <a:r>
              <a:rPr lang="en-PH" sz="3600" dirty="0">
                <a:solidFill>
                  <a:schemeClr val="bg1"/>
                </a:solidFill>
              </a:rPr>
              <a:t> </a:t>
            </a:r>
            <a:r>
              <a:rPr sz="3600" dirty="0">
                <a:solidFill>
                  <a:schemeClr val="bg1"/>
                </a:solidFill>
              </a:rPr>
              <a:t>An employee might want to get revenge on a company if they were mistreated or wrongfully terminated.</a:t>
            </a:r>
            <a:endParaRPr sz="3600" dirty="0">
              <a:solidFill>
                <a:schemeClr val="bg1"/>
              </a:solidFill>
            </a:endParaRPr>
          </a:p>
        </p:txBody>
      </p:sp>
      <p:sp>
        <p:nvSpPr>
          <p:cNvPr id="7" name="Text Box 6"/>
          <p:cNvSpPr txBox="1"/>
          <p:nvPr/>
        </p:nvSpPr>
        <p:spPr>
          <a:xfrm>
            <a:off x="2882900" y="182880"/>
            <a:ext cx="6557645" cy="645160"/>
          </a:xfrm>
          <a:prstGeom prst="rect">
            <a:avLst/>
          </a:prstGeom>
          <a:noFill/>
        </p:spPr>
        <p:txBody>
          <a:bodyPr wrap="square" rtlCol="0">
            <a:spAutoFit/>
          </a:bodyPr>
          <a:lstStyle/>
          <a:p>
            <a:r>
              <a:rPr lang="en-US" sz="3600" b="1">
                <a:solidFill>
                  <a:schemeClr val="bg1"/>
                </a:solidFill>
              </a:rPr>
              <a:t>Motivations for cyber</a:t>
            </a:r>
            <a:r>
              <a:rPr lang="en-PH" altLang="en-US" sz="3600" b="1">
                <a:solidFill>
                  <a:schemeClr val="bg1"/>
                </a:solidFill>
              </a:rPr>
              <a:t>terrorism</a:t>
            </a:r>
            <a:endParaRPr lang="en-PH" altLang="en-US" sz="3600" b="1">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0" y="0"/>
            <a:ext cx="12192000" cy="6858000"/>
          </a:xfrm>
          <a:prstGeom prst="rect">
            <a:avLst/>
          </a:prstGeom>
        </p:spPr>
      </p:pic>
      <p:sp>
        <p:nvSpPr>
          <p:cNvPr id="6" name="Text Box 5"/>
          <p:cNvSpPr txBox="1"/>
          <p:nvPr/>
        </p:nvSpPr>
        <p:spPr>
          <a:xfrm>
            <a:off x="154305" y="495300"/>
            <a:ext cx="11882755" cy="5631180"/>
          </a:xfrm>
          <a:prstGeom prst="rect">
            <a:avLst/>
          </a:prstGeom>
          <a:noFill/>
        </p:spPr>
        <p:txBody>
          <a:bodyPr wrap="square" rtlCol="0">
            <a:spAutoFit/>
          </a:bodyPr>
          <a:lstStyle/>
          <a:p>
            <a:pPr algn="just"/>
            <a:r>
              <a:rPr lang="en-US" sz="3600">
                <a:solidFill>
                  <a:schemeClr val="bg1"/>
                </a:solidFill>
              </a:rPr>
              <a:t>There are many different motives for </a:t>
            </a:r>
            <a:r>
              <a:rPr lang="en-US" sz="3600" b="1">
                <a:solidFill>
                  <a:schemeClr val="bg1"/>
                </a:solidFill>
                <a:sym typeface="+mn-ea"/>
              </a:rPr>
              <a:t>cyber</a:t>
            </a:r>
            <a:r>
              <a:rPr lang="en-PH" altLang="en-US" sz="3600" b="1">
                <a:solidFill>
                  <a:schemeClr val="bg1"/>
                </a:solidFill>
                <a:sym typeface="+mn-ea"/>
              </a:rPr>
              <a:t>terrorism</a:t>
            </a:r>
            <a:r>
              <a:rPr lang="en-US" sz="3600">
                <a:solidFill>
                  <a:schemeClr val="bg1"/>
                </a:solidFill>
              </a:rPr>
              <a:t>, with the majority being for financial reasons. However, there is increasing evidence that hackers are becoming more politically motivated. Cyberterrorists are aware that governments are reliant on the internet and have exploited this as a result. </a:t>
            </a:r>
            <a:endParaRPr lang="en-US" sz="3600">
              <a:solidFill>
                <a:schemeClr val="bg1"/>
              </a:solidFill>
            </a:endParaRPr>
          </a:p>
          <a:p>
            <a:pPr algn="just"/>
            <a:r>
              <a:rPr lang="en-US" sz="3600" b="1">
                <a:solidFill>
                  <a:srgbClr val="FFFF00"/>
                </a:solidFill>
              </a:rPr>
              <a:t>Other motivations for cybercriminals include:</a:t>
            </a:r>
            <a:endParaRPr lang="en-US" sz="3600" b="1">
              <a:solidFill>
                <a:srgbClr val="FFFF00"/>
              </a:solidFill>
            </a:endParaRPr>
          </a:p>
          <a:p>
            <a:pPr marL="571500" indent="-571500" algn="just">
              <a:buFont typeface="Arial" panose="020B0604020202020204" pitchFamily="34" charset="0"/>
              <a:buChar char="•"/>
            </a:pPr>
            <a:r>
              <a:rPr lang="en-US" sz="3600">
                <a:solidFill>
                  <a:schemeClr val="bg1"/>
                </a:solidFill>
              </a:rPr>
              <a:t>Political goals</a:t>
            </a:r>
            <a:endParaRPr lang="en-US" sz="3600">
              <a:solidFill>
                <a:schemeClr val="bg1"/>
              </a:solidFill>
            </a:endParaRPr>
          </a:p>
          <a:p>
            <a:pPr marL="571500" indent="-571500" algn="just">
              <a:buFont typeface="Arial" panose="020B0604020202020204" pitchFamily="34" charset="0"/>
              <a:buChar char="•"/>
            </a:pPr>
            <a:r>
              <a:rPr lang="en-US" sz="3600">
                <a:solidFill>
                  <a:schemeClr val="bg1"/>
                </a:solidFill>
              </a:rPr>
              <a:t>Competition between companies</a:t>
            </a:r>
            <a:endParaRPr lang="en-US" sz="3600">
              <a:solidFill>
                <a:schemeClr val="bg1"/>
              </a:solidFill>
            </a:endParaRPr>
          </a:p>
          <a:p>
            <a:pPr marL="571500" indent="-571500" algn="just">
              <a:buFont typeface="Arial" panose="020B0604020202020204" pitchFamily="34" charset="0"/>
              <a:buChar char="•"/>
            </a:pPr>
            <a:r>
              <a:rPr lang="en-US" sz="3600">
                <a:solidFill>
                  <a:schemeClr val="bg1"/>
                </a:solidFill>
              </a:rPr>
              <a:t>Cyberwarfare between two countries</a:t>
            </a:r>
            <a:endParaRPr lang="en-US" sz="3600">
              <a:solidFill>
                <a:schemeClr val="bg1"/>
              </a:solidFill>
            </a:endParaRPr>
          </a:p>
          <a:p>
            <a:pPr marL="571500" indent="-571500" algn="just">
              <a:buFont typeface="Arial" panose="020B0604020202020204" pitchFamily="34" charset="0"/>
              <a:buChar char="•"/>
            </a:pPr>
            <a:r>
              <a:rPr lang="en-US" sz="3600">
                <a:solidFill>
                  <a:schemeClr val="bg1"/>
                </a:solidFill>
              </a:rPr>
              <a:t>Money</a:t>
            </a:r>
            <a:endParaRPr lang="en-US" sz="360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0" y="0"/>
            <a:ext cx="12192000" cy="6858000"/>
          </a:xfrm>
          <a:prstGeom prst="rect">
            <a:avLst/>
          </a:prstGeom>
        </p:spPr>
      </p:pic>
      <p:sp>
        <p:nvSpPr>
          <p:cNvPr id="6" name="Text Box 5"/>
          <p:cNvSpPr txBox="1"/>
          <p:nvPr/>
        </p:nvSpPr>
        <p:spPr>
          <a:xfrm>
            <a:off x="154940" y="250190"/>
            <a:ext cx="11882755" cy="6000750"/>
          </a:xfrm>
          <a:prstGeom prst="rect">
            <a:avLst/>
          </a:prstGeom>
          <a:noFill/>
        </p:spPr>
        <p:txBody>
          <a:bodyPr wrap="square" rtlCol="0">
            <a:spAutoFit/>
          </a:bodyPr>
          <a:lstStyle/>
          <a:p>
            <a:pPr algn="just"/>
            <a:r>
              <a:rPr sz="3200" b="1" i="1" u="sng" dirty="0">
                <a:solidFill>
                  <a:srgbClr val="FFFF00"/>
                </a:solidFill>
              </a:rPr>
              <a:t>Political goals</a:t>
            </a:r>
            <a:r>
              <a:rPr sz="3200" dirty="0">
                <a:solidFill>
                  <a:schemeClr val="bg1"/>
                </a:solidFill>
              </a:rPr>
              <a:t> motivate cyber-attackers because they are not happy with candidates and they might want certain candidates to win the election, therefore, they might alter the election voting to help their preferred candidate win.</a:t>
            </a:r>
            <a:endParaRPr sz="3200" dirty="0">
              <a:solidFill>
                <a:schemeClr val="bg1"/>
              </a:solidFill>
            </a:endParaRPr>
          </a:p>
          <a:p>
            <a:pPr algn="just"/>
            <a:endParaRPr sz="3200" dirty="0">
              <a:solidFill>
                <a:schemeClr val="bg1"/>
              </a:solidFill>
            </a:endParaRPr>
          </a:p>
          <a:p>
            <a:pPr algn="just"/>
            <a:r>
              <a:rPr sz="3200" b="1" i="1" u="sng" dirty="0">
                <a:solidFill>
                  <a:srgbClr val="FFFF00"/>
                </a:solidFill>
              </a:rPr>
              <a:t>Competition between two companies</a:t>
            </a:r>
            <a:r>
              <a:rPr sz="3200" b="1" i="1" dirty="0">
                <a:solidFill>
                  <a:srgbClr val="FFFF00"/>
                </a:solidFill>
              </a:rPr>
              <a:t> </a:t>
            </a:r>
            <a:r>
              <a:rPr sz="3200" dirty="0">
                <a:solidFill>
                  <a:schemeClr val="bg1"/>
                </a:solidFill>
              </a:rPr>
              <a:t>can also stir up a cyberattack, as one company can hire a hacker to conduct the attack on a company as they might want to test the rival company's security. This will also benefit a company because it will force their competitor's customers to think that the company is not secure due to them getting cyber attacked effortlessly and they don't want any of their personal credentials getting leaked.</a:t>
            </a:r>
            <a:endParaRPr sz="32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0" y="0"/>
            <a:ext cx="12192000" cy="6858000"/>
          </a:xfrm>
          <a:prstGeom prst="rect">
            <a:avLst/>
          </a:prstGeom>
        </p:spPr>
      </p:pic>
      <p:sp>
        <p:nvSpPr>
          <p:cNvPr id="6" name="Text Box 5"/>
          <p:cNvSpPr txBox="1"/>
          <p:nvPr/>
        </p:nvSpPr>
        <p:spPr>
          <a:xfrm>
            <a:off x="154940" y="250190"/>
            <a:ext cx="11882755" cy="4030980"/>
          </a:xfrm>
          <a:prstGeom prst="rect">
            <a:avLst/>
          </a:prstGeom>
          <a:noFill/>
        </p:spPr>
        <p:txBody>
          <a:bodyPr wrap="square" rtlCol="0">
            <a:spAutoFit/>
          </a:bodyPr>
          <a:lstStyle/>
          <a:p>
            <a:pPr algn="just"/>
            <a:r>
              <a:rPr sz="3200" b="1" i="1" u="sng" dirty="0">
                <a:solidFill>
                  <a:srgbClr val="FFFF00"/>
                </a:solidFill>
              </a:rPr>
              <a:t>Cyberwarfare</a:t>
            </a:r>
            <a:r>
              <a:rPr sz="3200" u="sng" dirty="0">
                <a:solidFill>
                  <a:schemeClr val="bg1"/>
                </a:solidFill>
              </a:rPr>
              <a:t> </a:t>
            </a:r>
            <a:r>
              <a:rPr sz="3200" dirty="0">
                <a:solidFill>
                  <a:schemeClr val="bg1"/>
                </a:solidFill>
              </a:rPr>
              <a:t>is motivation for countries that are fighting each other. This is mainly used to weaken the opposing country by compromising its core systems and the countries data and other vulnerable information.</a:t>
            </a:r>
            <a:endParaRPr sz="3200" dirty="0">
              <a:solidFill>
                <a:schemeClr val="bg1"/>
              </a:solidFill>
            </a:endParaRPr>
          </a:p>
          <a:p>
            <a:pPr algn="just"/>
            <a:endParaRPr sz="3200" dirty="0">
              <a:solidFill>
                <a:schemeClr val="bg1"/>
              </a:solidFill>
            </a:endParaRPr>
          </a:p>
          <a:p>
            <a:pPr algn="just"/>
            <a:r>
              <a:rPr sz="3200" b="1" i="1" u="sng" dirty="0">
                <a:solidFill>
                  <a:srgbClr val="FFFF00"/>
                </a:solidFill>
              </a:rPr>
              <a:t>Money </a:t>
            </a:r>
            <a:r>
              <a:rPr sz="3200" dirty="0">
                <a:solidFill>
                  <a:schemeClr val="bg1"/>
                </a:solidFill>
              </a:rPr>
              <a:t>is motivating for cyber attacks for ransomware, phishing, and data theft as the cyber criminals can differently contact the victims and ask for money and in return the data stays safe</a:t>
            </a:r>
            <a:endParaRPr sz="32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0" y="0"/>
            <a:ext cx="12192000" cy="6858000"/>
          </a:xfrm>
          <a:prstGeom prst="rect">
            <a:avLst/>
          </a:prstGeom>
        </p:spPr>
      </p:pic>
      <p:sp>
        <p:nvSpPr>
          <p:cNvPr id="7" name="Text Box 6"/>
          <p:cNvSpPr txBox="1"/>
          <p:nvPr/>
        </p:nvSpPr>
        <p:spPr>
          <a:xfrm>
            <a:off x="3496945" y="1336675"/>
            <a:ext cx="6557645" cy="768350"/>
          </a:xfrm>
          <a:prstGeom prst="rect">
            <a:avLst/>
          </a:prstGeom>
          <a:noFill/>
        </p:spPr>
        <p:txBody>
          <a:bodyPr wrap="square" rtlCol="0">
            <a:spAutoFit/>
          </a:bodyPr>
          <a:lstStyle/>
          <a:p>
            <a:r>
              <a:rPr sz="4400" b="1">
                <a:solidFill>
                  <a:srgbClr val="FFFF00"/>
                </a:solidFill>
              </a:rPr>
              <a:t>Why do hackers hack?</a:t>
            </a:r>
            <a:endParaRPr sz="4400" b="1">
              <a:solidFill>
                <a:srgbClr val="FFFF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0" y="0"/>
            <a:ext cx="12192000" cy="6858000"/>
          </a:xfrm>
          <a:prstGeom prst="rect">
            <a:avLst/>
          </a:prstGeom>
        </p:spPr>
      </p:pic>
      <p:sp>
        <p:nvSpPr>
          <p:cNvPr id="6" name="Text Box 5"/>
          <p:cNvSpPr txBox="1"/>
          <p:nvPr/>
        </p:nvSpPr>
        <p:spPr>
          <a:xfrm>
            <a:off x="154305" y="1013460"/>
            <a:ext cx="11882755" cy="5077460"/>
          </a:xfrm>
          <a:prstGeom prst="rect">
            <a:avLst/>
          </a:prstGeom>
          <a:noFill/>
        </p:spPr>
        <p:txBody>
          <a:bodyPr wrap="square" rtlCol="0">
            <a:spAutoFit/>
          </a:bodyPr>
          <a:lstStyle/>
          <a:p>
            <a:pPr algn="just"/>
            <a:r>
              <a:rPr sz="3600">
                <a:solidFill>
                  <a:schemeClr val="bg1"/>
                </a:solidFill>
              </a:rPr>
              <a:t>The reasons why hackers commit crimes fall into these general categories:</a:t>
            </a:r>
            <a:endParaRPr sz="3600">
              <a:solidFill>
                <a:schemeClr val="bg1"/>
              </a:solidFill>
            </a:endParaRPr>
          </a:p>
          <a:p>
            <a:pPr algn="just"/>
            <a:endParaRPr sz="3600">
              <a:solidFill>
                <a:schemeClr val="bg1"/>
              </a:solidFill>
            </a:endParaRPr>
          </a:p>
          <a:p>
            <a:pPr marL="571500" indent="-571500" algn="just">
              <a:buFont typeface="Arial" panose="020B0604020202020204" pitchFamily="34" charset="0"/>
              <a:buChar char="•"/>
            </a:pPr>
            <a:r>
              <a:rPr sz="3600">
                <a:solidFill>
                  <a:schemeClr val="bg1"/>
                </a:solidFill>
              </a:rPr>
              <a:t>Financial motivations</a:t>
            </a:r>
            <a:endParaRPr sz="3600">
              <a:solidFill>
                <a:schemeClr val="bg1"/>
              </a:solidFill>
            </a:endParaRPr>
          </a:p>
          <a:p>
            <a:pPr marL="571500" indent="-571500" algn="just">
              <a:buFont typeface="Arial" panose="020B0604020202020204" pitchFamily="34" charset="0"/>
              <a:buChar char="•"/>
            </a:pPr>
            <a:r>
              <a:rPr sz="3600">
                <a:solidFill>
                  <a:schemeClr val="bg1"/>
                </a:solidFill>
              </a:rPr>
              <a:t>Nation-state sponsored/cyberwarfare</a:t>
            </a:r>
            <a:endParaRPr sz="3600">
              <a:solidFill>
                <a:schemeClr val="bg1"/>
              </a:solidFill>
            </a:endParaRPr>
          </a:p>
          <a:p>
            <a:pPr marL="571500" indent="-571500" algn="just">
              <a:buFont typeface="Arial" panose="020B0604020202020204" pitchFamily="34" charset="0"/>
              <a:buChar char="•"/>
            </a:pPr>
            <a:r>
              <a:rPr sz="3600">
                <a:solidFill>
                  <a:schemeClr val="bg1"/>
                </a:solidFill>
              </a:rPr>
              <a:t>Corporate espionage</a:t>
            </a:r>
            <a:endParaRPr sz="3600">
              <a:solidFill>
                <a:schemeClr val="bg1"/>
              </a:solidFill>
            </a:endParaRPr>
          </a:p>
          <a:p>
            <a:pPr marL="571500" indent="-571500" algn="just">
              <a:buFont typeface="Arial" panose="020B0604020202020204" pitchFamily="34" charset="0"/>
              <a:buChar char="•"/>
            </a:pPr>
            <a:r>
              <a:rPr sz="3600">
                <a:solidFill>
                  <a:schemeClr val="bg1"/>
                </a:solidFill>
              </a:rPr>
              <a:t>Hack</a:t>
            </a:r>
            <a:r>
              <a:rPr lang="en-US" sz="3600">
                <a:solidFill>
                  <a:schemeClr val="bg1"/>
                </a:solidFill>
              </a:rPr>
              <a:t>t</a:t>
            </a:r>
            <a:r>
              <a:rPr sz="3600">
                <a:solidFill>
                  <a:schemeClr val="bg1"/>
                </a:solidFill>
              </a:rPr>
              <a:t>ivists</a:t>
            </a:r>
            <a:endParaRPr sz="3600">
              <a:solidFill>
                <a:schemeClr val="bg1"/>
              </a:solidFill>
            </a:endParaRPr>
          </a:p>
          <a:p>
            <a:pPr marL="571500" indent="-571500" algn="just">
              <a:buFont typeface="Arial" panose="020B0604020202020204" pitchFamily="34" charset="0"/>
              <a:buChar char="•"/>
            </a:pPr>
            <a:r>
              <a:rPr sz="3600">
                <a:solidFill>
                  <a:schemeClr val="bg1"/>
                </a:solidFill>
              </a:rPr>
              <a:t>Resource theft</a:t>
            </a:r>
            <a:endParaRPr sz="3600">
              <a:solidFill>
                <a:schemeClr val="bg1"/>
              </a:solidFill>
            </a:endParaRPr>
          </a:p>
          <a:p>
            <a:pPr marL="571500" indent="-571500" algn="just">
              <a:buFont typeface="Arial" panose="020B0604020202020204" pitchFamily="34" charset="0"/>
              <a:buChar char="•"/>
            </a:pPr>
            <a:r>
              <a:rPr sz="3600">
                <a:solidFill>
                  <a:schemeClr val="bg1"/>
                </a:solidFill>
              </a:rPr>
              <a:t>Gamer issues</a:t>
            </a:r>
            <a:endParaRPr sz="3600">
              <a:solidFill>
                <a:schemeClr val="bg1"/>
              </a:solidFill>
            </a:endParaRPr>
          </a:p>
        </p:txBody>
      </p:sp>
      <p:sp>
        <p:nvSpPr>
          <p:cNvPr id="7" name="Text Box 6"/>
          <p:cNvSpPr txBox="1"/>
          <p:nvPr/>
        </p:nvSpPr>
        <p:spPr>
          <a:xfrm>
            <a:off x="2882900" y="182880"/>
            <a:ext cx="6557645" cy="645160"/>
          </a:xfrm>
          <a:prstGeom prst="rect">
            <a:avLst/>
          </a:prstGeom>
          <a:noFill/>
        </p:spPr>
        <p:txBody>
          <a:bodyPr wrap="square" rtlCol="0">
            <a:spAutoFit/>
          </a:bodyPr>
          <a:lstStyle/>
          <a:p>
            <a:r>
              <a:rPr sz="3600" b="1">
                <a:solidFill>
                  <a:schemeClr val="bg1"/>
                </a:solidFill>
              </a:rPr>
              <a:t>Why do hackers hack?</a:t>
            </a:r>
            <a:endParaRPr sz="3600" b="1">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0" y="0"/>
            <a:ext cx="12192000" cy="6858000"/>
          </a:xfrm>
          <a:prstGeom prst="rect">
            <a:avLst/>
          </a:prstGeom>
        </p:spPr>
      </p:pic>
      <p:sp>
        <p:nvSpPr>
          <p:cNvPr id="6" name="Text Box 5"/>
          <p:cNvSpPr txBox="1"/>
          <p:nvPr/>
        </p:nvSpPr>
        <p:spPr>
          <a:xfrm>
            <a:off x="154940" y="1466215"/>
            <a:ext cx="11882755" cy="4523105"/>
          </a:xfrm>
          <a:prstGeom prst="rect">
            <a:avLst/>
          </a:prstGeom>
          <a:noFill/>
        </p:spPr>
        <p:txBody>
          <a:bodyPr wrap="square" rtlCol="0">
            <a:spAutoFit/>
          </a:bodyPr>
          <a:lstStyle/>
          <a:p>
            <a:pPr marL="571500" indent="-571500" algn="just">
              <a:buFont typeface="Arial" panose="020B0604020202020204" pitchFamily="34" charset="0"/>
              <a:buChar char="•"/>
            </a:pPr>
            <a:r>
              <a:rPr sz="3600">
                <a:solidFill>
                  <a:schemeClr val="bg1"/>
                </a:solidFill>
              </a:rPr>
              <a:t>Social engineering</a:t>
            </a:r>
            <a:endParaRPr sz="3600">
              <a:solidFill>
                <a:schemeClr val="bg1"/>
              </a:solidFill>
            </a:endParaRPr>
          </a:p>
          <a:p>
            <a:pPr marL="571500" indent="-571500" algn="just">
              <a:buFont typeface="Arial" panose="020B0604020202020204" pitchFamily="34" charset="0"/>
              <a:buChar char="•"/>
            </a:pPr>
            <a:r>
              <a:rPr sz="3600">
                <a:solidFill>
                  <a:schemeClr val="bg1"/>
                </a:solidFill>
              </a:rPr>
              <a:t>Unpatched software and hardware vulnerabilities</a:t>
            </a:r>
            <a:endParaRPr sz="3600">
              <a:solidFill>
                <a:schemeClr val="bg1"/>
              </a:solidFill>
            </a:endParaRPr>
          </a:p>
          <a:p>
            <a:pPr marL="571500" indent="-571500" algn="just">
              <a:buFont typeface="Arial" panose="020B0604020202020204" pitchFamily="34" charset="0"/>
              <a:buChar char="•"/>
            </a:pPr>
            <a:r>
              <a:rPr sz="3600">
                <a:solidFill>
                  <a:schemeClr val="bg1"/>
                </a:solidFill>
              </a:rPr>
              <a:t>Zero-day attacks</a:t>
            </a:r>
            <a:endParaRPr sz="3600">
              <a:solidFill>
                <a:schemeClr val="bg1"/>
              </a:solidFill>
            </a:endParaRPr>
          </a:p>
          <a:p>
            <a:pPr marL="571500" indent="-571500" algn="just">
              <a:buFont typeface="Arial" panose="020B0604020202020204" pitchFamily="34" charset="0"/>
              <a:buChar char="•"/>
            </a:pPr>
            <a:r>
              <a:rPr sz="3600">
                <a:solidFill>
                  <a:schemeClr val="bg1"/>
                </a:solidFill>
              </a:rPr>
              <a:t>Browser attacks</a:t>
            </a:r>
            <a:endParaRPr sz="3600">
              <a:solidFill>
                <a:schemeClr val="bg1"/>
              </a:solidFill>
            </a:endParaRPr>
          </a:p>
          <a:p>
            <a:pPr marL="571500" indent="-571500" algn="just">
              <a:buFont typeface="Arial" panose="020B0604020202020204" pitchFamily="34" charset="0"/>
              <a:buChar char="•"/>
            </a:pPr>
            <a:r>
              <a:rPr sz="3600">
                <a:solidFill>
                  <a:schemeClr val="bg1"/>
                </a:solidFill>
              </a:rPr>
              <a:t>Password attacks</a:t>
            </a:r>
            <a:endParaRPr sz="3600">
              <a:solidFill>
                <a:schemeClr val="bg1"/>
              </a:solidFill>
            </a:endParaRPr>
          </a:p>
          <a:p>
            <a:pPr marL="571500" indent="-571500" algn="just">
              <a:buFont typeface="Arial" panose="020B0604020202020204" pitchFamily="34" charset="0"/>
              <a:buChar char="•"/>
            </a:pPr>
            <a:r>
              <a:rPr sz="3600">
                <a:solidFill>
                  <a:schemeClr val="bg1"/>
                </a:solidFill>
              </a:rPr>
              <a:t>Eavesdropping</a:t>
            </a:r>
            <a:endParaRPr sz="3600">
              <a:solidFill>
                <a:schemeClr val="bg1"/>
              </a:solidFill>
            </a:endParaRPr>
          </a:p>
          <a:p>
            <a:pPr marL="571500" indent="-571500" algn="just">
              <a:buFont typeface="Arial" panose="020B0604020202020204" pitchFamily="34" charset="0"/>
              <a:buChar char="•"/>
            </a:pPr>
            <a:r>
              <a:rPr sz="3600">
                <a:solidFill>
                  <a:schemeClr val="bg1"/>
                </a:solidFill>
              </a:rPr>
              <a:t>Denial of service</a:t>
            </a:r>
            <a:endParaRPr sz="3600">
              <a:solidFill>
                <a:schemeClr val="bg1"/>
              </a:solidFill>
            </a:endParaRPr>
          </a:p>
          <a:p>
            <a:pPr marL="571500" indent="-571500" algn="just">
              <a:buFont typeface="Arial" panose="020B0604020202020204" pitchFamily="34" charset="0"/>
              <a:buChar char="•"/>
            </a:pPr>
            <a:r>
              <a:rPr sz="3600">
                <a:solidFill>
                  <a:schemeClr val="bg1"/>
                </a:solidFill>
              </a:rPr>
              <a:t>Physical attacks</a:t>
            </a:r>
            <a:endParaRPr sz="3600">
              <a:solidFill>
                <a:schemeClr val="bg1"/>
              </a:solidFill>
            </a:endParaRPr>
          </a:p>
        </p:txBody>
      </p:sp>
      <p:sp>
        <p:nvSpPr>
          <p:cNvPr id="7" name="Text Box 6"/>
          <p:cNvSpPr txBox="1"/>
          <p:nvPr/>
        </p:nvSpPr>
        <p:spPr>
          <a:xfrm>
            <a:off x="2150110" y="215265"/>
            <a:ext cx="8670290" cy="645160"/>
          </a:xfrm>
          <a:prstGeom prst="rect">
            <a:avLst/>
          </a:prstGeom>
          <a:noFill/>
        </p:spPr>
        <p:txBody>
          <a:bodyPr wrap="square" rtlCol="0">
            <a:spAutoFit/>
          </a:bodyPr>
          <a:lstStyle/>
          <a:p>
            <a:pPr algn="just"/>
            <a:r>
              <a:rPr lang="en-PH" sz="3600" b="1">
                <a:solidFill>
                  <a:schemeClr val="bg1"/>
                </a:solidFill>
              </a:rPr>
              <a:t>	T</a:t>
            </a:r>
            <a:r>
              <a:rPr sz="3600" b="1">
                <a:solidFill>
                  <a:schemeClr val="bg1"/>
                </a:solidFill>
              </a:rPr>
              <a:t>ypes of exploits and methodologies</a:t>
            </a:r>
            <a:endParaRPr sz="3600" b="1">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7" name="Text Box 6"/>
          <p:cNvSpPr txBox="1"/>
          <p:nvPr/>
        </p:nvSpPr>
        <p:spPr>
          <a:xfrm>
            <a:off x="2031365" y="1246505"/>
            <a:ext cx="8670290" cy="768350"/>
          </a:xfrm>
          <a:prstGeom prst="rect">
            <a:avLst/>
          </a:prstGeom>
          <a:noFill/>
        </p:spPr>
        <p:txBody>
          <a:bodyPr wrap="square" rtlCol="0">
            <a:spAutoFit/>
          </a:bodyPr>
          <a:lstStyle/>
          <a:p>
            <a:pPr algn="just"/>
            <a:r>
              <a:rPr lang="en-PH" sz="3600" b="1">
                <a:solidFill>
                  <a:schemeClr val="bg1"/>
                </a:solidFill>
              </a:rPr>
              <a:t>	</a:t>
            </a:r>
            <a:r>
              <a:rPr sz="4400" b="1">
                <a:solidFill>
                  <a:srgbClr val="FFFF00"/>
                </a:solidFill>
              </a:rPr>
              <a:t>What is a Computer Cracker?</a:t>
            </a:r>
            <a:endParaRPr sz="4400" b="1">
              <a:solidFill>
                <a:srgbClr val="FFFF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128905" y="1122680"/>
            <a:ext cx="11775440" cy="4523105"/>
          </a:xfrm>
          <a:prstGeom prst="rect">
            <a:avLst/>
          </a:prstGeom>
          <a:noFill/>
        </p:spPr>
        <p:txBody>
          <a:bodyPr wrap="square" rtlCol="0">
            <a:spAutoFit/>
          </a:bodyPr>
          <a:lstStyle/>
          <a:p>
            <a:pPr indent="0" algn="just">
              <a:buNone/>
            </a:pPr>
            <a:r>
              <a:rPr sz="3600" dirty="0">
                <a:solidFill>
                  <a:schemeClr val="bg1"/>
                </a:solidFill>
              </a:rPr>
              <a:t> A computer cracker, commonly referred to as a hacker, is an individual who exploits vulnerabilities in computer systems and networks with malicious intent. Unlike ethical hackers who work to identify and fix security holes, crackers use their skills to gain unauthorized access to systems for personal gain, such as stealing sensitive information, causing disruptions, or taking control of systems for ransom. </a:t>
            </a:r>
            <a:endParaRPr sz="3600" dirty="0">
              <a:solidFill>
                <a:schemeClr val="bg1"/>
              </a:solidFill>
            </a:endParaRPr>
          </a:p>
        </p:txBody>
      </p:sp>
      <p:sp>
        <p:nvSpPr>
          <p:cNvPr id="7" name="Text Box 6"/>
          <p:cNvSpPr txBox="1"/>
          <p:nvPr/>
        </p:nvSpPr>
        <p:spPr>
          <a:xfrm>
            <a:off x="2150110" y="215265"/>
            <a:ext cx="8670290" cy="645160"/>
          </a:xfrm>
          <a:prstGeom prst="rect">
            <a:avLst/>
          </a:prstGeom>
          <a:noFill/>
        </p:spPr>
        <p:txBody>
          <a:bodyPr wrap="square" rtlCol="0">
            <a:spAutoFit/>
          </a:bodyPr>
          <a:lstStyle/>
          <a:p>
            <a:pPr algn="just"/>
            <a:r>
              <a:rPr lang="en-PH" sz="3600" b="1">
                <a:solidFill>
                  <a:schemeClr val="bg1"/>
                </a:solidFill>
              </a:rPr>
              <a:t>	</a:t>
            </a:r>
            <a:r>
              <a:rPr sz="3600" b="1">
                <a:solidFill>
                  <a:schemeClr val="bg1"/>
                </a:solidFill>
              </a:rPr>
              <a:t>What is a Computer Cracker?</a:t>
            </a:r>
            <a:endParaRPr sz="3600" b="1">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128905" y="593090"/>
            <a:ext cx="11775440" cy="3969385"/>
          </a:xfrm>
          <a:prstGeom prst="rect">
            <a:avLst/>
          </a:prstGeom>
          <a:noFill/>
        </p:spPr>
        <p:txBody>
          <a:bodyPr wrap="square" rtlCol="0">
            <a:spAutoFit/>
          </a:bodyPr>
          <a:lstStyle/>
          <a:p>
            <a:pPr indent="0" algn="just">
              <a:buNone/>
            </a:pPr>
            <a:r>
              <a:rPr sz="3600">
                <a:solidFill>
                  <a:schemeClr val="bg1"/>
                </a:solidFill>
              </a:rPr>
              <a:t> Crackers use various tools and techniques to breach security, including phishing attacks, malware, social engineering, and brute force attacks. Their actions can have serious consequences, including financial loss, damage to reputation, and compromise of personal and corporate data. It is important to understand what is a computer cracker and learn strong security measures to protect these cracking threats.</a:t>
            </a:r>
            <a:endParaRPr sz="360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201930" y="1036320"/>
            <a:ext cx="11775440" cy="5631180"/>
          </a:xfrm>
          <a:prstGeom prst="rect">
            <a:avLst/>
          </a:prstGeom>
          <a:noFill/>
        </p:spPr>
        <p:txBody>
          <a:bodyPr wrap="square" rtlCol="0">
            <a:spAutoFit/>
          </a:bodyPr>
          <a:lstStyle/>
          <a:p>
            <a:pPr indent="0" algn="just">
              <a:buNone/>
            </a:pPr>
            <a:r>
              <a:rPr sz="3600">
                <a:solidFill>
                  <a:schemeClr val="bg1"/>
                </a:solidFill>
              </a:rPr>
              <a:t> Let's consider a scenario where a skilled individual named Alex decides to engage in cracking activities. Alex comes across a vulnerable e-commerce website that lacks proper security measures. Intrigued by the challenge, Alex exploits a flaw in the website's code, bypasses authentication, and gains unauthorized access to the site's customer database. </a:t>
            </a:r>
            <a:endParaRPr sz="3600">
              <a:solidFill>
                <a:schemeClr val="bg1"/>
              </a:solidFill>
            </a:endParaRPr>
          </a:p>
          <a:p>
            <a:pPr indent="0" algn="just">
              <a:buNone/>
            </a:pPr>
            <a:endParaRPr sz="3600">
              <a:solidFill>
                <a:schemeClr val="bg1"/>
              </a:solidFill>
            </a:endParaRPr>
          </a:p>
          <a:p>
            <a:pPr indent="0" algn="just">
              <a:buNone/>
            </a:pPr>
            <a:r>
              <a:rPr sz="3600">
                <a:solidFill>
                  <a:schemeClr val="bg1"/>
                </a:solidFill>
              </a:rPr>
              <a:t>With access to personal and financial information, Alex can sell the data on the dark web, use it for identity theft, or engage in fraudulent transactions. </a:t>
            </a:r>
            <a:endParaRPr sz="3600">
              <a:solidFill>
                <a:schemeClr val="bg1"/>
              </a:solidFill>
            </a:endParaRPr>
          </a:p>
        </p:txBody>
      </p:sp>
      <p:sp>
        <p:nvSpPr>
          <p:cNvPr id="7" name="Text Box 6"/>
          <p:cNvSpPr txBox="1"/>
          <p:nvPr/>
        </p:nvSpPr>
        <p:spPr>
          <a:xfrm>
            <a:off x="2150110" y="215265"/>
            <a:ext cx="8670290" cy="645160"/>
          </a:xfrm>
          <a:prstGeom prst="rect">
            <a:avLst/>
          </a:prstGeom>
          <a:noFill/>
        </p:spPr>
        <p:txBody>
          <a:bodyPr wrap="square" rtlCol="0">
            <a:spAutoFit/>
          </a:bodyPr>
          <a:lstStyle/>
          <a:p>
            <a:pPr algn="just"/>
            <a:r>
              <a:rPr lang="en-PH" sz="3600" b="1">
                <a:solidFill>
                  <a:schemeClr val="bg1"/>
                </a:solidFill>
              </a:rPr>
              <a:t>	</a:t>
            </a:r>
            <a:r>
              <a:rPr sz="3600" b="1">
                <a:solidFill>
                  <a:schemeClr val="bg1"/>
                </a:solidFill>
              </a:rPr>
              <a:t>Example of Cracker in Computer</a:t>
            </a:r>
            <a:endParaRPr sz="3600" b="1">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201930" y="1036320"/>
            <a:ext cx="11775440" cy="2306955"/>
          </a:xfrm>
          <a:prstGeom prst="rect">
            <a:avLst/>
          </a:prstGeom>
          <a:noFill/>
        </p:spPr>
        <p:txBody>
          <a:bodyPr wrap="square" rtlCol="0">
            <a:spAutoFit/>
          </a:bodyPr>
          <a:lstStyle/>
          <a:p>
            <a:pPr indent="0" algn="just">
              <a:buNone/>
            </a:pPr>
            <a:r>
              <a:rPr sz="3600" dirty="0">
                <a:solidFill>
                  <a:schemeClr val="bg1"/>
                </a:solidFill>
              </a:rPr>
              <a:t> Hacker and computer cracker are two terms that are often used interchangeably, but they are not the same. While both are proficient in computer systems and programming, the difference lies in their intended purpose and objectives.</a:t>
            </a:r>
            <a:endParaRPr sz="3600" dirty="0">
              <a:solidFill>
                <a:schemeClr val="bg1"/>
              </a:solidFill>
            </a:endParaRPr>
          </a:p>
        </p:txBody>
      </p:sp>
      <p:sp>
        <p:nvSpPr>
          <p:cNvPr id="7" name="Text Box 6"/>
          <p:cNvSpPr txBox="1"/>
          <p:nvPr/>
        </p:nvSpPr>
        <p:spPr>
          <a:xfrm>
            <a:off x="2150110" y="215265"/>
            <a:ext cx="8670290" cy="645160"/>
          </a:xfrm>
          <a:prstGeom prst="rect">
            <a:avLst/>
          </a:prstGeom>
          <a:noFill/>
        </p:spPr>
        <p:txBody>
          <a:bodyPr wrap="square" rtlCol="0">
            <a:spAutoFit/>
          </a:bodyPr>
          <a:lstStyle/>
          <a:p>
            <a:pPr algn="just"/>
            <a:r>
              <a:rPr lang="en-PH" sz="3600" b="1">
                <a:solidFill>
                  <a:schemeClr val="bg1"/>
                </a:solidFill>
              </a:rPr>
              <a:t>	</a:t>
            </a:r>
            <a:r>
              <a:rPr sz="3600" b="1">
                <a:solidFill>
                  <a:schemeClr val="bg1"/>
                </a:solidFill>
              </a:rPr>
              <a:t>Hacker vs Computer Cracker</a:t>
            </a:r>
            <a:endParaRPr sz="3600" b="1">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0" y="0"/>
            <a:ext cx="12192635" cy="6858000"/>
          </a:xfrm>
          <a:prstGeom prst="rect">
            <a:avLst/>
          </a:prstGeom>
        </p:spPr>
      </p:pic>
      <p:sp>
        <p:nvSpPr>
          <p:cNvPr id="7" name="Text Box 6"/>
          <p:cNvSpPr txBox="1"/>
          <p:nvPr/>
        </p:nvSpPr>
        <p:spPr>
          <a:xfrm>
            <a:off x="128270" y="1185545"/>
            <a:ext cx="3216275" cy="2306955"/>
          </a:xfrm>
          <a:prstGeom prst="rect">
            <a:avLst/>
          </a:prstGeom>
          <a:noFill/>
        </p:spPr>
        <p:txBody>
          <a:bodyPr wrap="square" rtlCol="0">
            <a:spAutoFit/>
          </a:bodyPr>
          <a:lstStyle/>
          <a:p>
            <a:pPr algn="ctr"/>
            <a:r>
              <a:rPr sz="3600" b="1">
                <a:solidFill>
                  <a:schemeClr val="bg1"/>
                </a:solidFill>
              </a:rPr>
              <a:t>Hacker </a:t>
            </a:r>
            <a:endParaRPr sz="3600" b="1">
              <a:solidFill>
                <a:schemeClr val="bg1"/>
              </a:solidFill>
            </a:endParaRPr>
          </a:p>
          <a:p>
            <a:pPr algn="ctr"/>
            <a:r>
              <a:rPr sz="3600" b="1">
                <a:solidFill>
                  <a:schemeClr val="bg1"/>
                </a:solidFill>
              </a:rPr>
              <a:t>vs </a:t>
            </a:r>
            <a:endParaRPr sz="3600" b="1">
              <a:solidFill>
                <a:schemeClr val="bg1"/>
              </a:solidFill>
            </a:endParaRPr>
          </a:p>
          <a:p>
            <a:pPr algn="ctr"/>
            <a:r>
              <a:rPr sz="3600" b="1">
                <a:solidFill>
                  <a:schemeClr val="bg1"/>
                </a:solidFill>
              </a:rPr>
              <a:t>Computer Cracker</a:t>
            </a:r>
            <a:endParaRPr sz="3600" b="1">
              <a:solidFill>
                <a:schemeClr val="bg1"/>
              </a:solidFill>
            </a:endParaRPr>
          </a:p>
        </p:txBody>
      </p:sp>
      <p:pic>
        <p:nvPicPr>
          <p:cNvPr id="9" name="Content Placeholder 8"/>
          <p:cNvPicPr>
            <a:picLocks noGrp="1" noChangeAspect="1"/>
          </p:cNvPicPr>
          <p:nvPr>
            <p:ph idx="1"/>
          </p:nvPr>
        </p:nvPicPr>
        <p:blipFill>
          <a:blip r:embed="rId3"/>
          <a:srcRect l="8813" t="11016" r="24150" b="5599"/>
          <a:stretch>
            <a:fillRect/>
          </a:stretch>
        </p:blipFill>
        <p:spPr>
          <a:xfrm>
            <a:off x="3434080" y="129540"/>
            <a:ext cx="8486775" cy="65989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208280" y="1834515"/>
            <a:ext cx="11775440" cy="2306955"/>
          </a:xfrm>
          <a:prstGeom prst="rect">
            <a:avLst/>
          </a:prstGeom>
          <a:noFill/>
        </p:spPr>
        <p:txBody>
          <a:bodyPr wrap="square" rtlCol="0">
            <a:spAutoFit/>
          </a:bodyPr>
          <a:lstStyle/>
          <a:p>
            <a:pPr indent="0" algn="just">
              <a:buNone/>
            </a:pPr>
            <a:r>
              <a:rPr sz="3600">
                <a:solidFill>
                  <a:schemeClr val="bg1"/>
                </a:solidFill>
              </a:rPr>
              <a:t> There are many types of cracking attacks, each targeting different aspects of computer systems and networks. These attacks exploit vulnerabilities in security measures to gain unauthorized access or extract sensitive information. </a:t>
            </a:r>
            <a:endParaRPr sz="3600">
              <a:solidFill>
                <a:schemeClr val="bg1"/>
              </a:solidFill>
            </a:endParaRPr>
          </a:p>
        </p:txBody>
      </p:sp>
      <p:sp>
        <p:nvSpPr>
          <p:cNvPr id="7" name="Text Box 6"/>
          <p:cNvSpPr txBox="1"/>
          <p:nvPr/>
        </p:nvSpPr>
        <p:spPr>
          <a:xfrm>
            <a:off x="2150110" y="215265"/>
            <a:ext cx="8670290" cy="645160"/>
          </a:xfrm>
          <a:prstGeom prst="rect">
            <a:avLst/>
          </a:prstGeom>
          <a:noFill/>
        </p:spPr>
        <p:txBody>
          <a:bodyPr wrap="square" rtlCol="0">
            <a:spAutoFit/>
          </a:bodyPr>
          <a:lstStyle/>
          <a:p>
            <a:pPr algn="just"/>
            <a:r>
              <a:rPr lang="en-PH" sz="3600" b="1">
                <a:solidFill>
                  <a:schemeClr val="bg1"/>
                </a:solidFill>
              </a:rPr>
              <a:t>	</a:t>
            </a:r>
            <a:r>
              <a:rPr sz="3600" b="1">
                <a:solidFill>
                  <a:schemeClr val="bg1"/>
                </a:solidFill>
              </a:rPr>
              <a:t>Types of Cracking Attacks</a:t>
            </a:r>
            <a:endParaRPr sz="3600" b="1">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304165" y="1972945"/>
            <a:ext cx="11247755" cy="4523105"/>
          </a:xfrm>
          <a:prstGeom prst="rect">
            <a:avLst/>
          </a:prstGeom>
          <a:noFill/>
        </p:spPr>
        <p:txBody>
          <a:bodyPr wrap="square" rtlCol="0">
            <a:spAutoFit/>
          </a:bodyPr>
          <a:lstStyle/>
          <a:p>
            <a:pPr indent="0" algn="just">
              <a:buNone/>
            </a:pPr>
            <a:r>
              <a:rPr lang="en-PH" sz="3600" dirty="0">
                <a:solidFill>
                  <a:schemeClr val="bg1"/>
                </a:solidFill>
              </a:rPr>
              <a:t>T</a:t>
            </a:r>
            <a:r>
              <a:rPr sz="3600" dirty="0">
                <a:solidFill>
                  <a:schemeClr val="bg1"/>
                </a:solidFill>
              </a:rPr>
              <a:t>he most common type of cyber cracking attack is password cracking. This technique involves trying to guess or crack your login credentials, such as your username and password. Hackers can use various methods to crack your passwords, including brute-force attacks, dictionary attacks, and social engineering. Once the hacker cracks your password, they can gain access to your personal information, bank accounts, and other sensitive data.</a:t>
            </a:r>
            <a:endParaRPr sz="3600" dirty="0">
              <a:solidFill>
                <a:schemeClr val="bg1"/>
              </a:solidFill>
            </a:endParaRPr>
          </a:p>
        </p:txBody>
      </p:sp>
      <p:sp>
        <p:nvSpPr>
          <p:cNvPr id="7" name="Text Box 6"/>
          <p:cNvSpPr txBox="1"/>
          <p:nvPr/>
        </p:nvSpPr>
        <p:spPr>
          <a:xfrm>
            <a:off x="-840105" y="433705"/>
            <a:ext cx="10611485" cy="645160"/>
          </a:xfrm>
          <a:prstGeom prst="rect">
            <a:avLst/>
          </a:prstGeom>
          <a:noFill/>
        </p:spPr>
        <p:txBody>
          <a:bodyPr wrap="square" rtlCol="0">
            <a:spAutoFit/>
          </a:bodyPr>
          <a:lstStyle/>
          <a:p>
            <a:pPr indent="0" algn="l">
              <a:buNone/>
            </a:pPr>
            <a:r>
              <a:rPr lang="en-PH" sz="3600" b="1" dirty="0">
                <a:solidFill>
                  <a:schemeClr val="bg1"/>
                </a:solidFill>
              </a:rPr>
              <a:t>	</a:t>
            </a:r>
            <a:r>
              <a:rPr sz="3600" b="1" dirty="0">
                <a:solidFill>
                  <a:schemeClr val="bg1"/>
                </a:solidFill>
              </a:rPr>
              <a:t>Here are some common types of cracking attacks:</a:t>
            </a:r>
            <a:endParaRPr sz="3600" b="1" dirty="0">
              <a:solidFill>
                <a:schemeClr val="bg1"/>
              </a:solidFill>
            </a:endParaRPr>
          </a:p>
        </p:txBody>
      </p:sp>
      <p:sp>
        <p:nvSpPr>
          <p:cNvPr id="2" name="Text Box 1"/>
          <p:cNvSpPr txBox="1"/>
          <p:nvPr/>
        </p:nvSpPr>
        <p:spPr>
          <a:xfrm>
            <a:off x="-495300" y="1263650"/>
            <a:ext cx="6591300" cy="645160"/>
          </a:xfrm>
          <a:prstGeom prst="rect">
            <a:avLst/>
          </a:prstGeom>
          <a:noFill/>
        </p:spPr>
        <p:txBody>
          <a:bodyPr wrap="square" rtlCol="0">
            <a:spAutoFit/>
          </a:bodyPr>
          <a:lstStyle/>
          <a:p>
            <a:pPr indent="0" algn="l">
              <a:buNone/>
            </a:pPr>
            <a:r>
              <a:rPr lang="en-PH" sz="3600" b="1" dirty="0">
                <a:solidFill>
                  <a:schemeClr val="bg1"/>
                </a:solidFill>
              </a:rPr>
              <a:t>	</a:t>
            </a:r>
            <a:r>
              <a:rPr sz="3600" b="1" dirty="0">
                <a:solidFill>
                  <a:srgbClr val="FFFF00"/>
                </a:solidFill>
              </a:rPr>
              <a:t>1. Password Cracking</a:t>
            </a:r>
            <a:endParaRPr sz="3600" b="1" dirty="0">
              <a:solidFill>
                <a:srgbClr val="FFFF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208280" y="1791335"/>
            <a:ext cx="11775440" cy="3969385"/>
          </a:xfrm>
          <a:prstGeom prst="rect">
            <a:avLst/>
          </a:prstGeom>
          <a:noFill/>
        </p:spPr>
        <p:txBody>
          <a:bodyPr wrap="square" rtlCol="0">
            <a:spAutoFit/>
          </a:bodyPr>
          <a:lstStyle/>
          <a:p>
            <a:pPr indent="0" algn="just">
              <a:buNone/>
            </a:pPr>
            <a:r>
              <a:rPr sz="3600" b="1" dirty="0">
                <a:solidFill>
                  <a:srgbClr val="FFFF00"/>
                </a:solidFill>
              </a:rPr>
              <a:t>Dictionary Attacks:</a:t>
            </a:r>
            <a:r>
              <a:rPr sz="3600" dirty="0">
                <a:solidFill>
                  <a:schemeClr val="bg1"/>
                </a:solidFill>
              </a:rPr>
              <a:t> They use pre-built dictionaries of common words or phrases to try and guess a password.</a:t>
            </a:r>
            <a:endParaRPr sz="3600" dirty="0">
              <a:solidFill>
                <a:schemeClr val="bg1"/>
              </a:solidFill>
            </a:endParaRPr>
          </a:p>
          <a:p>
            <a:pPr indent="0" algn="just">
              <a:buNone/>
            </a:pPr>
            <a:r>
              <a:rPr sz="3600" b="1" dirty="0">
                <a:solidFill>
                  <a:srgbClr val="FFFF00"/>
                </a:solidFill>
              </a:rPr>
              <a:t>Brute Force Attacks</a:t>
            </a:r>
            <a:r>
              <a:rPr sz="3600" dirty="0">
                <a:solidFill>
                  <a:schemeClr val="bg1"/>
                </a:solidFill>
              </a:rPr>
              <a:t>: This method involves guessing every combination of characters until the correct password is discovered.</a:t>
            </a:r>
            <a:endParaRPr sz="3600" dirty="0">
              <a:solidFill>
                <a:schemeClr val="bg1"/>
              </a:solidFill>
            </a:endParaRPr>
          </a:p>
          <a:p>
            <a:pPr indent="0" algn="just">
              <a:buNone/>
            </a:pPr>
            <a:r>
              <a:rPr sz="3600" b="1" dirty="0">
                <a:solidFill>
                  <a:srgbClr val="FFFF00"/>
                </a:solidFill>
              </a:rPr>
              <a:t>Rainbow Table Attacks</a:t>
            </a:r>
            <a:r>
              <a:rPr sz="3600" dirty="0">
                <a:solidFill>
                  <a:schemeClr val="bg1"/>
                </a:solidFill>
              </a:rPr>
              <a:t>: This attack utilizes precomputed sets of encrypted passwords to quickly guess the original password.</a:t>
            </a:r>
            <a:endParaRPr sz="3600" dirty="0">
              <a:solidFill>
                <a:schemeClr val="bg1"/>
              </a:solidFill>
            </a:endParaRPr>
          </a:p>
        </p:txBody>
      </p:sp>
      <p:sp>
        <p:nvSpPr>
          <p:cNvPr id="7" name="Text Box 6"/>
          <p:cNvSpPr txBox="1"/>
          <p:nvPr/>
        </p:nvSpPr>
        <p:spPr>
          <a:xfrm>
            <a:off x="339090" y="215265"/>
            <a:ext cx="11462385" cy="1198880"/>
          </a:xfrm>
          <a:prstGeom prst="rect">
            <a:avLst/>
          </a:prstGeom>
          <a:noFill/>
        </p:spPr>
        <p:txBody>
          <a:bodyPr wrap="square" rtlCol="0">
            <a:spAutoFit/>
          </a:bodyPr>
          <a:lstStyle/>
          <a:p>
            <a:pPr algn="just"/>
            <a:r>
              <a:rPr sz="3600" b="1">
                <a:solidFill>
                  <a:schemeClr val="bg1"/>
                </a:solidFill>
              </a:rPr>
              <a:t>There are several methods that cyber attackers use to crack passwords.</a:t>
            </a:r>
            <a:endParaRPr sz="3600" b="1">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283845" y="357505"/>
            <a:ext cx="11775440" cy="2861310"/>
          </a:xfrm>
          <a:prstGeom prst="rect">
            <a:avLst/>
          </a:prstGeom>
          <a:noFill/>
        </p:spPr>
        <p:txBody>
          <a:bodyPr wrap="square" rtlCol="0">
            <a:spAutoFit/>
          </a:bodyPr>
          <a:lstStyle/>
          <a:p>
            <a:pPr indent="0" algn="just">
              <a:buNone/>
            </a:pPr>
            <a:r>
              <a:rPr sz="3600">
                <a:solidFill>
                  <a:srgbClr val="FFFF00"/>
                </a:solidFill>
              </a:rPr>
              <a:t>Shoulder Surfing:</a:t>
            </a:r>
            <a:r>
              <a:rPr sz="3600">
                <a:solidFill>
                  <a:schemeClr val="bg1"/>
                </a:solidFill>
              </a:rPr>
              <a:t> This type of attack involves watching users enter their passwords and taking note of their keystrokes.</a:t>
            </a:r>
            <a:endParaRPr sz="3600">
              <a:solidFill>
                <a:schemeClr val="bg1"/>
              </a:solidFill>
            </a:endParaRPr>
          </a:p>
          <a:p>
            <a:pPr indent="0" algn="just">
              <a:buNone/>
            </a:pPr>
            <a:r>
              <a:rPr sz="3600" b="1">
                <a:solidFill>
                  <a:srgbClr val="FFFF00"/>
                </a:solidFill>
              </a:rPr>
              <a:t>Phishing: </a:t>
            </a:r>
            <a:r>
              <a:rPr sz="3600">
                <a:solidFill>
                  <a:schemeClr val="bg1"/>
                </a:solidFill>
              </a:rPr>
              <a:t>Cyber criminals use fake login pages or email scams to deceive users into inputting their credentials, giving the attacker access to their passwords.</a:t>
            </a:r>
            <a:endParaRPr sz="360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250825" y="1167765"/>
            <a:ext cx="11247755" cy="2861310"/>
          </a:xfrm>
          <a:prstGeom prst="rect">
            <a:avLst/>
          </a:prstGeom>
          <a:noFill/>
        </p:spPr>
        <p:txBody>
          <a:bodyPr wrap="square" rtlCol="0">
            <a:spAutoFit/>
          </a:bodyPr>
          <a:lstStyle/>
          <a:p>
            <a:pPr indent="0" algn="just">
              <a:buNone/>
            </a:pPr>
            <a:r>
              <a:rPr sz="3600">
                <a:solidFill>
                  <a:schemeClr val="bg1"/>
                </a:solidFill>
              </a:rPr>
              <a:t>Another type of cracking attack is software cracking and piracy. This technique involves illegally cracking the software's copy protection mechanisms to bypass licensing restrictions. Hackers can then use this cracked software to distribute malware or steal user data.</a:t>
            </a:r>
            <a:endParaRPr sz="3600">
              <a:solidFill>
                <a:schemeClr val="bg1"/>
              </a:solidFill>
            </a:endParaRPr>
          </a:p>
        </p:txBody>
      </p:sp>
      <p:sp>
        <p:nvSpPr>
          <p:cNvPr id="2" name="Text Box 1"/>
          <p:cNvSpPr txBox="1"/>
          <p:nvPr/>
        </p:nvSpPr>
        <p:spPr>
          <a:xfrm>
            <a:off x="-344170" y="293370"/>
            <a:ext cx="8995410" cy="645160"/>
          </a:xfrm>
          <a:prstGeom prst="rect">
            <a:avLst/>
          </a:prstGeom>
          <a:noFill/>
        </p:spPr>
        <p:txBody>
          <a:bodyPr wrap="square" rtlCol="0">
            <a:spAutoFit/>
          </a:bodyPr>
          <a:lstStyle/>
          <a:p>
            <a:pPr indent="0" algn="l">
              <a:buNone/>
            </a:pPr>
            <a:r>
              <a:rPr lang="en-PH" sz="3600" b="1">
                <a:solidFill>
                  <a:schemeClr val="bg1"/>
                </a:solidFill>
              </a:rPr>
              <a:t>	</a:t>
            </a:r>
            <a:r>
              <a:rPr sz="3600" b="1">
                <a:solidFill>
                  <a:srgbClr val="FFFF00"/>
                </a:solidFill>
              </a:rPr>
              <a:t>2. Software Cracking and Piracy</a:t>
            </a:r>
            <a:endParaRPr sz="3600" b="1">
              <a:solidFill>
                <a:srgbClr val="FFFF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250825" y="1620520"/>
            <a:ext cx="11247755" cy="5077460"/>
          </a:xfrm>
          <a:prstGeom prst="rect">
            <a:avLst/>
          </a:prstGeom>
          <a:noFill/>
        </p:spPr>
        <p:txBody>
          <a:bodyPr wrap="square" rtlCol="0">
            <a:spAutoFit/>
          </a:bodyPr>
          <a:lstStyle/>
          <a:p>
            <a:pPr indent="0" algn="just">
              <a:buNone/>
            </a:pPr>
            <a:r>
              <a:rPr sz="3600" b="1" dirty="0">
                <a:solidFill>
                  <a:srgbClr val="FFFF00"/>
                </a:solidFill>
              </a:rPr>
              <a:t>Reverse engineering: </a:t>
            </a:r>
            <a:r>
              <a:rPr sz="3600" dirty="0">
                <a:solidFill>
                  <a:schemeClr val="bg1"/>
                </a:solidFill>
              </a:rPr>
              <a:t>This involves analyzing the compiled code of a software application to gain an understanding of how it works and what security measures it has.</a:t>
            </a:r>
            <a:endParaRPr sz="3600" dirty="0">
              <a:solidFill>
                <a:schemeClr val="bg1"/>
              </a:solidFill>
            </a:endParaRPr>
          </a:p>
          <a:p>
            <a:pPr indent="0" algn="just">
              <a:buNone/>
            </a:pPr>
            <a:r>
              <a:rPr sz="3600" b="1" dirty="0">
                <a:solidFill>
                  <a:srgbClr val="FFFF00"/>
                </a:solidFill>
              </a:rPr>
              <a:t>Patching:</a:t>
            </a:r>
            <a:r>
              <a:rPr sz="3600" dirty="0">
                <a:solidFill>
                  <a:schemeClr val="bg1"/>
                </a:solidFill>
              </a:rPr>
              <a:t> This involves modifying the binary code of a software application to remove copy protection or licensing restrictions.</a:t>
            </a:r>
            <a:endParaRPr sz="3600" dirty="0">
              <a:solidFill>
                <a:schemeClr val="bg1"/>
              </a:solidFill>
            </a:endParaRPr>
          </a:p>
          <a:p>
            <a:pPr indent="0" algn="just">
              <a:buNone/>
            </a:pPr>
            <a:r>
              <a:rPr sz="3600" b="1" dirty="0">
                <a:solidFill>
                  <a:srgbClr val="FFFF00"/>
                </a:solidFill>
              </a:rPr>
              <a:t>Keygen programs:</a:t>
            </a:r>
            <a:r>
              <a:rPr sz="3600" dirty="0">
                <a:solidFill>
                  <a:schemeClr val="bg1"/>
                </a:solidFill>
              </a:rPr>
              <a:t> These are tools that generate valid serial numbers or activation codes to unlock software applications.</a:t>
            </a:r>
            <a:endParaRPr sz="3600" dirty="0">
              <a:solidFill>
                <a:schemeClr val="bg1"/>
              </a:solidFill>
            </a:endParaRPr>
          </a:p>
        </p:txBody>
      </p:sp>
      <p:sp>
        <p:nvSpPr>
          <p:cNvPr id="2" name="Text Box 1"/>
          <p:cNvSpPr txBox="1"/>
          <p:nvPr/>
        </p:nvSpPr>
        <p:spPr>
          <a:xfrm>
            <a:off x="250825" y="293370"/>
            <a:ext cx="11377295" cy="1198880"/>
          </a:xfrm>
          <a:prstGeom prst="rect">
            <a:avLst/>
          </a:prstGeom>
          <a:noFill/>
        </p:spPr>
        <p:txBody>
          <a:bodyPr wrap="square" rtlCol="0">
            <a:spAutoFit/>
          </a:bodyPr>
          <a:lstStyle/>
          <a:p>
            <a:pPr indent="0" algn="l">
              <a:buNone/>
            </a:pPr>
            <a:r>
              <a:rPr sz="3600" b="1">
                <a:solidFill>
                  <a:schemeClr val="bg1"/>
                </a:solidFill>
              </a:rPr>
              <a:t>The following are some common methods of software cracking:</a:t>
            </a:r>
            <a:endParaRPr sz="3600" b="1">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465455" y="416560"/>
            <a:ext cx="11247755" cy="2862322"/>
          </a:xfrm>
          <a:prstGeom prst="rect">
            <a:avLst/>
          </a:prstGeom>
          <a:noFill/>
        </p:spPr>
        <p:txBody>
          <a:bodyPr wrap="square" rtlCol="0">
            <a:spAutoFit/>
          </a:bodyPr>
          <a:lstStyle/>
          <a:p>
            <a:pPr indent="0" algn="just">
              <a:buNone/>
            </a:pPr>
            <a:r>
              <a:rPr sz="3600" b="1" dirty="0">
                <a:solidFill>
                  <a:srgbClr val="FFFF00"/>
                </a:solidFill>
              </a:rPr>
              <a:t>Cracks: </a:t>
            </a:r>
            <a:r>
              <a:rPr lang="en-US" sz="3600" dirty="0">
                <a:solidFill>
                  <a:schemeClr val="bg1"/>
                </a:solidFill>
              </a:rPr>
              <a:t>	</a:t>
            </a:r>
            <a:endParaRPr sz="3600" dirty="0">
              <a:solidFill>
                <a:schemeClr val="bg1"/>
              </a:solidFill>
            </a:endParaRPr>
          </a:p>
          <a:p>
            <a:pPr indent="0" algn="just">
              <a:buNone/>
            </a:pPr>
            <a:endParaRPr sz="3600" dirty="0">
              <a:solidFill>
                <a:schemeClr val="bg1"/>
              </a:solidFill>
            </a:endParaRPr>
          </a:p>
          <a:p>
            <a:pPr indent="0" algn="just">
              <a:buNone/>
            </a:pPr>
            <a:r>
              <a:rPr sz="3600" b="1" dirty="0">
                <a:solidFill>
                  <a:srgbClr val="FFFF00"/>
                </a:solidFill>
              </a:rPr>
              <a:t>Distribution:</a:t>
            </a:r>
            <a:r>
              <a:rPr sz="3600" dirty="0">
                <a:solidFill>
                  <a:schemeClr val="bg1"/>
                </a:solidFill>
              </a:rPr>
              <a:t> Cracked software is often distributed via peer-to-peer (P2P) networks, torrent sites, or other illegal means.</a:t>
            </a:r>
            <a:endParaRPr sz="3600"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250825" y="1167765"/>
            <a:ext cx="11732895" cy="5077460"/>
          </a:xfrm>
          <a:prstGeom prst="rect">
            <a:avLst/>
          </a:prstGeom>
          <a:noFill/>
        </p:spPr>
        <p:txBody>
          <a:bodyPr wrap="square" rtlCol="0">
            <a:spAutoFit/>
          </a:bodyPr>
          <a:lstStyle/>
          <a:p>
            <a:pPr indent="0" algn="just">
              <a:buNone/>
            </a:pPr>
            <a:r>
              <a:rPr sz="3600" dirty="0">
                <a:solidFill>
                  <a:schemeClr val="bg1"/>
                </a:solidFill>
              </a:rPr>
              <a:t>Network and system exploitation is a type of cracking attack that involves infiltrating a local area network (LAN) or exploiting vulnerabilities in a computer system. Commonly known as network cracking or wired equivalent privacy (WEP) cracking, this attack targets poorly secured networks.</a:t>
            </a:r>
            <a:endParaRPr sz="3600" dirty="0">
              <a:solidFill>
                <a:schemeClr val="bg1"/>
              </a:solidFill>
            </a:endParaRPr>
          </a:p>
          <a:p>
            <a:pPr indent="0" algn="just">
              <a:buNone/>
            </a:pPr>
            <a:endParaRPr sz="3600" dirty="0">
              <a:solidFill>
                <a:schemeClr val="bg1"/>
              </a:solidFill>
            </a:endParaRPr>
          </a:p>
          <a:p>
            <a:pPr indent="0" algn="just">
              <a:buNone/>
            </a:pPr>
            <a:r>
              <a:rPr sz="3600" dirty="0">
                <a:solidFill>
                  <a:schemeClr val="bg1"/>
                </a:solidFill>
              </a:rPr>
              <a:t>For example, an attacker may use a technique called "packet sniffing" to intercept and analyze network traffic, looking for sensitive information such as passwords or financial data.</a:t>
            </a:r>
            <a:endParaRPr sz="3600" dirty="0">
              <a:solidFill>
                <a:schemeClr val="bg1"/>
              </a:solidFill>
            </a:endParaRPr>
          </a:p>
        </p:txBody>
      </p:sp>
      <p:sp>
        <p:nvSpPr>
          <p:cNvPr id="2" name="Text Box 1"/>
          <p:cNvSpPr txBox="1"/>
          <p:nvPr/>
        </p:nvSpPr>
        <p:spPr>
          <a:xfrm>
            <a:off x="356235" y="304165"/>
            <a:ext cx="8995410" cy="645160"/>
          </a:xfrm>
          <a:prstGeom prst="rect">
            <a:avLst/>
          </a:prstGeom>
          <a:noFill/>
        </p:spPr>
        <p:txBody>
          <a:bodyPr wrap="square" rtlCol="0">
            <a:spAutoFit/>
          </a:bodyPr>
          <a:lstStyle/>
          <a:p>
            <a:pPr indent="0" algn="l">
              <a:buNone/>
            </a:pPr>
            <a:r>
              <a:rPr sz="3600" b="1" dirty="0">
                <a:solidFill>
                  <a:schemeClr val="bg1"/>
                </a:solidFill>
              </a:rPr>
              <a:t>3. Network and System Exploitation</a:t>
            </a:r>
            <a:endParaRPr sz="3600" b="1" dirty="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6" name="Text Box 5"/>
          <p:cNvSpPr txBox="1"/>
          <p:nvPr/>
        </p:nvSpPr>
        <p:spPr>
          <a:xfrm>
            <a:off x="250825" y="1167765"/>
            <a:ext cx="11732895" cy="1753235"/>
          </a:xfrm>
          <a:prstGeom prst="rect">
            <a:avLst/>
          </a:prstGeom>
          <a:noFill/>
        </p:spPr>
        <p:txBody>
          <a:bodyPr wrap="square" rtlCol="0">
            <a:spAutoFit/>
          </a:bodyPr>
          <a:lstStyle/>
          <a:p>
            <a:pPr indent="0" algn="just">
              <a:buNone/>
            </a:pPr>
            <a:r>
              <a:rPr sz="3600">
                <a:solidFill>
                  <a:schemeClr val="bg1"/>
                </a:solidFill>
              </a:rPr>
              <a:t>1. Financial Gain and Cybercrime</a:t>
            </a:r>
            <a:endParaRPr sz="3600">
              <a:solidFill>
                <a:schemeClr val="bg1"/>
              </a:solidFill>
            </a:endParaRPr>
          </a:p>
          <a:p>
            <a:pPr indent="0" algn="just">
              <a:buNone/>
            </a:pPr>
            <a:r>
              <a:rPr sz="3600">
                <a:solidFill>
                  <a:schemeClr val="bg1"/>
                </a:solidFill>
              </a:rPr>
              <a:t>2. Intellectual Property Theft </a:t>
            </a:r>
            <a:endParaRPr sz="3600">
              <a:solidFill>
                <a:schemeClr val="bg1"/>
              </a:solidFill>
            </a:endParaRPr>
          </a:p>
          <a:p>
            <a:pPr indent="0" algn="just">
              <a:buNone/>
            </a:pPr>
            <a:r>
              <a:rPr sz="3600">
                <a:solidFill>
                  <a:schemeClr val="bg1"/>
                </a:solidFill>
              </a:rPr>
              <a:t>3. Political and Activist Agendas</a:t>
            </a:r>
            <a:endParaRPr sz="3600">
              <a:solidFill>
                <a:schemeClr val="bg1"/>
              </a:solidFill>
            </a:endParaRPr>
          </a:p>
        </p:txBody>
      </p:sp>
      <p:sp>
        <p:nvSpPr>
          <p:cNvPr id="2" name="Text Box 1"/>
          <p:cNvSpPr txBox="1"/>
          <p:nvPr/>
        </p:nvSpPr>
        <p:spPr>
          <a:xfrm>
            <a:off x="1591945" y="422910"/>
            <a:ext cx="8995410" cy="645160"/>
          </a:xfrm>
          <a:prstGeom prst="rect">
            <a:avLst/>
          </a:prstGeom>
          <a:noFill/>
        </p:spPr>
        <p:txBody>
          <a:bodyPr wrap="square" rtlCol="0">
            <a:spAutoFit/>
          </a:bodyPr>
          <a:lstStyle/>
          <a:p>
            <a:pPr indent="0" algn="ctr">
              <a:buNone/>
            </a:pPr>
            <a:r>
              <a:rPr sz="3600" b="1">
                <a:solidFill>
                  <a:schemeClr val="bg1"/>
                </a:solidFill>
              </a:rPr>
              <a:t>Why Do People Crack?</a:t>
            </a:r>
            <a:endParaRPr sz="3600" b="1">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8" name="Text Placeholder 7"/>
          <p:cNvSpPr>
            <a:spLocks noGrp="1"/>
          </p:cNvSpPr>
          <p:nvPr>
            <p:ph type="body" idx="1"/>
          </p:nvPr>
        </p:nvSpPr>
        <p:spPr/>
        <p:txBody>
          <a:bodyPr/>
          <a:lstStyle/>
          <a:p>
            <a:endParaRPr lang="en-US"/>
          </a:p>
        </p:txBody>
      </p:sp>
      <p:pic>
        <p:nvPicPr>
          <p:cNvPr id="100" name="Picture 99"/>
          <p:cNvPicPr/>
          <p:nvPr/>
        </p:nvPicPr>
        <p:blipFill>
          <a:blip r:link="rId1"/>
          <a:stretch>
            <a:fillRect/>
          </a:stretch>
        </p:blipFill>
        <p:spPr>
          <a:xfrm>
            <a:off x="6096000" y="3429000"/>
            <a:ext cx="0" cy="0"/>
          </a:xfrm>
          <a:prstGeom prst="rect">
            <a:avLst/>
          </a:prstGeom>
          <a:noFill/>
          <a:ln w="9525">
            <a:noFill/>
          </a:ln>
        </p:spPr>
      </p:pic>
      <p:pic>
        <p:nvPicPr>
          <p:cNvPr id="101" name="Picture 100"/>
          <p:cNvPicPr/>
          <p:nvPr/>
        </p:nvPicPr>
        <p:blipFill>
          <a:blip r:link="rId1"/>
          <a:stretch>
            <a:fillRect/>
          </a:stretch>
        </p:blipFill>
        <p:spPr>
          <a:xfrm>
            <a:off x="6096000" y="3429000"/>
            <a:ext cx="0" cy="0"/>
          </a:xfrm>
          <a:prstGeom prst="rect">
            <a:avLst/>
          </a:prstGeom>
          <a:noFill/>
          <a:ln w="9525">
            <a:noFill/>
          </a:ln>
        </p:spPr>
      </p:pic>
      <p:pic>
        <p:nvPicPr>
          <p:cNvPr id="4" name="Picture 3"/>
          <p:cNvPicPr>
            <a:picLocks noChangeAspect="1"/>
          </p:cNvPicPr>
          <p:nvPr/>
        </p:nvPicPr>
        <p:blipFill>
          <a:blip r:embed="rId2"/>
          <a:stretch>
            <a:fillRect/>
          </a:stretch>
        </p:blipFill>
        <p:spPr>
          <a:xfrm>
            <a:off x="-635" y="0"/>
            <a:ext cx="12192635" cy="6858000"/>
          </a:xfrm>
          <a:prstGeom prst="rect">
            <a:avLst/>
          </a:prstGeom>
        </p:spPr>
      </p:pic>
      <p:sp>
        <p:nvSpPr>
          <p:cNvPr id="2" name="Text Box 1"/>
          <p:cNvSpPr txBox="1"/>
          <p:nvPr/>
        </p:nvSpPr>
        <p:spPr>
          <a:xfrm>
            <a:off x="1355090" y="1134110"/>
            <a:ext cx="8995410" cy="1445260"/>
          </a:xfrm>
          <a:prstGeom prst="rect">
            <a:avLst/>
          </a:prstGeom>
          <a:noFill/>
        </p:spPr>
        <p:txBody>
          <a:bodyPr wrap="square" rtlCol="0">
            <a:spAutoFit/>
          </a:bodyPr>
          <a:lstStyle/>
          <a:p>
            <a:pPr indent="0" algn="ctr">
              <a:buNone/>
            </a:pPr>
            <a:r>
              <a:rPr lang="en-PH" sz="8800" b="1">
                <a:solidFill>
                  <a:schemeClr val="bg1"/>
                </a:solidFill>
              </a:rPr>
              <a:t>Thank you!</a:t>
            </a:r>
            <a:endParaRPr lang="en-PH" sz="8800" b="1">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7072</Words>
  <Application>WPS Presentation</Application>
  <PresentationFormat>Widescreen</PresentationFormat>
  <Paragraphs>114</Paragraphs>
  <Slides>24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Arial</vt:lpstr>
      <vt:lpstr>SimSun</vt:lpstr>
      <vt:lpstr>Wingdings</vt:lpstr>
      <vt:lpstr>Calibri Light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eddiecenitajr NEMSU</cp:lastModifiedBy>
  <cp:revision>23</cp:revision>
  <dcterms:created xsi:type="dcterms:W3CDTF">2024-05-05T13:06:00Z</dcterms:created>
  <dcterms:modified xsi:type="dcterms:W3CDTF">2024-09-17T09:15:25Z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4578770F56D846F7B6A0E17444728E98</vt:lpwstr>
  </property>
  <property fmtid="{D5CDD505-2E9C-101B-9397-08002B2CF9AE}" pid="3" name="KSOProductBuildVer">
    <vt:lpwstr>1033-12.2.0.18283</vt:lpwstr>
  </property>
</Properties>
</file>