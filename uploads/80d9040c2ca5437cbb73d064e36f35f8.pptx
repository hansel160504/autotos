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9" r:id="rId4"/>
    <p:sldId id="258" r:id="rId5"/>
    <p:sldId id="257" r:id="rId6"/>
    <p:sldId id="262" r:id="rId7"/>
    <p:sldId id="261" r:id="rId8"/>
    <p:sldId id="260" r:id="rId9"/>
    <p:sldId id="263" r:id="rId10"/>
    <p:sldId id="264" r:id="rId11"/>
    <p:sldId id="265" r:id="rId12"/>
    <p:sldId id="267" r:id="rId13"/>
    <p:sldId id="266"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5" r:id="rId31"/>
    <p:sldId id="284" r:id="rId32"/>
    <p:sldId id="286" r:id="rId33"/>
    <p:sldId id="287" r:id="rId34"/>
    <p:sldId id="288" r:id="rId35"/>
    <p:sldId id="289" r:id="rId36"/>
    <p:sldId id="290" r:id="rId37"/>
    <p:sldId id="291" r:id="rId38"/>
    <p:sldId id="292" r:id="rId39"/>
    <p:sldId id="294" r:id="rId40"/>
    <p:sldId id="295" r:id="rId41"/>
    <p:sldId id="296" r:id="rId42"/>
    <p:sldId id="297" r:id="rId43"/>
    <p:sldId id="298" r:id="rId44"/>
    <p:sldId id="299" r:id="rId45"/>
    <p:sldId id="300" r:id="rId46"/>
    <p:sldId id="301" r:id="rId47"/>
    <p:sldId id="302" r:id="rId48"/>
    <p:sldId id="304" r:id="rId49"/>
    <p:sldId id="305" r:id="rId50"/>
    <p:sldId id="308" r:id="rId51"/>
    <p:sldId id="307" r:id="rId52"/>
    <p:sldId id="309" r:id="rId53"/>
    <p:sldId id="310" r:id="rId54"/>
    <p:sldId id="311" r:id="rId55"/>
    <p:sldId id="312" r:id="rId56"/>
    <p:sldId id="313" r:id="rId57"/>
    <p:sldId id="315"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4.xml"/><Relationship Id="rId59" Type="http://schemas.openxmlformats.org/officeDocument/2006/relationships/presProps" Target="presProps.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12700" y="-3175"/>
            <a:ext cx="12204700" cy="6861175"/>
          </a:xfrm>
          <a:prstGeom prst="rect">
            <a:avLst/>
          </a:prstGeom>
          <a:noFill/>
          <a:ln w="9525">
            <a:noFill/>
          </a:ln>
        </p:spPr>
      </p:pic>
      <p:sp>
        <p:nvSpPr>
          <p:cNvPr id="2051" name="Rectangle 3"/>
          <p:cNvSpPr>
            <a:spLocks noGrp="1" noChangeArrowheads="1"/>
          </p:cNvSpPr>
          <p:nvPr>
            <p:ph type="ctrTitle"/>
          </p:nvPr>
        </p:nvSpPr>
        <p:spPr>
          <a:xfrm>
            <a:off x="2063751" y="1125538"/>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351088"/>
            <a:ext cx="9218083" cy="1752600"/>
          </a:xfrm>
        </p:spPr>
        <p:txBody>
          <a:bodyPr/>
          <a:lstStyle>
            <a:lvl1pPr marL="0" indent="0" algn="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6"/>
          <p:cNvPicPr>
            <a:picLocks noChangeAspect="1"/>
          </p:cNvPicPr>
          <p:nvPr/>
        </p:nvPicPr>
        <p:blipFill>
          <a:blip r:embed="rId12"/>
          <a:stretch>
            <a:fillRect/>
          </a:stretch>
        </p:blipFill>
        <p:spPr>
          <a:xfrm>
            <a:off x="0" y="0"/>
            <a:ext cx="12198351" cy="6861175"/>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bg1"/>
          </a:solidFill>
          <a:latin typeface="+mj-lt"/>
          <a:ea typeface="+mj-ea"/>
          <a:cs typeface="+mj-cs"/>
        </a:defRPr>
      </a:lvl1pPr>
      <a:lvl2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7981" y="1125538"/>
            <a:ext cx="9211733" cy="1082675"/>
          </a:xfrm>
        </p:spPr>
        <p:txBody>
          <a:bodyPr/>
          <a:lstStyle/>
          <a:p>
            <a:pPr algn="ctr"/>
            <a:r>
              <a:rPr lang="en-PH" altLang="en-US" sz="4000" b="1" dirty="0">
                <a:latin typeface="Segoe Script" panose="030B0504020000000003" charset="0"/>
                <a:cs typeface="Segoe Script" panose="030B0504020000000003" charset="0"/>
              </a:rPr>
              <a:t>PROFESSIONAL ETHICS</a:t>
            </a:r>
            <a:endParaRPr lang="en-PH" altLang="en-US" sz="4000" b="1" dirty="0">
              <a:latin typeface="Segoe Script" panose="030B0504020000000003" charset="0"/>
              <a:cs typeface="Segoe Script" panose="030B0504020000000003" charset="0"/>
            </a:endParaRPr>
          </a:p>
        </p:txBody>
      </p:sp>
      <p:sp>
        <p:nvSpPr>
          <p:cNvPr id="3" name="Subtitle 2"/>
          <p:cNvSpPr>
            <a:spLocks noGrp="1"/>
          </p:cNvSpPr>
          <p:nvPr>
            <p:ph type="subTitle" idx="1"/>
          </p:nvPr>
        </p:nvSpPr>
        <p:spPr>
          <a:xfrm>
            <a:off x="2063750" y="3245485"/>
            <a:ext cx="9218295" cy="858520"/>
          </a:xfrm>
        </p:spPr>
        <p:txBody>
          <a:bodyPr/>
          <a:lstStyle/>
          <a:p>
            <a:r>
              <a:rPr lang="en-PH" altLang="en-US">
                <a:latin typeface="Ink Free" panose="03080402000500000000" charset="0"/>
                <a:cs typeface="Ink Free" panose="03080402000500000000" charset="0"/>
              </a:rPr>
              <a:t>By: Eddie S. Cenita Jr.</a:t>
            </a:r>
            <a:endParaRPr lang="en-PH" altLang="en-US">
              <a:latin typeface="Ink Free" panose="03080402000500000000" charset="0"/>
              <a:cs typeface="Ink Free" panose="03080402000500000000"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is Professional Ethics?</a:t>
            </a:r>
            <a:endParaRPr lang="en-US"/>
          </a:p>
        </p:txBody>
      </p:sp>
      <p:sp>
        <p:nvSpPr>
          <p:cNvPr id="3" name="Content Placeholder 2"/>
          <p:cNvSpPr>
            <a:spLocks noGrp="1"/>
          </p:cNvSpPr>
          <p:nvPr>
            <p:ph idx="1"/>
          </p:nvPr>
        </p:nvSpPr>
        <p:spPr/>
        <p:txBody>
          <a:bodyPr/>
          <a:p>
            <a:pPr algn="just"/>
            <a:r>
              <a:rPr lang="en-US"/>
              <a:t>Professional ethics refers to the ethical principles and standards that govern the behavior and decisions of professionals in their specific fields. These principles and standards are established to ensure that professionals act with integrity, honesty, and accountability while providing services to their clients, customers, or stakeholders.</a:t>
            </a:r>
            <a:endParaRPr lang="en-US"/>
          </a:p>
          <a:p>
            <a:pPr algn="just"/>
            <a:r>
              <a:rPr lang="en-US"/>
              <a:t>Professional ethics cover a wide range of professions, including medicine, law, engineering, accounting, teaching, and others. Each profession has its own set of ethical standards that are designed to guide the behavior of its members.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a:t>
            </a:r>
            <a:r>
              <a:rPr lang="en-PH" altLang="en-US"/>
              <a:t>is</a:t>
            </a:r>
            <a:r>
              <a:rPr lang="en-US"/>
              <a:t> professional characteristics?</a:t>
            </a:r>
            <a:endParaRPr lang="en-US"/>
          </a:p>
        </p:txBody>
      </p:sp>
      <p:sp>
        <p:nvSpPr>
          <p:cNvPr id="3" name="Content Placeholder 2"/>
          <p:cNvSpPr>
            <a:spLocks noGrp="1"/>
          </p:cNvSpPr>
          <p:nvPr>
            <p:ph idx="1"/>
          </p:nvPr>
        </p:nvSpPr>
        <p:spPr/>
        <p:txBody>
          <a:bodyPr/>
          <a:p>
            <a:pPr algn="just"/>
            <a:r>
              <a:rPr lang="en-US"/>
              <a:t>Professional characteristics refer to the qualities a person exemplifies in a business environment. Professionalism includes standards for behavior and the employee's ability to embody the company's values and do what their employer expects of them. Professionalism is necessary for the long-term success of any business, large or small. It ensures that customer relationships are maintained, employee interactions are positive and that a company meets its goals and objectives.</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15 professional characteristics for the workplace</a:t>
            </a:r>
            <a:endParaRPr lang="en-US"/>
          </a:p>
        </p:txBody>
      </p:sp>
      <p:sp>
        <p:nvSpPr>
          <p:cNvPr id="3" name="Content Placeholder 2"/>
          <p:cNvSpPr>
            <a:spLocks noGrp="1"/>
          </p:cNvSpPr>
          <p:nvPr>
            <p:ph idx="1"/>
          </p:nvPr>
        </p:nvSpPr>
        <p:spPr>
          <a:xfrm>
            <a:off x="609600" y="1174750"/>
            <a:ext cx="6340475" cy="4953000"/>
          </a:xfrm>
        </p:spPr>
        <p:txBody>
          <a:bodyPr/>
          <a:p>
            <a:r>
              <a:rPr lang="en-US"/>
              <a:t>Professional appearance</a:t>
            </a:r>
            <a:endParaRPr lang="en-US"/>
          </a:p>
          <a:p>
            <a:r>
              <a:rPr lang="en-US"/>
              <a:t>Reliable</a:t>
            </a:r>
            <a:endParaRPr lang="en-US"/>
          </a:p>
          <a:p>
            <a:r>
              <a:rPr lang="en-US"/>
              <a:t>Ethical behavior</a:t>
            </a:r>
            <a:endParaRPr lang="en-US"/>
          </a:p>
          <a:p>
            <a:r>
              <a:rPr lang="en-US"/>
              <a:t>Organized</a:t>
            </a:r>
            <a:endParaRPr lang="en-US"/>
          </a:p>
          <a:p>
            <a:r>
              <a:rPr lang="en-US"/>
              <a:t>Accountable</a:t>
            </a:r>
            <a:endParaRPr lang="en-US"/>
          </a:p>
          <a:p>
            <a:r>
              <a:rPr lang="en-US"/>
              <a:t>Professional language</a:t>
            </a:r>
            <a:endParaRPr lang="en-US"/>
          </a:p>
          <a:p>
            <a:r>
              <a:rPr lang="en-US"/>
              <a:t>Separates personal and professional</a:t>
            </a:r>
            <a:endParaRPr lang="en-US"/>
          </a:p>
          <a:p>
            <a:r>
              <a:rPr lang="en-US"/>
              <a:t>Positive attitude</a:t>
            </a:r>
            <a:endParaRPr lang="en-US"/>
          </a:p>
          <a:p>
            <a:endParaRPr lang="en-US"/>
          </a:p>
        </p:txBody>
      </p:sp>
      <p:sp>
        <p:nvSpPr>
          <p:cNvPr id="4" name="Text Box 3"/>
          <p:cNvSpPr txBox="1"/>
          <p:nvPr/>
        </p:nvSpPr>
        <p:spPr>
          <a:xfrm>
            <a:off x="7257415" y="1174750"/>
            <a:ext cx="4565650" cy="4030980"/>
          </a:xfrm>
          <a:prstGeom prst="rect">
            <a:avLst/>
          </a:prstGeom>
          <a:noFill/>
        </p:spPr>
        <p:txBody>
          <a:bodyPr wrap="square" rtlCol="0">
            <a:spAutoFit/>
          </a:bodyPr>
          <a:p>
            <a:pPr marL="285750" indent="-285750">
              <a:buFont typeface="Arial" panose="020B0604020202020204" pitchFamily="34" charset="0"/>
              <a:buChar char="•"/>
            </a:pPr>
            <a:r>
              <a:rPr lang="en-US" sz="3200"/>
              <a:t>Emotional control</a:t>
            </a:r>
            <a:endParaRPr lang="en-US" sz="3200"/>
          </a:p>
          <a:p>
            <a:pPr marL="285750" indent="-285750">
              <a:buFont typeface="Arial" panose="020B0604020202020204" pitchFamily="34" charset="0"/>
              <a:buChar char="•"/>
            </a:pPr>
            <a:r>
              <a:rPr lang="en-US" sz="3200"/>
              <a:t>Effective time management</a:t>
            </a:r>
            <a:endParaRPr lang="en-US" sz="3200"/>
          </a:p>
          <a:p>
            <a:pPr marL="285750" indent="-285750">
              <a:buFont typeface="Arial" panose="020B0604020202020204" pitchFamily="34" charset="0"/>
              <a:buChar char="•"/>
            </a:pPr>
            <a:r>
              <a:rPr lang="en-US" sz="3200"/>
              <a:t>Focused</a:t>
            </a:r>
            <a:endParaRPr lang="en-US" sz="3200"/>
          </a:p>
          <a:p>
            <a:pPr marL="285750" indent="-285750">
              <a:buFont typeface="Arial" panose="020B0604020202020204" pitchFamily="34" charset="0"/>
              <a:buChar char="•"/>
            </a:pPr>
            <a:r>
              <a:rPr lang="en-US" sz="3200"/>
              <a:t>Poised</a:t>
            </a:r>
            <a:endParaRPr lang="en-US" sz="3200"/>
          </a:p>
          <a:p>
            <a:pPr marL="285750" indent="-285750">
              <a:buFont typeface="Arial" panose="020B0604020202020204" pitchFamily="34" charset="0"/>
              <a:buChar char="•"/>
            </a:pPr>
            <a:r>
              <a:rPr lang="en-US" sz="3200"/>
              <a:t>Respectful of others</a:t>
            </a:r>
            <a:endParaRPr lang="en-US" sz="3200"/>
          </a:p>
          <a:p>
            <a:pPr marL="285750" indent="-285750">
              <a:buFont typeface="Arial" panose="020B0604020202020204" pitchFamily="34" charset="0"/>
              <a:buChar char="•"/>
            </a:pPr>
            <a:r>
              <a:rPr lang="en-US" sz="3200"/>
              <a:t>Strong communicator</a:t>
            </a:r>
            <a:endParaRPr lang="en-US" sz="3200"/>
          </a:p>
          <a:p>
            <a:pPr marL="285750" indent="-285750">
              <a:buFont typeface="Arial" panose="020B0604020202020204" pitchFamily="34" charset="0"/>
              <a:buChar char="•"/>
            </a:pPr>
            <a:r>
              <a:rPr lang="en-US" sz="3200"/>
              <a:t>Possesses soft skills</a:t>
            </a:r>
            <a:endParaRPr lang="en-US" sz="3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 Professional appearance</a:t>
            </a:r>
            <a:endParaRPr lang="en-US"/>
          </a:p>
        </p:txBody>
      </p:sp>
      <p:sp>
        <p:nvSpPr>
          <p:cNvPr id="3" name="Content Placeholder 2"/>
          <p:cNvSpPr>
            <a:spLocks noGrp="1"/>
          </p:cNvSpPr>
          <p:nvPr>
            <p:ph idx="1"/>
          </p:nvPr>
        </p:nvSpPr>
        <p:spPr/>
        <p:txBody>
          <a:bodyPr/>
          <a:p>
            <a:pPr algn="just"/>
            <a:r>
              <a:rPr lang="en-US"/>
              <a:t>Professionals should always strive for a professional appearance, including appropriate attire and proper hygiene and grooming. Clothing should always be clean and ironed properly. Pants, dresses, formal skirts, crisp white shirts and leather shoes are all appropriate for a professional's wardrobe.</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2. Reliable</a:t>
            </a:r>
            <a:endParaRPr lang="en-US"/>
          </a:p>
        </p:txBody>
      </p:sp>
      <p:sp>
        <p:nvSpPr>
          <p:cNvPr id="3" name="Content Placeholder 2"/>
          <p:cNvSpPr>
            <a:spLocks noGrp="1"/>
          </p:cNvSpPr>
          <p:nvPr>
            <p:ph idx="1"/>
          </p:nvPr>
        </p:nvSpPr>
        <p:spPr/>
        <p:txBody>
          <a:bodyPr/>
          <a:p>
            <a:pPr algn="just"/>
            <a:r>
              <a:rPr lang="en-US"/>
              <a:t>Professionals are dependable and keep their commitments. They do what they say they will do and don't overpromise. Professionals respond to colleagues and customers promptly and follow through on their commitments in a timely manner. Punctuality is a key aspect of this professional characteristic. It's always important to clarify any areas of uncertainty when dealing with customers or members of your team to ensure there are no mistaken assumptions or surprises.</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3. Ethical behavior</a:t>
            </a:r>
            <a:endParaRPr lang="en-US"/>
          </a:p>
        </p:txBody>
      </p:sp>
      <p:sp>
        <p:nvSpPr>
          <p:cNvPr id="3" name="Content Placeholder 2"/>
          <p:cNvSpPr>
            <a:spLocks noGrp="1"/>
          </p:cNvSpPr>
          <p:nvPr>
            <p:ph idx="1"/>
          </p:nvPr>
        </p:nvSpPr>
        <p:spPr/>
        <p:txBody>
          <a:bodyPr/>
          <a:p>
            <a:pPr algn="just"/>
            <a:r>
              <a:rPr lang="en-US"/>
              <a:t>Embodying professionalism also means to be committed to doing the right thing. Honesty, open disclosure and sincerity are all characteristics of ethical behavior. Many organizations include a commitment to ethical behavior in their code of conduct. Professionals can adopt a personal code of conduct and make the same commitment on an individual basis.</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4. Organized</a:t>
            </a:r>
            <a:endParaRPr lang="en-US"/>
          </a:p>
        </p:txBody>
      </p:sp>
      <p:sp>
        <p:nvSpPr>
          <p:cNvPr id="3" name="Content Placeholder 2"/>
          <p:cNvSpPr>
            <a:spLocks noGrp="1"/>
          </p:cNvSpPr>
          <p:nvPr>
            <p:ph idx="1"/>
          </p:nvPr>
        </p:nvSpPr>
        <p:spPr/>
        <p:txBody>
          <a:bodyPr/>
          <a:p>
            <a:pPr algn="just"/>
            <a:r>
              <a:rPr lang="en-US"/>
              <a:t>A professional keeps their workspace neat and organized so that they can easily find items when they need them. All files and paperwork should be in place and, if they have to deliver a presentation, all materials should be ready well in advance so there are no unexpected delays.</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5. Accountable</a:t>
            </a:r>
            <a:endParaRPr lang="en-US"/>
          </a:p>
        </p:txBody>
      </p:sp>
      <p:sp>
        <p:nvSpPr>
          <p:cNvPr id="3" name="Content Placeholder 2"/>
          <p:cNvSpPr>
            <a:spLocks noGrp="1"/>
          </p:cNvSpPr>
          <p:nvPr>
            <p:ph idx="1"/>
          </p:nvPr>
        </p:nvSpPr>
        <p:spPr/>
        <p:txBody>
          <a:bodyPr/>
          <a:p>
            <a:pPr algn="just"/>
            <a:r>
              <a:rPr lang="en-US"/>
              <a:t>Just as a professional accepts credit for having completed a task or achieved a goal, they also are accountable for their actions when they fail. They take responsibility for any mistakes that they make and take whatever steps necessary to resolve any consequences from mistakes. They are accountable and expect accountability from others.</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6. Professional language</a:t>
            </a:r>
            <a:endParaRPr lang="en-US"/>
          </a:p>
        </p:txBody>
      </p:sp>
      <p:sp>
        <p:nvSpPr>
          <p:cNvPr id="3" name="Content Placeholder 2"/>
          <p:cNvSpPr>
            <a:spLocks noGrp="1"/>
          </p:cNvSpPr>
          <p:nvPr>
            <p:ph idx="1"/>
          </p:nvPr>
        </p:nvSpPr>
        <p:spPr/>
        <p:txBody>
          <a:bodyPr/>
          <a:p>
            <a:pPr algn="just"/>
            <a:r>
              <a:rPr lang="en-US"/>
              <a:t>People who behave with professionalism monitor every area of their behavior, including how they talk. They minimize the use of slang and avoid using inappropriate language in the workplace. They even are conscientious of the language they use in informal settings.</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7. Separates personal and professional</a:t>
            </a:r>
            <a:endParaRPr lang="en-US"/>
          </a:p>
        </p:txBody>
      </p:sp>
      <p:sp>
        <p:nvSpPr>
          <p:cNvPr id="3" name="Content Placeholder 2"/>
          <p:cNvSpPr>
            <a:spLocks noGrp="1"/>
          </p:cNvSpPr>
          <p:nvPr>
            <p:ph idx="1"/>
          </p:nvPr>
        </p:nvSpPr>
        <p:spPr/>
        <p:txBody>
          <a:bodyPr/>
          <a:p>
            <a:pPr algn="just"/>
            <a:r>
              <a:rPr lang="en-US"/>
              <a:t>Professionals understand the importance of separating their personal lives from their professional lives. While professionals may experience the same challenges in their personal lives as others, they maintain a clear separation between their professional lives and workplace demeanor.</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8. Positive attitude</a:t>
            </a:r>
            <a:endParaRPr lang="en-US"/>
          </a:p>
        </p:txBody>
      </p:sp>
      <p:sp>
        <p:nvSpPr>
          <p:cNvPr id="3" name="Content Placeholder 2"/>
          <p:cNvSpPr>
            <a:spLocks noGrp="1"/>
          </p:cNvSpPr>
          <p:nvPr>
            <p:ph idx="1"/>
          </p:nvPr>
        </p:nvSpPr>
        <p:spPr/>
        <p:txBody>
          <a:bodyPr/>
          <a:p>
            <a:pPr algn="just"/>
            <a:r>
              <a:rPr lang="en-US"/>
              <a:t>Part of being a professional means maintaining a positive, can-do attitude while working. A positive attitude will improve a professional's overall performance and increase the likelihood of a positive outcome. It will also impact the behavior and performance of others, improving employee morale in the office.</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9. Emotional control</a:t>
            </a:r>
            <a:endParaRPr lang="en-US"/>
          </a:p>
        </p:txBody>
      </p:sp>
      <p:sp>
        <p:nvSpPr>
          <p:cNvPr id="3" name="Content Placeholder 2"/>
          <p:cNvSpPr>
            <a:spLocks noGrp="1"/>
          </p:cNvSpPr>
          <p:nvPr>
            <p:ph idx="1"/>
          </p:nvPr>
        </p:nvSpPr>
        <p:spPr/>
        <p:txBody>
          <a:bodyPr/>
          <a:p>
            <a:pPr algn="just"/>
            <a:r>
              <a:rPr lang="en-US"/>
              <a:t>Emotional control is another key characteristic of professionalism. Professionals understand the importance of maintaining their composure and staying calm in all situations. By remaining calm, even during challenging moments, others can rely on them to be rational and of sound judgment.</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10. Effective time management</a:t>
            </a:r>
            <a:endParaRPr lang="en-US"/>
          </a:p>
        </p:txBody>
      </p:sp>
      <p:sp>
        <p:nvSpPr>
          <p:cNvPr id="3" name="Content Placeholder 2"/>
          <p:cNvSpPr>
            <a:spLocks noGrp="1"/>
          </p:cNvSpPr>
          <p:nvPr>
            <p:ph idx="1"/>
          </p:nvPr>
        </p:nvSpPr>
        <p:spPr/>
        <p:txBody>
          <a:bodyPr/>
          <a:p>
            <a:pPr algn="just"/>
            <a:r>
              <a:rPr lang="en-US"/>
              <a:t>An employee who knows how to manage their time well is viewed by their peers as a professional. Some characteristics of time management abilities include showing up at the office on time in the morning, being on time for meetings and letting someone in the office know if they suspect that they might be late.</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11. Focused</a:t>
            </a:r>
            <a:endParaRPr lang="en-US"/>
          </a:p>
        </p:txBody>
      </p:sp>
      <p:sp>
        <p:nvSpPr>
          <p:cNvPr id="3" name="Content Placeholder 2"/>
          <p:cNvSpPr>
            <a:spLocks noGrp="1"/>
          </p:cNvSpPr>
          <p:nvPr>
            <p:ph idx="1"/>
          </p:nvPr>
        </p:nvSpPr>
        <p:spPr/>
        <p:txBody>
          <a:bodyPr/>
          <a:p>
            <a:pPr algn="just"/>
            <a:r>
              <a:rPr lang="en-US"/>
              <a:t>A professional is clear about their goals and understands what they need to accomplish to achieve them. They know how to stay focused on their work to maintain their productivity. Professionals recognize the importance of maintaining focus to improve the quality of their work and be as efficient as possible.</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12. Poised</a:t>
            </a:r>
            <a:endParaRPr lang="en-US"/>
          </a:p>
        </p:txBody>
      </p:sp>
      <p:sp>
        <p:nvSpPr>
          <p:cNvPr id="3" name="Content Placeholder 2"/>
          <p:cNvSpPr>
            <a:spLocks noGrp="1"/>
          </p:cNvSpPr>
          <p:nvPr>
            <p:ph idx="1"/>
          </p:nvPr>
        </p:nvSpPr>
        <p:spPr/>
        <p:txBody>
          <a:bodyPr/>
          <a:p>
            <a:pPr algn="just"/>
            <a:r>
              <a:rPr lang="en-US"/>
              <a:t>Professionals should demonstrate poise, a calm and confident state of being. Being poised means maintaining a straight posture, making eye contact when communicating and helping establish a friendly and professional presence. Being poised means also staying calm during times of heightened pressure.</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13. Respectful of others</a:t>
            </a:r>
            <a:endParaRPr lang="en-US"/>
          </a:p>
        </p:txBody>
      </p:sp>
      <p:sp>
        <p:nvSpPr>
          <p:cNvPr id="3" name="Content Placeholder 2"/>
          <p:cNvSpPr>
            <a:spLocks noGrp="1"/>
          </p:cNvSpPr>
          <p:nvPr>
            <p:ph idx="1"/>
          </p:nvPr>
        </p:nvSpPr>
        <p:spPr/>
        <p:txBody>
          <a:bodyPr/>
          <a:p>
            <a:pPr algn="just"/>
            <a:r>
              <a:rPr lang="en-US"/>
              <a:t>Professionals always treat others with respect. They understand that though humor is appropriate in the workplace, they should always use it with respect to others. The only time that professionals engage in conversations about other people is if they are evaluating their performance and looking for constructive ways to improve their performance in the workplace.</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14. Strong communicator</a:t>
            </a:r>
            <a:endParaRPr lang="en-US"/>
          </a:p>
        </p:txBody>
      </p:sp>
      <p:sp>
        <p:nvSpPr>
          <p:cNvPr id="3" name="Content Placeholder 2"/>
          <p:cNvSpPr>
            <a:spLocks noGrp="1"/>
          </p:cNvSpPr>
          <p:nvPr>
            <p:ph idx="1"/>
          </p:nvPr>
        </p:nvSpPr>
        <p:spPr/>
        <p:txBody>
          <a:bodyPr/>
          <a:p>
            <a:r>
              <a:rPr lang="en-US"/>
              <a:t>A professional must have strong communication skills. This means that they not only can effectively and efficiently convey messages to others but also that they can actively listen to and understand what others are telling them. By engaging in open and constructive communication with others, professionals can collaborate more effectively and accomplish a lot.</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15. Possesses soft skills</a:t>
            </a:r>
            <a:endParaRPr lang="en-US"/>
          </a:p>
        </p:txBody>
      </p:sp>
      <p:sp>
        <p:nvSpPr>
          <p:cNvPr id="3" name="Content Placeholder 2"/>
          <p:cNvSpPr>
            <a:spLocks noGrp="1"/>
          </p:cNvSpPr>
          <p:nvPr>
            <p:ph idx="1"/>
          </p:nvPr>
        </p:nvSpPr>
        <p:spPr/>
        <p:txBody>
          <a:bodyPr/>
          <a:p>
            <a:pPr algn="just"/>
            <a:r>
              <a:rPr lang="en-US"/>
              <a:t>Soft skills are personal attributes that allow someone to interact effectively with others. Soft skills include things like leadership, critical thinking, teamwork and people skills. Soft skills help professionals to behave courteously when addressing colleagues and managers, use the right language when communicating and respect the opinions of others.</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439420" y="2990850"/>
            <a:ext cx="10972800" cy="1816100"/>
          </a:xfrm>
        </p:spPr>
        <p:txBody>
          <a:bodyPr/>
          <a:p>
            <a:pPr marL="0" indent="0" algn="ctr">
              <a:buNone/>
            </a:pPr>
            <a:r>
              <a:rPr lang="en-US" sz="6600" b="1"/>
              <a:t>Professional Relationships</a:t>
            </a:r>
            <a:endParaRPr lang="en-US" sz="660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is a professional relationship?</a:t>
            </a:r>
            <a:endParaRPr lang="en-US"/>
          </a:p>
        </p:txBody>
      </p:sp>
      <p:sp>
        <p:nvSpPr>
          <p:cNvPr id="3" name="Content Placeholder 2"/>
          <p:cNvSpPr>
            <a:spLocks noGrp="1"/>
          </p:cNvSpPr>
          <p:nvPr>
            <p:ph idx="1"/>
          </p:nvPr>
        </p:nvSpPr>
        <p:spPr/>
        <p:txBody>
          <a:bodyPr/>
          <a:p>
            <a:pPr algn="just"/>
            <a:r>
              <a:rPr lang="en-US"/>
              <a:t>A professional relationship is an interpersonal connection between two or more people in a place of business. Professional relationships are usually more formal than relationships that exist outside of work. This is because work culture and professional expectations often dictate how people should behave towards one another. These expectations help keep personal issues and situations from interfering with business operations.</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Here are a few common professional relationships:</a:t>
            </a:r>
            <a:endParaRPr lang="en-US"/>
          </a:p>
        </p:txBody>
      </p:sp>
      <p:sp>
        <p:nvSpPr>
          <p:cNvPr id="3" name="Content Placeholder 2"/>
          <p:cNvSpPr>
            <a:spLocks noGrp="1"/>
          </p:cNvSpPr>
          <p:nvPr>
            <p:ph idx="1"/>
          </p:nvPr>
        </p:nvSpPr>
        <p:spPr>
          <a:xfrm>
            <a:off x="609600" y="1174750"/>
            <a:ext cx="5278755" cy="5362575"/>
          </a:xfrm>
        </p:spPr>
        <p:txBody>
          <a:bodyPr/>
          <a:p>
            <a:r>
              <a:rPr lang="en-US"/>
              <a:t>Direct report or manager relationships</a:t>
            </a:r>
            <a:endParaRPr lang="en-US"/>
          </a:p>
          <a:p>
            <a:r>
              <a:rPr lang="en-US"/>
              <a:t>Coworker relationships</a:t>
            </a:r>
            <a:endParaRPr lang="en-US"/>
          </a:p>
          <a:p>
            <a:r>
              <a:rPr lang="en-US"/>
              <a:t>Client relationships</a:t>
            </a:r>
            <a:endParaRPr lang="en-US"/>
          </a:p>
          <a:p>
            <a:r>
              <a:rPr lang="en-US"/>
              <a:t>Mentor and mentee relationships</a:t>
            </a:r>
            <a:endParaRPr lang="en-US"/>
          </a:p>
          <a:p>
            <a:r>
              <a:rPr lang="en-US"/>
              <a:t>Team member relationships</a:t>
            </a:r>
            <a:endParaRPr lang="en-US"/>
          </a:p>
          <a:p>
            <a:r>
              <a:rPr lang="en-US"/>
              <a:t>Targeted relationships</a:t>
            </a:r>
            <a:endParaRPr lang="en-US"/>
          </a:p>
          <a:p>
            <a:endParaRPr lang="en-US"/>
          </a:p>
        </p:txBody>
      </p:sp>
      <p:sp>
        <p:nvSpPr>
          <p:cNvPr id="4" name="Text Box 3"/>
          <p:cNvSpPr txBox="1"/>
          <p:nvPr/>
        </p:nvSpPr>
        <p:spPr>
          <a:xfrm>
            <a:off x="6120765" y="1174750"/>
            <a:ext cx="5052060" cy="2061210"/>
          </a:xfrm>
          <a:prstGeom prst="rect">
            <a:avLst/>
          </a:prstGeom>
          <a:noFill/>
        </p:spPr>
        <p:txBody>
          <a:bodyPr wrap="square" rtlCol="0">
            <a:spAutoFit/>
          </a:bodyPr>
          <a:p>
            <a:pPr marL="285750" indent="-285750">
              <a:buFont typeface="Arial" panose="020B0604020202020204" pitchFamily="34" charset="0"/>
              <a:buChar char="•"/>
            </a:pPr>
            <a:r>
              <a:rPr lang="en-US" sz="3200"/>
              <a:t>Tentative relationships</a:t>
            </a:r>
            <a:endParaRPr lang="en-US" sz="3200"/>
          </a:p>
          <a:p>
            <a:pPr marL="285750" indent="-285750">
              <a:buFont typeface="Arial" panose="020B0604020202020204" pitchFamily="34" charset="0"/>
              <a:buChar char="•"/>
            </a:pPr>
            <a:r>
              <a:rPr lang="en-US" sz="3200"/>
              <a:t>Trusted relationships</a:t>
            </a:r>
            <a:endParaRPr lang="en-US" sz="3200"/>
          </a:p>
          <a:p>
            <a:pPr marL="285750" indent="-285750">
              <a:buFont typeface="Arial" panose="020B0604020202020204" pitchFamily="34" charset="0"/>
              <a:buChar char="•"/>
            </a:pPr>
            <a:r>
              <a:rPr lang="en-US" sz="3200"/>
              <a:t>Business relationships</a:t>
            </a:r>
            <a:endParaRPr lang="en-US" sz="3200"/>
          </a:p>
          <a:p>
            <a:pPr marL="285750" indent="-285750">
              <a:buFont typeface="Arial" panose="020B0604020202020204" pitchFamily="34" charset="0"/>
              <a:buChar char="•"/>
            </a:pPr>
            <a:endParaRPr lang="en-US" sz="3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Direct report or manager relationships</a:t>
            </a:r>
            <a:endParaRPr lang="en-US"/>
          </a:p>
        </p:txBody>
      </p:sp>
      <p:sp>
        <p:nvSpPr>
          <p:cNvPr id="3" name="Content Placeholder 2"/>
          <p:cNvSpPr>
            <a:spLocks noGrp="1"/>
          </p:cNvSpPr>
          <p:nvPr>
            <p:ph idx="1"/>
          </p:nvPr>
        </p:nvSpPr>
        <p:spPr/>
        <p:txBody>
          <a:bodyPr/>
          <a:p>
            <a:pPr algn="just"/>
            <a:r>
              <a:rPr lang="en-US"/>
              <a:t>This professional relationship describes the interpersonal connection between an employee and their manager. The manager is the one who assigns the work, monitors its progress and expects regular updates from the employee. The manager often helps determine ways in which the employee can grow or take on more responsibility. This relationship is vital to workplace satisfaction because managers create a positive work environment and set the standard for how others should conduct themselves.</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Coworker relationships</a:t>
            </a:r>
            <a:endParaRPr lang="en-US"/>
          </a:p>
        </p:txBody>
      </p:sp>
      <p:sp>
        <p:nvSpPr>
          <p:cNvPr id="3" name="Content Placeholder 2"/>
          <p:cNvSpPr>
            <a:spLocks noGrp="1"/>
          </p:cNvSpPr>
          <p:nvPr>
            <p:ph idx="1"/>
          </p:nvPr>
        </p:nvSpPr>
        <p:spPr/>
        <p:txBody>
          <a:bodyPr/>
          <a:p>
            <a:pPr algn="just"/>
            <a:r>
              <a:rPr lang="en-US"/>
              <a:t>Coworker relationships are professional relationships between individuals who work at the same company. This is the most common type of professional relationship, but it may take on unique aspects or characteristics depending on the circumstance. For example, if a person from another department transfers to your team, then that coworker relationship has become a team member relationship, which is slightly more personal.</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Client relationships</a:t>
            </a:r>
            <a:endParaRPr lang="en-US"/>
          </a:p>
        </p:txBody>
      </p:sp>
      <p:sp>
        <p:nvSpPr>
          <p:cNvPr id="3" name="Content Placeholder 2"/>
          <p:cNvSpPr>
            <a:spLocks noGrp="1"/>
          </p:cNvSpPr>
          <p:nvPr>
            <p:ph idx="1"/>
          </p:nvPr>
        </p:nvSpPr>
        <p:spPr/>
        <p:txBody>
          <a:bodyPr/>
          <a:p>
            <a:pPr algn="just"/>
            <a:r>
              <a:rPr lang="en-US"/>
              <a:t>Client relationships describe a relationship between a provider of a product or service and the client. These professional relationships are generally more formal because businesses often show their clients additional care in order to retain them as a customer.</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Mentor and mentee relationships</a:t>
            </a:r>
            <a:endParaRPr lang="en-US"/>
          </a:p>
        </p:txBody>
      </p:sp>
      <p:sp>
        <p:nvSpPr>
          <p:cNvPr id="3" name="Content Placeholder 2"/>
          <p:cNvSpPr>
            <a:spLocks noGrp="1"/>
          </p:cNvSpPr>
          <p:nvPr>
            <p:ph idx="1"/>
          </p:nvPr>
        </p:nvSpPr>
        <p:spPr/>
        <p:txBody>
          <a:bodyPr/>
          <a:p>
            <a:pPr algn="just"/>
            <a:r>
              <a:rPr lang="en-US"/>
              <a:t>The mentor and mentee professional relationship describes the connection between someone experienced and someone who is in the early learning stage of their career. The mentor often provides the mentee with wisdom, guidance and expertise. This type of interpersonal relationship may become more personal as the mentor and mentee form a closer bond, demonstrating greater trust and ease in communication.</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Team member relationships</a:t>
            </a:r>
            <a:endParaRPr lang="en-US"/>
          </a:p>
        </p:txBody>
      </p:sp>
      <p:sp>
        <p:nvSpPr>
          <p:cNvPr id="3" name="Content Placeholder 2"/>
          <p:cNvSpPr>
            <a:spLocks noGrp="1"/>
          </p:cNvSpPr>
          <p:nvPr>
            <p:ph idx="1"/>
          </p:nvPr>
        </p:nvSpPr>
        <p:spPr/>
        <p:txBody>
          <a:bodyPr/>
          <a:p>
            <a:pPr algn="just"/>
            <a:r>
              <a:rPr lang="en-US" sz="2400"/>
              <a:t>The team member relationship is another common professional relationship. This differs from the coworker relationship because coworkers are not always team members. For example, if you work for a large corporation with hundreds of employees, you may only have a small team of 10 or 20 people with whom you work directly. These are your team members. While team members are also coworkers, everyone else in the company who you do not closely or directly work with falls only into the coworker category.</a:t>
            </a:r>
            <a:r>
              <a:rPr lang="en-PH" altLang="en-US" sz="2400"/>
              <a:t> </a:t>
            </a:r>
            <a:endParaRPr lang="en-PH" altLang="en-US" sz="2400"/>
          </a:p>
          <a:p>
            <a:pPr algn="just"/>
            <a:r>
              <a:rPr lang="en-PH" altLang="en-US" sz="2400"/>
              <a:t>Team member relationships are characterized by close interpersonal work toward the same goal or purpose. Because team members often spend much of the workday together, these relationships may take on some characteristics similar to friendships.</a:t>
            </a:r>
            <a:endParaRPr lang="en-PH" altLang="en-US" sz="2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Targeted relationships</a:t>
            </a:r>
            <a:endParaRPr lang="en-US"/>
          </a:p>
        </p:txBody>
      </p:sp>
      <p:sp>
        <p:nvSpPr>
          <p:cNvPr id="3" name="Content Placeholder 2"/>
          <p:cNvSpPr>
            <a:spLocks noGrp="1"/>
          </p:cNvSpPr>
          <p:nvPr>
            <p:ph idx="1"/>
          </p:nvPr>
        </p:nvSpPr>
        <p:spPr/>
        <p:txBody>
          <a:bodyPr/>
          <a:p>
            <a:pPr algn="just"/>
            <a:r>
              <a:rPr lang="en-US"/>
              <a:t>A targeted relationship is a professional relationship where one person seeks or targets another individual in order to form a beneficial connection with them. This targeted person often is very knowledgeable or has something from which the other person can benefit. For example, you might establish a targeted relationship because you believe the other individual might be able to help you get a promotion or a secure new job through their connections.</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Tentative relationships</a:t>
            </a:r>
            <a:endParaRPr lang="en-US"/>
          </a:p>
        </p:txBody>
      </p:sp>
      <p:sp>
        <p:nvSpPr>
          <p:cNvPr id="3" name="Content Placeholder 2"/>
          <p:cNvSpPr>
            <a:spLocks noGrp="1"/>
          </p:cNvSpPr>
          <p:nvPr>
            <p:ph idx="1"/>
          </p:nvPr>
        </p:nvSpPr>
        <p:spPr/>
        <p:txBody>
          <a:bodyPr/>
          <a:p>
            <a:pPr algn="just"/>
            <a:r>
              <a:rPr lang="en-US"/>
              <a:t>The tentative relationship refers to a brief interaction or encounter between two or more individuals in a work-related environment. A momentary greeting at a company-sponsored event is a tentative relationship, for example, because no further connection has yet formed between the individual parties involved. However, one or both individuals may seek to develop this relationship further if they believe they may gain some value from forming a deeper professional relationship.</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Trusted relationships</a:t>
            </a:r>
            <a:endParaRPr lang="en-US"/>
          </a:p>
        </p:txBody>
      </p:sp>
      <p:sp>
        <p:nvSpPr>
          <p:cNvPr id="3" name="Content Placeholder 2"/>
          <p:cNvSpPr>
            <a:spLocks noGrp="1"/>
          </p:cNvSpPr>
          <p:nvPr>
            <p:ph idx="1"/>
          </p:nvPr>
        </p:nvSpPr>
        <p:spPr/>
        <p:txBody>
          <a:bodyPr/>
          <a:p>
            <a:pPr algn="just"/>
            <a:r>
              <a:rPr lang="en-US"/>
              <a:t>A trusted relationship is an interpersonal relationship that holds the most value. These relationships are personal and highly dependable. They are special because they can last for long periods of time, even after one or both individuals have left the place where they originally worked together. Any type of professional relationship can become a trusted relationship.</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Business relationships</a:t>
            </a:r>
            <a:endParaRPr lang="en-US"/>
          </a:p>
        </p:txBody>
      </p:sp>
      <p:sp>
        <p:nvSpPr>
          <p:cNvPr id="3" name="Content Placeholder 2"/>
          <p:cNvSpPr>
            <a:spLocks noGrp="1"/>
          </p:cNvSpPr>
          <p:nvPr>
            <p:ph idx="1"/>
          </p:nvPr>
        </p:nvSpPr>
        <p:spPr/>
        <p:txBody>
          <a:bodyPr/>
          <a:p>
            <a:pPr algn="just"/>
            <a:r>
              <a:rPr lang="en-US"/>
              <a:t>Business relationships focus primarily on the work-related aspects of a relationship. They serve to accomplish the objectives of a business operation or describe what one party can do for the other. These transaction-based relationships are useful when you want to establish an important business collaboration that requires dedicated time and efforts. In this type of relationship, the priority is to stay focused on your tasks and complete the work in a timely manner.</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2800"/>
              <a:t>Why is it important to maintain professional relationships?</a:t>
            </a:r>
            <a:endParaRPr lang="en-US" sz="2800"/>
          </a:p>
        </p:txBody>
      </p:sp>
      <p:sp>
        <p:nvSpPr>
          <p:cNvPr id="3" name="Content Placeholder 2"/>
          <p:cNvSpPr>
            <a:spLocks noGrp="1"/>
          </p:cNvSpPr>
          <p:nvPr>
            <p:ph idx="1"/>
          </p:nvPr>
        </p:nvSpPr>
        <p:spPr/>
        <p:txBody>
          <a:bodyPr/>
          <a:p>
            <a:pPr algn="just"/>
            <a:r>
              <a:rPr lang="en-US"/>
              <a:t>Professional relationships are important because they encourage a healthier and safer work environment where everyone can work together with minimal conflict. Professional relationships also help to maintain boundaries. Managing your boundaries and keeping a relationship professional can help to keep everyone focused on their projects and responsibilities.</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5 tips to build professional relationships</a:t>
            </a:r>
            <a:endParaRPr lang="en-US"/>
          </a:p>
        </p:txBody>
      </p:sp>
      <p:sp>
        <p:nvSpPr>
          <p:cNvPr id="3" name="Content Placeholder 2"/>
          <p:cNvSpPr>
            <a:spLocks noGrp="1"/>
          </p:cNvSpPr>
          <p:nvPr>
            <p:ph idx="1"/>
          </p:nvPr>
        </p:nvSpPr>
        <p:spPr/>
        <p:txBody>
          <a:bodyPr/>
          <a:p>
            <a:pPr marL="514350" indent="-514350">
              <a:buFont typeface="+mj-lt"/>
              <a:buAutoNum type="arabicPeriod"/>
            </a:pPr>
            <a:r>
              <a:rPr lang="en-US" b="1"/>
              <a:t>Introduce yourself</a:t>
            </a:r>
            <a:endParaRPr lang="en-US" b="1"/>
          </a:p>
          <a:p>
            <a:endParaRPr lang="en-US"/>
          </a:p>
          <a:p>
            <a:pPr marL="0" indent="0" algn="just">
              <a:buNone/>
            </a:pPr>
            <a:r>
              <a:rPr lang="en-US"/>
              <a:t>The first thing to do if you want to build a professional relationship is introduce yourself to your colleagues. These can be simple greetings or making small talk. You can try to start off an introduction by trying to find a common connection between yourself and the other person, like asking about which department they work in or if they know a specific coworker. Try to speak in a friendly tone and smile, as this can sometimes help an introduction feel more natural.</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609600" y="1174750"/>
            <a:ext cx="10972800" cy="5259070"/>
          </a:xfrm>
        </p:spPr>
        <p:txBody>
          <a:bodyPr/>
          <a:p>
            <a:pPr marL="0" indent="0">
              <a:buNone/>
            </a:pPr>
            <a:r>
              <a:rPr lang="en-PH" altLang="en-US" b="1"/>
              <a:t>2. </a:t>
            </a:r>
            <a:r>
              <a:rPr lang="en-US" b="1"/>
              <a:t>Build trust</a:t>
            </a:r>
            <a:endParaRPr lang="en-US" b="1"/>
          </a:p>
          <a:p>
            <a:pPr marL="0" indent="0" algn="just">
              <a:buNone/>
            </a:pPr>
            <a:endParaRPr lang="en-US"/>
          </a:p>
          <a:p>
            <a:pPr marL="0" indent="0" algn="just">
              <a:buNone/>
            </a:pPr>
            <a:r>
              <a:rPr lang="en-US"/>
              <a:t>Building trust helps create valuable relationships that are established on a mutual confidence in the words, actions, and skills of the other person. Building trust can help a professional relationship develop into something more substantive and authentic. You can build trust by showing that you are a reliable colleague and someone that others can depend on to complete their work on time and with attention to detail.</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PH" altLang="en-US" b="1"/>
              <a:t>3. Show respect</a:t>
            </a:r>
            <a:endParaRPr lang="en-PH" altLang="en-US" b="1"/>
          </a:p>
          <a:p>
            <a:r>
              <a:rPr lang="en-PH" altLang="en-US"/>
              <a:t>When you show respect to another person, they are likely to show you respect as well, meaning you both treat each other with integrity and kindness. Relationships built on respect can sometimes develop into closer work bonds and present greater opportunities. This is because people are more inclined to collaborate with someone who they believe has a deep respect for the work and for other people. Being considerate of other people's time and feelings while showing a desire to listen to their opinions can help to build mutual respect.</a:t>
            </a:r>
            <a:endParaRPr lang="en-PH"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PH" altLang="en-US" b="1"/>
              <a:t>4. </a:t>
            </a:r>
            <a:r>
              <a:rPr lang="en-US" b="1"/>
              <a:t>Be inclusive</a:t>
            </a:r>
            <a:endParaRPr lang="en-US" b="1"/>
          </a:p>
          <a:p>
            <a:pPr marL="0" indent="0">
              <a:buNone/>
            </a:pPr>
            <a:r>
              <a:rPr lang="en-US"/>
              <a:t>Inclusivity means including people that are sometimes excluded or marginalized because they are different. This is a healthy practice for building professional relationships because it can encourage others and make them feel valued and appreciated. Simple acts like inviting someone out to a team lunch or showing an interest in something that's important to them can help them feel welcomed.</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PH" altLang="en-US" b="1"/>
              <a:t>5. </a:t>
            </a:r>
            <a:r>
              <a:rPr lang="en-US" b="1"/>
              <a:t>Return kind gestures</a:t>
            </a:r>
            <a:endParaRPr lang="en-US" b="1"/>
          </a:p>
          <a:p>
            <a:pPr marL="0" indent="0">
              <a:buNone/>
            </a:pPr>
            <a:r>
              <a:rPr lang="en-US"/>
              <a:t>Returning a kind gesture simply means that if someone does something nice for you, then it could help your professional relationship if you perform a kind gesture in return. Helping a colleague complete their project before a deadline may be enough to encourage them to help you with your own project. This exchange of courtesy and generosity helps both parties develop a stronger professional relationship that shows a willingness to support each other when in need.</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439420" y="2990850"/>
            <a:ext cx="10972800" cy="1816100"/>
          </a:xfrm>
        </p:spPr>
        <p:txBody>
          <a:bodyPr/>
          <a:p>
            <a:pPr marL="0" indent="0" algn="ctr">
              <a:buNone/>
            </a:pPr>
            <a:r>
              <a:rPr lang="en-US" sz="6600" b="1"/>
              <a:t>Professional bodies’ code of conduct and practice</a:t>
            </a:r>
            <a:endParaRPr lang="en-US" sz="6600" b="1"/>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Professional Body</a:t>
            </a:r>
            <a:endParaRPr lang="en-US"/>
          </a:p>
        </p:txBody>
      </p:sp>
      <p:sp>
        <p:nvSpPr>
          <p:cNvPr id="3" name="Content Placeholder 2"/>
          <p:cNvSpPr>
            <a:spLocks noGrp="1"/>
          </p:cNvSpPr>
          <p:nvPr>
            <p:ph idx="1"/>
          </p:nvPr>
        </p:nvSpPr>
        <p:spPr/>
        <p:txBody>
          <a:bodyPr/>
          <a:p>
            <a:r>
              <a:rPr lang="en-US"/>
              <a:t>A Professional Body is an organisation with individual members practicing a profession or occupation in which the organisation maintains an oversight of the knowledge, skills, conduct and practice of that profession or occupation.</a:t>
            </a:r>
            <a:endParaRPr lang="en-US"/>
          </a:p>
          <a:p>
            <a:endParaRPr lang="en-US"/>
          </a:p>
          <a:p>
            <a:r>
              <a:rPr lang="en-US"/>
              <a:t>In the case of a science Professional Body, the members of the professional body should be practicing science.</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Republic Act No. 6713      </a:t>
            </a:r>
            <a:endParaRPr lang="en-US"/>
          </a:p>
        </p:txBody>
      </p:sp>
      <p:sp>
        <p:nvSpPr>
          <p:cNvPr id="3" name="Content Placeholder 2"/>
          <p:cNvSpPr>
            <a:spLocks noGrp="1"/>
          </p:cNvSpPr>
          <p:nvPr>
            <p:ph idx="1"/>
          </p:nvPr>
        </p:nvSpPr>
        <p:spPr/>
        <p:txBody>
          <a:bodyPr/>
          <a:p>
            <a:pPr algn="just"/>
            <a:r>
              <a:rPr lang="en-US"/>
              <a:t>This Act shall be known as the </a:t>
            </a:r>
            <a:r>
              <a:rPr lang="en-US" b="1" i="1"/>
              <a:t>"Code of Conduct and Ethical Standards for Public Officials and Employees."</a:t>
            </a:r>
            <a:endParaRPr lang="en-US" b="1" i="1"/>
          </a:p>
          <a:p>
            <a:pPr algn="just"/>
            <a:endParaRPr lang="en-US" b="1" i="1"/>
          </a:p>
          <a:p>
            <a:pPr algn="just"/>
            <a:r>
              <a:rPr lang="en-US" b="1" i="1"/>
              <a:t>Section 4. Norms of Conduct of Public Officials and Employees. - (A) Every public official and employee shall observe the following as standards of personal conduct in the discharge and execution of official duties:</a:t>
            </a:r>
            <a:endParaRPr lang="en-US" b="1" i="1"/>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(a) Commitment to public interest. - Public officials and employees shall always uphold the public interest over and above personal interest. All government resources and powers of their respective offices must be employed and used efficiently, effectively, honestly and economically, particularly to avoid wastage in public funds and revenues.</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(b) Professionalism. - Public officials and employees shall perform and discharge their duties with the highest degree of excellence, professionalism, intelligence and skill. They shall enter public service with utmost devotion and dedication to duty. They shall endeavor to discourage wrong perceptions of their roles as dispensers or peddlers of undue patronage.</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lgn="just"/>
            <a:r>
              <a:rPr lang="en-US" sz="2800"/>
              <a:t>(c) Justness and sincerity. - Public officials and employees shall remain true to the people at all times. They must act with justness and sincerity and shall not discriminate against anyone, especially the poor and the underprivileged. They shall at all times respect the rights of others, and shall refrain from doing acts contrary to law, good morals, good customs, public policy, public order, public safety and public interest. They shall not dispense or extend undue favors on account of their office to their relatives whether by consanguinity or affinity except with respect to appointments of such relatives to positions considered strictly confidential or as members of their personal staff whose terms are coterminous with theirs.</a:t>
            </a:r>
            <a:endParaRPr lang="en-US" sz="2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d) Political neutrality. - Public officials and employees shall provide service to everyone without unfair discrimination and regardless of party affiliation or preference.</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(e) Responsiveness to the public. - Public officials and employees shall extend prompt, courteous, and adequate service to the public. Unless otherwise provided by law or when required by the public interest, public officials and employees shall provide information of their policies and procedures in clear and understandable language, ensure openness of information, public consultations and hearings whenever appropriate, encourage suggestions, simplify and systematize policy, rules and procedures, avoid red tape and develop an understanding and appreciation of the socio-economic conditions prevailing in the country, especially in the depressed rural and urban areas.</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lgn="just"/>
            <a:r>
              <a:rPr lang="en-US"/>
              <a:t>(f) Nationalism and patriotism. - Public officials and employees shall at all times be loyal to the Republic and to the Filipino people, promote the use of locally produced goods, resources and technology and encourage appreciation and pride of country and people. They shall endeavor to maintain and defend Philippine sovereignty against foreign intrusion.</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lgn="just"/>
            <a:r>
              <a:rPr lang="en-US"/>
              <a:t>(g) Commitment to democracy. - Public officials and employees shall commit themselves to the democratic way of life and values, maintain the principle of public accountability, and manifest by deeds the supremacy of civilian authority over the military. They shall at all times uphold the Constitution and put loyalty to country above loyalty to persons or party.</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lgn="just"/>
            <a:r>
              <a:rPr lang="en-US"/>
              <a:t>(h) Simple living. - Public officials and employees and their families shall lead modest lives appropriate to their positions and income. They shall not indulge in extravagant or ostentatious display of wealth in any form.</a:t>
            </a: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439420" y="2990850"/>
            <a:ext cx="10972800" cy="1816100"/>
          </a:xfrm>
        </p:spPr>
        <p:txBody>
          <a:bodyPr/>
          <a:p>
            <a:pPr marL="0" indent="0" algn="ctr">
              <a:buNone/>
            </a:pPr>
            <a:r>
              <a:rPr lang="en-US" sz="6600" b="1"/>
              <a:t>Accountability in IT</a:t>
            </a:r>
            <a:endParaRPr lang="en-US" sz="6600" b="1"/>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lgn="just"/>
            <a:r>
              <a:rPr lang="en-US"/>
              <a:t>The onset of a new wave of innovation and technology can induce a mix of reactions amongst C-level decision-makers in any business. For every CEO, CIO, or CFO who chases the latest technological ‘shiny thing’ and plans to implement meaningful change within their organization, there are countless others who would prefer to take little or no action regarding new technological advances.</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Accountability can come in many forms – through integration, innovation adoption, or even governance.</a:t>
            </a: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AI governance</a:t>
            </a:r>
            <a:endParaRPr lang="en-US"/>
          </a:p>
        </p:txBody>
      </p:sp>
      <p:sp>
        <p:nvSpPr>
          <p:cNvPr id="3" name="Content Placeholder 2"/>
          <p:cNvSpPr>
            <a:spLocks noGrp="1"/>
          </p:cNvSpPr>
          <p:nvPr>
            <p:ph idx="1"/>
          </p:nvPr>
        </p:nvSpPr>
        <p:spPr/>
        <p:txBody>
          <a:bodyPr/>
          <a:p>
            <a:pPr algn="just"/>
            <a:r>
              <a:rPr lang="en-US"/>
              <a:t>For companies to become leaders in AI governance, business leaders must make sure that they are kept in the loop of any internal processes that are made more autonomous through the use of AI. If not, these findings suggest that the private sector will lose control of regulating the technology entirely. If business leaders implement a strategy that is based on technical expertise and outcomes, it can help keep their governance responsive to new challenges.</a:t>
            </a: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Hyperautomation</a:t>
            </a:r>
            <a:endParaRPr lang="en-US"/>
          </a:p>
        </p:txBody>
      </p:sp>
      <p:sp>
        <p:nvSpPr>
          <p:cNvPr id="3" name="Content Placeholder 2"/>
          <p:cNvSpPr>
            <a:spLocks noGrp="1"/>
          </p:cNvSpPr>
          <p:nvPr>
            <p:ph idx="1"/>
          </p:nvPr>
        </p:nvSpPr>
        <p:spPr/>
        <p:txBody>
          <a:bodyPr/>
          <a:p>
            <a:pPr algn="just"/>
            <a:r>
              <a:rPr lang="en-US"/>
              <a:t>Another way in which accountability can be important is in ensuring that businesses are able to successfully integrate new technologies, such as hyperautomation, which helps reduce costs and increase efficiencies in areas like case management</a:t>
            </a:r>
            <a:r>
              <a:rPr lang="en-PH" altLang="en-US"/>
              <a:t>. The success of hyperautomation deployments also depends on keeping operations and processes consistent, even when situations such as the coronavirus pandemic arise, and organizations are required to develop new automated solutions quickly.</a:t>
            </a:r>
            <a:endParaRPr lang="en-PH"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Emerging technologies</a:t>
            </a:r>
            <a:endParaRPr lang="en-US"/>
          </a:p>
        </p:txBody>
      </p:sp>
      <p:sp>
        <p:nvSpPr>
          <p:cNvPr id="3" name="Content Placeholder 2"/>
          <p:cNvSpPr>
            <a:spLocks noGrp="1"/>
          </p:cNvSpPr>
          <p:nvPr>
            <p:ph idx="1"/>
          </p:nvPr>
        </p:nvSpPr>
        <p:spPr/>
        <p:txBody>
          <a:bodyPr/>
          <a:p>
            <a:pPr algn="just"/>
            <a:r>
              <a:rPr lang="en-US"/>
              <a:t>t’s just as important to ensure that business leaders take accountability for recognizing technologies that are still at the early stages of emerging on their radar.</a:t>
            </a:r>
            <a:endParaRPr lang="en-US"/>
          </a:p>
          <a:p>
            <a:pPr algn="just"/>
            <a:endParaRPr lang="en-US"/>
          </a:p>
          <a:p>
            <a:pPr algn="just"/>
            <a:r>
              <a:rPr lang="en-US"/>
              <a:t> It’s never too early to hold oneself accountable for innovation. As XR begins to take shape, business leaders can also score early wins through a market-focused strategy that does not wait for such technology to mature before identifying early, valuable opportunities.</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The bottom line</a:t>
            </a:r>
            <a:endParaRPr lang="en-US"/>
          </a:p>
        </p:txBody>
      </p:sp>
      <p:sp>
        <p:nvSpPr>
          <p:cNvPr id="3" name="Content Placeholder 2"/>
          <p:cNvSpPr>
            <a:spLocks noGrp="1"/>
          </p:cNvSpPr>
          <p:nvPr>
            <p:ph idx="1"/>
          </p:nvPr>
        </p:nvSpPr>
        <p:spPr/>
        <p:txBody>
          <a:bodyPr/>
          <a:p>
            <a:pPr algn="just"/>
            <a:r>
              <a:rPr lang="en-US"/>
              <a:t>The bottom line is that technology accountability requires more than just standing up and taking ownership. It’s a process of proactive investigation, preparation, and study into what’s best for an organization. One thing’s for sure - technology will continue to evolve and new trends will continue to emerge. If businesses aren’t ready to maximize its value by embracing accountability, they could be left behind.</a:t>
            </a: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lgn="ctr">
              <a:buNone/>
            </a:pPr>
            <a:r>
              <a:rPr lang="en-PH" altLang="en-US" sz="5400">
                <a:sym typeface="+mn-ea"/>
              </a:rPr>
              <a:t>Thank you!</a:t>
            </a:r>
            <a:endParaRPr lang="en-PH" altLang="en-US" sz="5400"/>
          </a:p>
          <a:p>
            <a:pPr marL="0" indent="0" algn="ctr">
              <a:buNone/>
            </a:pPr>
            <a:endParaRPr lang="en-US" sz="5400"/>
          </a:p>
        </p:txBody>
      </p:sp>
    </p:spTree>
  </p:cSld>
  <p:clrMapOvr>
    <a:masterClrMapping/>
  </p:clrMapOvr>
</p:sld>
</file>

<file path=ppt/theme/theme1.xml><?xml version="1.0" encoding="utf-8"?>
<a:theme xmlns:a="http://schemas.openxmlformats.org/drawingml/2006/main" name="Data Pie Charts">
  <a:themeElements>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Data Pie Chart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Data Pie Char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ta Pie Char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ta Pie Char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ta Pie Char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ta Pie Char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ta Pie Char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ta Pie Char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ta Pie Char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ta Pie Char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ta Pie Char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ta Pie Char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ta Pie Char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20934</Words>
  <Application>WPS Presentation</Application>
  <PresentationFormat>Widescreen</PresentationFormat>
  <Paragraphs>231</Paragraphs>
  <Slides>56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56</vt:i4>
      </vt:variant>
    </vt:vector>
  </HeadingPairs>
  <TitlesOfParts>
    <vt:vector size="65" baseType="lpstr">
      <vt:lpstr>Arial</vt:lpstr>
      <vt:lpstr>SimSun</vt:lpstr>
      <vt:lpstr>Wingdings</vt:lpstr>
      <vt:lpstr>Segoe Script</vt:lpstr>
      <vt:lpstr>Ink Free</vt:lpstr>
      <vt:lpstr>Microsoft YaHei</vt:lpstr>
      <vt:lpstr>Arial Unicode MS</vt:lpstr>
      <vt:lpstr>Calibri</vt:lpstr>
      <vt:lpstr>Data Pie Charts</vt:lpstr>
      <vt:lpstr>PROFESSIONAL ETHICS</vt:lpstr>
      <vt:lpstr>What is Professional Ethics?</vt:lpstr>
      <vt:lpstr>What is professional characteristics?</vt:lpstr>
      <vt:lpstr>15 professional characteristics for the workplace</vt:lpstr>
      <vt:lpstr>1. Professional appearance</vt:lpstr>
      <vt:lpstr>2. Reliable</vt:lpstr>
      <vt:lpstr>3. Ethical behavior</vt:lpstr>
      <vt:lpstr>4. Organized</vt:lpstr>
      <vt:lpstr>5. Accountable</vt:lpstr>
      <vt:lpstr>6. Professional language</vt:lpstr>
      <vt:lpstr>7. Separates personal and professional</vt:lpstr>
      <vt:lpstr>8. Positive attitude</vt:lpstr>
      <vt:lpstr>9. Emotional control</vt:lpstr>
      <vt:lpstr>10. Effective time management</vt:lpstr>
      <vt:lpstr>11. Focused</vt:lpstr>
      <vt:lpstr>12. Poised</vt:lpstr>
      <vt:lpstr>13. Respectful of others</vt:lpstr>
      <vt:lpstr>14. Strong communicator</vt:lpstr>
      <vt:lpstr>15. Possesses soft skills</vt:lpstr>
      <vt:lpstr>PowerPoint 演示文稿</vt:lpstr>
      <vt:lpstr>What is a professional relationship?</vt:lpstr>
      <vt:lpstr>Here are a few common professional relationships:</vt:lpstr>
      <vt:lpstr>Direct report or manager relationships</vt:lpstr>
      <vt:lpstr>Coworker relationships</vt:lpstr>
      <vt:lpstr>Client relationships</vt:lpstr>
      <vt:lpstr>Mentor and mentee relationships</vt:lpstr>
      <vt:lpstr>Team member relationships</vt:lpstr>
      <vt:lpstr>Targeted relationships</vt:lpstr>
      <vt:lpstr>Tentative relationships</vt:lpstr>
      <vt:lpstr>Trusted relationships</vt:lpstr>
      <vt:lpstr>Business relationships</vt:lpstr>
      <vt:lpstr>Why is it important to maintain professional relationships?</vt:lpstr>
      <vt:lpstr>5 tips to build professional relationships</vt:lpstr>
      <vt:lpstr>PowerPoint 演示文稿</vt:lpstr>
      <vt:lpstr>PowerPoint 演示文稿</vt:lpstr>
      <vt:lpstr>PowerPoint 演示文稿</vt:lpstr>
      <vt:lpstr>PowerPoint 演示文稿</vt:lpstr>
      <vt:lpstr>PowerPoint 演示文稿</vt:lpstr>
      <vt:lpstr>Professional Body</vt:lpstr>
      <vt:lpstr>Republic Act No. 6713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AI governance</vt:lpstr>
      <vt:lpstr>Hyperautomation</vt:lpstr>
      <vt:lpstr>Emerging technologies</vt:lpstr>
      <vt:lpstr>The bottom line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EDDIE S. CENITA JR</cp:lastModifiedBy>
  <cp:revision>89</cp:revision>
  <dcterms:created xsi:type="dcterms:W3CDTF">2024-03-13T12:33:00Z</dcterms:created>
  <dcterms:modified xsi:type="dcterms:W3CDTF">2025-01-31T06:13:35Z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A751C46F82974C1BA6C01C3C36F6C603_11</vt:lpwstr>
  </property>
  <property fmtid="{D5CDD505-2E9C-101B-9397-08002B2CF9AE}" pid="3" name="KSOProductBuildVer">
    <vt:lpwstr>1033-12.2.0.19805</vt:lpwstr>
  </property>
</Properties>
</file>