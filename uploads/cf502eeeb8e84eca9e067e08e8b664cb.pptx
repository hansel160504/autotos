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5" r:id="rId5"/>
    <p:sldId id="260" r:id="rId6"/>
    <p:sldId id="266" r:id="rId7"/>
    <p:sldId id="261"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114" d="100"/>
          <a:sy n="114" d="100"/>
        </p:scale>
        <p:origin x="41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239184" y="692150"/>
            <a:ext cx="11885083" cy="6110288"/>
          </a:xfrm>
          <a:prstGeom prst="rect">
            <a:avLst/>
          </a:prstGeom>
          <a:noFill/>
          <a:ln w="9525">
            <a:noFill/>
          </a:ln>
        </p:spPr>
      </p:pic>
      <p:sp>
        <p:nvSpPr>
          <p:cNvPr id="10" name="Rectangle 7"/>
          <p:cNvSpPr>
            <a:spLocks noChangeArrowheads="1"/>
          </p:cNvSpPr>
          <p:nvPr/>
        </p:nvSpPr>
        <p:spPr bwMode="auto">
          <a:xfrm>
            <a:off x="2117" y="549275"/>
            <a:ext cx="12192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Grp="1" noChangeArrowheads="1"/>
          </p:cNvSpPr>
          <p:nvPr>
            <p:ph type="subTitle" idx="1"/>
          </p:nvPr>
        </p:nvSpPr>
        <p:spPr>
          <a:xfrm>
            <a:off x="2544233" y="2492375"/>
            <a:ext cx="7393517" cy="1222375"/>
          </a:xfrm>
        </p:spPr>
        <p:txBody>
          <a:bodyPr anchor="ctr"/>
          <a:lstStyle>
            <a:lvl1pPr marL="0" indent="0" algn="ctr">
              <a:buFontTx/>
              <a:buNone/>
              <a:defRPr/>
            </a:lvl1pPr>
          </a:lstStyle>
          <a:p>
            <a:pPr lvl="0"/>
            <a:r>
              <a:rPr lang="en-US" altLang="zh-CN" noProof="0"/>
              <a:t>Click to edit Master subtitle style</a:t>
            </a:r>
          </a:p>
        </p:txBody>
      </p:sp>
      <p:sp>
        <p:nvSpPr>
          <p:cNvPr id="2056" name="Rectangle 8"/>
          <p:cNvSpPr>
            <a:spLocks noGrp="1" noChangeArrowheads="1"/>
          </p:cNvSpPr>
          <p:nvPr>
            <p:ph type="ctrTitle"/>
          </p:nvPr>
        </p:nvSpPr>
        <p:spPr>
          <a:xfrm>
            <a:off x="1007533" y="620713"/>
            <a:ext cx="10363200" cy="1470025"/>
          </a:xfrm>
        </p:spPr>
        <p:txBody>
          <a:bodyPr/>
          <a:lstStyle>
            <a:lvl1pPr>
              <a:defRPr sz="3600"/>
            </a:lvl1pPr>
          </a:lstStyle>
          <a:p>
            <a:pPr lvl="0"/>
            <a:r>
              <a:rPr lang="en-US" altLang="zh-CN" noProof="0"/>
              <a:t>Click to edit Master title style</a:t>
            </a:r>
          </a:p>
        </p:txBody>
      </p:sp>
      <p:sp>
        <p:nvSpPr>
          <p:cNvPr id="11" name="Rectangle 4"/>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11/15/2025</a:t>
            </a:fld>
            <a:endParaRPr lang="en-US"/>
          </a:p>
        </p:txBody>
      </p:sp>
      <p:sp>
        <p:nvSpPr>
          <p:cNvPr id="12" name="Rectangle 5"/>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117" y="333375"/>
            <a:ext cx="12192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3"/>
          <a:srcRect t="1094" r="8122" b="13318"/>
          <a:stretch>
            <a:fillRect/>
          </a:stretch>
        </p:blipFill>
        <p:spPr>
          <a:xfrm>
            <a:off x="7730067" y="4438650"/>
            <a:ext cx="4453467" cy="2333625"/>
          </a:xfrm>
          <a:prstGeom prst="rect">
            <a:avLst/>
          </a:prstGeom>
          <a:noFill/>
          <a:ln w="9525">
            <a:noFill/>
          </a:ln>
        </p:spPr>
      </p:pic>
      <p:sp>
        <p:nvSpPr>
          <p:cNvPr id="1028" name="Rectangle 4"/>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5"/>
          <p:cNvSpPr>
            <a:spLocks noGrp="1"/>
          </p:cNvSpPr>
          <p:nvPr>
            <p:ph type="body" idx="1"/>
          </p:nvPr>
        </p:nvSpPr>
        <p:spPr>
          <a:xfrm>
            <a:off x="609600" y="1600200"/>
            <a:ext cx="109728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30" name="Rectangle 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11/15/2025</a:t>
            </a:fld>
            <a:endParaRPr 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5" name="Picture 4" descr="BG"/>
          <p:cNvPicPr>
            <a:picLocks noChangeAspect="1"/>
          </p:cNvPicPr>
          <p:nvPr/>
        </p:nvPicPr>
        <p:blipFill>
          <a:blip r:embed="rId2"/>
          <a:stretch>
            <a:fillRect/>
          </a:stretch>
        </p:blipFill>
        <p:spPr>
          <a:xfrm rot="10800000">
            <a:off x="0" y="0"/>
            <a:ext cx="12192000" cy="6858000"/>
          </a:xfrm>
          <a:prstGeom prst="rect">
            <a:avLst/>
          </a:prstGeom>
        </p:spPr>
      </p:pic>
      <p:sp>
        <p:nvSpPr>
          <p:cNvPr id="7" name="Text Box 6"/>
          <p:cNvSpPr txBox="1"/>
          <p:nvPr/>
        </p:nvSpPr>
        <p:spPr>
          <a:xfrm>
            <a:off x="483235" y="2492375"/>
            <a:ext cx="11212195" cy="1753235"/>
          </a:xfrm>
          <a:prstGeom prst="rect">
            <a:avLst/>
          </a:prstGeom>
          <a:noFill/>
        </p:spPr>
        <p:txBody>
          <a:bodyPr wrap="square" rtlCol="0">
            <a:spAutoFit/>
          </a:bodyPr>
          <a:lstStyle/>
          <a:p>
            <a:pPr algn="ctr"/>
            <a:r>
              <a:rPr lang="en-PH" altLang="en-US" sz="5400">
                <a:latin typeface="Arial Rounded MT Bold" panose="020F0704030504030204" charset="0"/>
                <a:cs typeface="Arial Rounded MT Bold" panose="020F0704030504030204" charset="0"/>
              </a:rPr>
              <a:t>Time transition in communication and Network Usage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28270"/>
            <a:ext cx="10972800" cy="1042035"/>
          </a:xfrm>
        </p:spPr>
        <p:txBody>
          <a:bodyPr/>
          <a:lstStyle/>
          <a:p>
            <a:pPr marL="0" indent="0" algn="l">
              <a:buFont typeface="Wingdings" panose="05000000000000000000" charset="0"/>
              <a:buNone/>
            </a:pPr>
            <a:r>
              <a:rPr lang="en-PH" altLang="en-US" sz="2800"/>
              <a:t>Ancient Form of Communication</a:t>
            </a:r>
          </a:p>
        </p:txBody>
      </p:sp>
      <p:pic>
        <p:nvPicPr>
          <p:cNvPr id="4" name="Picture 3" descr="Green-light-burst-abstract-backgrounds"/>
          <p:cNvPicPr>
            <a:picLocks noChangeAspect="1"/>
          </p:cNvPicPr>
          <p:nvPr/>
        </p:nvPicPr>
        <p:blipFill>
          <a:blip r:embed="rId2"/>
          <a:stretch>
            <a:fillRect/>
          </a:stretch>
        </p:blipFill>
        <p:spPr>
          <a:xfrm rot="10800000">
            <a:off x="-116205" y="0"/>
            <a:ext cx="12308840" cy="6858000"/>
          </a:xfrm>
          <a:prstGeom prst="rect">
            <a:avLst/>
          </a:prstGeom>
        </p:spPr>
      </p:pic>
      <p:sp>
        <p:nvSpPr>
          <p:cNvPr id="3" name="Content Placeholder 2"/>
          <p:cNvSpPr>
            <a:spLocks noGrp="1"/>
          </p:cNvSpPr>
          <p:nvPr>
            <p:ph idx="1"/>
          </p:nvPr>
        </p:nvSpPr>
        <p:spPr>
          <a:xfrm>
            <a:off x="-40640" y="1155065"/>
            <a:ext cx="12192635" cy="5559425"/>
          </a:xfrm>
        </p:spPr>
        <p:txBody>
          <a:bodyPr/>
          <a:lstStyle/>
          <a:p>
            <a:pPr marL="0" indent="0" algn="just">
              <a:buNone/>
            </a:pPr>
            <a:r>
              <a:rPr lang="en-US" sz="2800"/>
              <a:t>The history of human communication dates back to prehistoric times when our ancestors used various methods to relay messages. Let's dive into some key methods:</a:t>
            </a:r>
          </a:p>
          <a:p>
            <a:pPr marL="0" indent="0" algn="just">
              <a:lnSpc>
                <a:spcPct val="90000"/>
              </a:lnSpc>
              <a:buNone/>
            </a:pPr>
            <a:endParaRPr lang="en-US" sz="2800"/>
          </a:p>
          <a:p>
            <a:pPr algn="just">
              <a:lnSpc>
                <a:spcPct val="90000"/>
              </a:lnSpc>
            </a:pPr>
            <a:r>
              <a:rPr lang="en-PH" altLang="en-US" sz="2800" b="1" i="1"/>
              <a:t>Smoke Signals</a:t>
            </a:r>
            <a:r>
              <a:rPr lang="en-PH" altLang="en-US" sz="2800"/>
              <a:t> - Smoke signals were extensively used by indigenous tribes to convey messages across long distances. These signals were created by controlling the smoke from a fire, delivering simple messages through coded patterns or a series of stages.</a:t>
            </a:r>
          </a:p>
          <a:p>
            <a:pPr algn="just"/>
            <a:r>
              <a:rPr lang="en-PH" altLang="en-US" sz="2800" b="1" i="1"/>
              <a:t>Pigeon Carriers - </a:t>
            </a:r>
            <a:r>
              <a:rPr lang="en-PH" altLang="en-US" sz="2800" i="1"/>
              <a:t>Pigeons were trained to carry written messages in tiny containers strapped to their legs. This mode of communication became popular during ancient times, with pigeons employing their natural homing capabilities to deliver messages.</a:t>
            </a:r>
          </a:p>
          <a:p>
            <a:pPr marL="0" indent="457200" algn="just">
              <a:buNone/>
            </a:pPr>
            <a:endParaRPr lang="en-PH" altLang="en-US" sz="2800"/>
          </a:p>
          <a:p>
            <a:pPr marL="0" indent="457200" algn="just">
              <a:buNone/>
            </a:pPr>
            <a:endParaRPr lang="en-PH" altLang="en-US" sz="2800"/>
          </a:p>
        </p:txBody>
      </p:sp>
      <p:sp>
        <p:nvSpPr>
          <p:cNvPr id="6" name="Text Box 5"/>
          <p:cNvSpPr txBox="1"/>
          <p:nvPr/>
        </p:nvSpPr>
        <p:spPr>
          <a:xfrm>
            <a:off x="126365" y="371475"/>
            <a:ext cx="6466205" cy="542290"/>
          </a:xfrm>
          <a:prstGeom prst="rect">
            <a:avLst/>
          </a:prstGeom>
          <a:noFill/>
        </p:spPr>
        <p:txBody>
          <a:bodyPr wrap="square" rtlCol="0">
            <a:noAutofit/>
          </a:bodyPr>
          <a:lstStyle/>
          <a:p>
            <a:r>
              <a:rPr lang="en-PH" altLang="en-US" sz="2800" b="1"/>
              <a:t>Ancient Form of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28270"/>
            <a:ext cx="10972800" cy="1042035"/>
          </a:xfrm>
        </p:spPr>
        <p:txBody>
          <a:bodyPr/>
          <a:lstStyle/>
          <a:p>
            <a:pPr marL="0" indent="0" algn="l">
              <a:buFont typeface="Wingdings" panose="05000000000000000000" charset="0"/>
              <a:buNone/>
            </a:pPr>
            <a:r>
              <a:rPr lang="en-PH" altLang="en-US" sz="2800"/>
              <a:t>Ancient Form of Communication</a:t>
            </a:r>
          </a:p>
        </p:txBody>
      </p:sp>
      <p:pic>
        <p:nvPicPr>
          <p:cNvPr id="4" name="Picture 3" descr="Green-light-burst-abstract-backgrounds"/>
          <p:cNvPicPr>
            <a:picLocks noChangeAspect="1"/>
          </p:cNvPicPr>
          <p:nvPr/>
        </p:nvPicPr>
        <p:blipFill>
          <a:blip r:embed="rId2"/>
          <a:stretch>
            <a:fillRect/>
          </a:stretch>
        </p:blipFill>
        <p:spPr>
          <a:xfrm rot="10800000">
            <a:off x="-116205" y="0"/>
            <a:ext cx="12308840" cy="6858000"/>
          </a:xfrm>
          <a:prstGeom prst="rect">
            <a:avLst/>
          </a:prstGeom>
        </p:spPr>
      </p:pic>
      <p:sp>
        <p:nvSpPr>
          <p:cNvPr id="3" name="Content Placeholder 2"/>
          <p:cNvSpPr>
            <a:spLocks noGrp="1"/>
          </p:cNvSpPr>
          <p:nvPr>
            <p:ph idx="1"/>
          </p:nvPr>
        </p:nvSpPr>
        <p:spPr>
          <a:xfrm>
            <a:off x="-40640" y="1155065"/>
            <a:ext cx="12047855" cy="5559425"/>
          </a:xfrm>
        </p:spPr>
        <p:txBody>
          <a:bodyPr/>
          <a:lstStyle/>
          <a:p>
            <a:pPr marL="0" indent="0" algn="just">
              <a:lnSpc>
                <a:spcPct val="90000"/>
              </a:lnSpc>
              <a:buNone/>
            </a:pPr>
            <a:endParaRPr lang="en-US" sz="2800"/>
          </a:p>
          <a:p>
            <a:pPr algn="just">
              <a:lnSpc>
                <a:spcPct val="90000"/>
              </a:lnSpc>
            </a:pPr>
            <a:r>
              <a:rPr lang="en-PH" altLang="en-US" sz="2800" b="1" i="1"/>
              <a:t>Hieroglyphs and Petroglyphs -</a:t>
            </a:r>
            <a:r>
              <a:rPr lang="en-PH" altLang="en-US" sz="2800"/>
              <a:t> Ancient civilizations used hieroglyphs and petroglyphs to convey stories and messages through symbols and drawings. These intricate visual symbols formed the basis for written communication.</a:t>
            </a:r>
            <a:endParaRPr lang="en-PH" altLang="en-US" sz="2800" b="1" i="1"/>
          </a:p>
          <a:p>
            <a:pPr marL="0" indent="457200" algn="just">
              <a:buNone/>
            </a:pPr>
            <a:endParaRPr lang="en-PH" altLang="en-US" sz="2800" b="1" i="1"/>
          </a:p>
        </p:txBody>
      </p:sp>
      <p:sp>
        <p:nvSpPr>
          <p:cNvPr id="6" name="Text Box 5"/>
          <p:cNvSpPr txBox="1"/>
          <p:nvPr/>
        </p:nvSpPr>
        <p:spPr>
          <a:xfrm>
            <a:off x="126365" y="371475"/>
            <a:ext cx="7543165" cy="542290"/>
          </a:xfrm>
          <a:prstGeom prst="rect">
            <a:avLst/>
          </a:prstGeom>
          <a:noFill/>
        </p:spPr>
        <p:txBody>
          <a:bodyPr wrap="square" rtlCol="0">
            <a:noAutofit/>
          </a:bodyPr>
          <a:lstStyle/>
          <a:p>
            <a:r>
              <a:rPr lang="en-PH" altLang="en-US" sz="2800" b="1"/>
              <a:t>Ancient Form of Communication (Cont.)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28270"/>
            <a:ext cx="10972800" cy="1042035"/>
          </a:xfrm>
        </p:spPr>
        <p:txBody>
          <a:bodyPr/>
          <a:lstStyle/>
          <a:p>
            <a:pPr marL="0" indent="0" algn="l">
              <a:buFont typeface="Wingdings" panose="05000000000000000000" charset="0"/>
              <a:buNone/>
            </a:pPr>
            <a:r>
              <a:rPr lang="en-PH" altLang="en-US" sz="2800" b="1"/>
              <a:t>Ancient Form of Communication</a:t>
            </a:r>
          </a:p>
        </p:txBody>
      </p:sp>
      <p:pic>
        <p:nvPicPr>
          <p:cNvPr id="4" name="Picture 3" descr="Green-light-burst-abstract-backgrounds"/>
          <p:cNvPicPr>
            <a:picLocks noChangeAspect="1"/>
          </p:cNvPicPr>
          <p:nvPr/>
        </p:nvPicPr>
        <p:blipFill>
          <a:blip r:embed="rId2"/>
          <a:stretch>
            <a:fillRect/>
          </a:stretch>
        </p:blipFill>
        <p:spPr>
          <a:xfrm rot="10800000">
            <a:off x="-116205" y="0"/>
            <a:ext cx="12308840" cy="6858000"/>
          </a:xfrm>
          <a:prstGeom prst="rect">
            <a:avLst/>
          </a:prstGeom>
        </p:spPr>
      </p:pic>
      <p:sp>
        <p:nvSpPr>
          <p:cNvPr id="3" name="Content Placeholder 2"/>
          <p:cNvSpPr>
            <a:spLocks noGrp="1"/>
          </p:cNvSpPr>
          <p:nvPr>
            <p:ph idx="1"/>
          </p:nvPr>
        </p:nvSpPr>
        <p:spPr>
          <a:xfrm>
            <a:off x="-40640" y="1155065"/>
            <a:ext cx="12047855" cy="5559425"/>
          </a:xfrm>
        </p:spPr>
        <p:txBody>
          <a:bodyPr/>
          <a:lstStyle/>
          <a:p>
            <a:pPr marL="0" indent="457200" algn="just">
              <a:buNone/>
            </a:pPr>
            <a:endParaRPr lang="en-PH" altLang="en-US" sz="2800" b="1" i="1"/>
          </a:p>
        </p:txBody>
      </p:sp>
      <p:sp>
        <p:nvSpPr>
          <p:cNvPr id="6" name="Text Box 5"/>
          <p:cNvSpPr txBox="1"/>
          <p:nvPr/>
        </p:nvSpPr>
        <p:spPr>
          <a:xfrm>
            <a:off x="126365" y="371475"/>
            <a:ext cx="7543165" cy="542290"/>
          </a:xfrm>
          <a:prstGeom prst="rect">
            <a:avLst/>
          </a:prstGeom>
          <a:noFill/>
        </p:spPr>
        <p:txBody>
          <a:bodyPr wrap="square" rtlCol="0">
            <a:noAutofit/>
          </a:bodyPr>
          <a:lstStyle/>
          <a:p>
            <a:r>
              <a:rPr lang="en-PH" altLang="en-US" sz="2800" b="1"/>
              <a:t>Ancient Form of Communication (Cont.)</a:t>
            </a:r>
          </a:p>
        </p:txBody>
      </p:sp>
      <p:pic>
        <p:nvPicPr>
          <p:cNvPr id="5" name="Picture 4" descr="smoke s"/>
          <p:cNvPicPr>
            <a:picLocks noChangeAspect="1"/>
          </p:cNvPicPr>
          <p:nvPr/>
        </p:nvPicPr>
        <p:blipFill>
          <a:blip r:embed="rId3"/>
          <a:stretch>
            <a:fillRect/>
          </a:stretch>
        </p:blipFill>
        <p:spPr>
          <a:xfrm>
            <a:off x="304800" y="1313180"/>
            <a:ext cx="2531110" cy="3190875"/>
          </a:xfrm>
          <a:prstGeom prst="rect">
            <a:avLst/>
          </a:prstGeom>
        </p:spPr>
      </p:pic>
      <p:sp>
        <p:nvSpPr>
          <p:cNvPr id="7" name="Text Box 6"/>
          <p:cNvSpPr txBox="1"/>
          <p:nvPr/>
        </p:nvSpPr>
        <p:spPr>
          <a:xfrm>
            <a:off x="561975" y="4690110"/>
            <a:ext cx="2016125" cy="368300"/>
          </a:xfrm>
          <a:prstGeom prst="rect">
            <a:avLst/>
          </a:prstGeom>
          <a:noFill/>
        </p:spPr>
        <p:txBody>
          <a:bodyPr wrap="square" rtlCol="0">
            <a:spAutoFit/>
          </a:bodyPr>
          <a:lstStyle/>
          <a:p>
            <a:pPr algn="ctr"/>
            <a:r>
              <a:rPr lang="en-PH" altLang="en-US" b="1"/>
              <a:t>SMOKE SIGNAL</a:t>
            </a:r>
          </a:p>
        </p:txBody>
      </p:sp>
      <p:pic>
        <p:nvPicPr>
          <p:cNvPr id="8" name="Picture 7" descr="PEGION"/>
          <p:cNvPicPr>
            <a:picLocks noChangeAspect="1"/>
          </p:cNvPicPr>
          <p:nvPr/>
        </p:nvPicPr>
        <p:blipFill>
          <a:blip r:embed="rId4"/>
          <a:stretch>
            <a:fillRect/>
          </a:stretch>
        </p:blipFill>
        <p:spPr>
          <a:xfrm>
            <a:off x="3370580" y="2272030"/>
            <a:ext cx="4431030" cy="2215515"/>
          </a:xfrm>
          <a:prstGeom prst="rect">
            <a:avLst/>
          </a:prstGeom>
        </p:spPr>
      </p:pic>
      <p:sp>
        <p:nvSpPr>
          <p:cNvPr id="9" name="Text Box 8"/>
          <p:cNvSpPr txBox="1"/>
          <p:nvPr/>
        </p:nvSpPr>
        <p:spPr>
          <a:xfrm>
            <a:off x="4446270" y="4690110"/>
            <a:ext cx="2016125" cy="368300"/>
          </a:xfrm>
          <a:prstGeom prst="rect">
            <a:avLst/>
          </a:prstGeom>
          <a:noFill/>
        </p:spPr>
        <p:txBody>
          <a:bodyPr wrap="square" rtlCol="0">
            <a:spAutoFit/>
          </a:bodyPr>
          <a:lstStyle/>
          <a:p>
            <a:pPr algn="ctr"/>
            <a:r>
              <a:rPr lang="en-PH" altLang="en-US" b="1"/>
              <a:t>PIGEON</a:t>
            </a:r>
          </a:p>
        </p:txBody>
      </p:sp>
      <p:pic>
        <p:nvPicPr>
          <p:cNvPr id="10" name="Picture 9" descr="HP"/>
          <p:cNvPicPr>
            <a:picLocks noChangeAspect="1"/>
          </p:cNvPicPr>
          <p:nvPr/>
        </p:nvPicPr>
        <p:blipFill>
          <a:blip r:embed="rId5"/>
          <a:stretch>
            <a:fillRect/>
          </a:stretch>
        </p:blipFill>
        <p:spPr>
          <a:xfrm>
            <a:off x="8214360" y="2402840"/>
            <a:ext cx="3533140" cy="1986280"/>
          </a:xfrm>
          <a:prstGeom prst="rect">
            <a:avLst/>
          </a:prstGeom>
        </p:spPr>
      </p:pic>
      <p:sp>
        <p:nvSpPr>
          <p:cNvPr id="11" name="Text Box 10"/>
          <p:cNvSpPr txBox="1"/>
          <p:nvPr/>
        </p:nvSpPr>
        <p:spPr>
          <a:xfrm>
            <a:off x="9009380" y="4700270"/>
            <a:ext cx="1946910" cy="922020"/>
          </a:xfrm>
          <a:prstGeom prst="rect">
            <a:avLst/>
          </a:prstGeom>
          <a:noFill/>
        </p:spPr>
        <p:txBody>
          <a:bodyPr wrap="square" rtlCol="0">
            <a:spAutoFit/>
          </a:bodyPr>
          <a:lstStyle/>
          <a:p>
            <a:pPr algn="ctr"/>
            <a:r>
              <a:rPr lang="en-PH" altLang="en-US" b="1" i="1">
                <a:sym typeface="+mn-ea"/>
              </a:rPr>
              <a:t>Hieroglyphs and Petroglyphs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28270"/>
            <a:ext cx="10972800" cy="1042035"/>
          </a:xfrm>
        </p:spPr>
        <p:txBody>
          <a:bodyPr/>
          <a:lstStyle/>
          <a:p>
            <a:pPr marL="0" indent="0" algn="l">
              <a:buFont typeface="Wingdings" panose="05000000000000000000" charset="0"/>
              <a:buNone/>
            </a:pPr>
            <a:r>
              <a:rPr lang="en-PH" altLang="en-US" sz="2800"/>
              <a:t>Ancient Form of Communication</a:t>
            </a:r>
          </a:p>
        </p:txBody>
      </p:sp>
      <p:pic>
        <p:nvPicPr>
          <p:cNvPr id="4" name="Picture 3" descr="Green-light-burst-abstract-backgrounds"/>
          <p:cNvPicPr>
            <a:picLocks noChangeAspect="1"/>
          </p:cNvPicPr>
          <p:nvPr/>
        </p:nvPicPr>
        <p:blipFill>
          <a:blip r:embed="rId2"/>
          <a:stretch>
            <a:fillRect/>
          </a:stretch>
        </p:blipFill>
        <p:spPr>
          <a:xfrm rot="10800000">
            <a:off x="-116205" y="0"/>
            <a:ext cx="12308840" cy="6858000"/>
          </a:xfrm>
          <a:prstGeom prst="rect">
            <a:avLst/>
          </a:prstGeom>
        </p:spPr>
      </p:pic>
      <p:sp>
        <p:nvSpPr>
          <p:cNvPr id="3" name="Content Placeholder 2"/>
          <p:cNvSpPr>
            <a:spLocks noGrp="1"/>
          </p:cNvSpPr>
          <p:nvPr>
            <p:ph idx="1"/>
          </p:nvPr>
        </p:nvSpPr>
        <p:spPr>
          <a:xfrm>
            <a:off x="-40640" y="1155065"/>
            <a:ext cx="12047855" cy="5559425"/>
          </a:xfrm>
        </p:spPr>
        <p:txBody>
          <a:bodyPr/>
          <a:lstStyle/>
          <a:p>
            <a:pPr marL="0" indent="0" algn="just">
              <a:lnSpc>
                <a:spcPct val="90000"/>
              </a:lnSpc>
              <a:buNone/>
            </a:pPr>
            <a:r>
              <a:rPr lang="en-US" sz="2800"/>
              <a:t>In the 19th century, communication witnessed a significant advancement with the advent of the telegraph and telephone. Key highlights during this period include:</a:t>
            </a:r>
          </a:p>
          <a:p>
            <a:pPr algn="just">
              <a:lnSpc>
                <a:spcPct val="90000"/>
              </a:lnSpc>
            </a:pPr>
            <a:r>
              <a:rPr lang="en-PH" altLang="en-US" sz="2800" b="1" i="1"/>
              <a:t>Telegraph -</a:t>
            </a:r>
            <a:r>
              <a:rPr lang="en-PH" altLang="en-US" sz="2800"/>
              <a:t> In 1837, Samuel Morse invented the telegraph and introduced Morse code, a set of short and long signals representing letters and numbers. The telegraph revolutionized long-distance communication, enabling messages to be relayed within seconds across continents.</a:t>
            </a:r>
          </a:p>
          <a:p>
            <a:pPr algn="just">
              <a:lnSpc>
                <a:spcPct val="90000"/>
              </a:lnSpc>
            </a:pPr>
            <a:r>
              <a:rPr lang="en-PH" altLang="en-US" sz="2800" b="1" i="1"/>
              <a:t>Telephone - </a:t>
            </a:r>
            <a:r>
              <a:rPr lang="en-PH" altLang="en-US" sz="2800"/>
              <a:t>The invention of the telephone by Alexander Graham Bell in 1876 was a game-changer. It allowed people to communicate through voice, eliminating the need for written messages. The telephone quickly became an indispensable tool.</a:t>
            </a:r>
          </a:p>
        </p:txBody>
      </p:sp>
      <p:sp>
        <p:nvSpPr>
          <p:cNvPr id="6" name="Text Box 5"/>
          <p:cNvSpPr txBox="1"/>
          <p:nvPr/>
        </p:nvSpPr>
        <p:spPr>
          <a:xfrm>
            <a:off x="126365" y="371475"/>
            <a:ext cx="9530715" cy="542290"/>
          </a:xfrm>
          <a:prstGeom prst="rect">
            <a:avLst/>
          </a:prstGeom>
          <a:noFill/>
        </p:spPr>
        <p:txBody>
          <a:bodyPr wrap="square" rtlCol="0">
            <a:noAutofit/>
          </a:bodyPr>
          <a:lstStyle/>
          <a:p>
            <a:r>
              <a:rPr lang="en-PH" altLang="en-US" sz="2800" b="1"/>
              <a:t>The Revolutionary Era: Telegraph and Telephone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28270"/>
            <a:ext cx="10972800" cy="1042035"/>
          </a:xfrm>
        </p:spPr>
        <p:txBody>
          <a:bodyPr/>
          <a:lstStyle/>
          <a:p>
            <a:pPr marL="0" indent="0" algn="l">
              <a:buFont typeface="Wingdings" panose="05000000000000000000" charset="0"/>
              <a:buNone/>
            </a:pPr>
            <a:r>
              <a:rPr lang="en-PH" altLang="en-US" sz="2800"/>
              <a:t>Ancient Form of Communication</a:t>
            </a:r>
          </a:p>
        </p:txBody>
      </p:sp>
      <p:pic>
        <p:nvPicPr>
          <p:cNvPr id="4" name="Picture 3" descr="Green-light-burst-abstract-backgrounds"/>
          <p:cNvPicPr>
            <a:picLocks noChangeAspect="1"/>
          </p:cNvPicPr>
          <p:nvPr/>
        </p:nvPicPr>
        <p:blipFill>
          <a:blip r:embed="rId2"/>
          <a:stretch>
            <a:fillRect/>
          </a:stretch>
        </p:blipFill>
        <p:spPr>
          <a:xfrm rot="10800000">
            <a:off x="-116205" y="0"/>
            <a:ext cx="12308840" cy="6858000"/>
          </a:xfrm>
          <a:prstGeom prst="rect">
            <a:avLst/>
          </a:prstGeom>
        </p:spPr>
      </p:pic>
      <p:sp>
        <p:nvSpPr>
          <p:cNvPr id="3" name="Content Placeholder 2"/>
          <p:cNvSpPr>
            <a:spLocks noGrp="1"/>
          </p:cNvSpPr>
          <p:nvPr>
            <p:ph idx="1"/>
          </p:nvPr>
        </p:nvSpPr>
        <p:spPr>
          <a:xfrm>
            <a:off x="-40640" y="1155065"/>
            <a:ext cx="12047855" cy="5559425"/>
          </a:xfrm>
        </p:spPr>
        <p:txBody>
          <a:bodyPr/>
          <a:lstStyle/>
          <a:p>
            <a:pPr algn="just">
              <a:lnSpc>
                <a:spcPct val="90000"/>
              </a:lnSpc>
            </a:pPr>
            <a:endParaRPr lang="en-PH" altLang="en-US" sz="2800"/>
          </a:p>
        </p:txBody>
      </p:sp>
      <p:sp>
        <p:nvSpPr>
          <p:cNvPr id="6" name="Text Box 5"/>
          <p:cNvSpPr txBox="1"/>
          <p:nvPr/>
        </p:nvSpPr>
        <p:spPr>
          <a:xfrm>
            <a:off x="126365" y="371475"/>
            <a:ext cx="10198100" cy="542290"/>
          </a:xfrm>
          <a:prstGeom prst="rect">
            <a:avLst/>
          </a:prstGeom>
          <a:noFill/>
        </p:spPr>
        <p:txBody>
          <a:bodyPr wrap="square" rtlCol="0">
            <a:noAutofit/>
          </a:bodyPr>
          <a:lstStyle/>
          <a:p>
            <a:r>
              <a:rPr lang="en-PH" altLang="en-US" sz="2800" b="1"/>
              <a:t>The Revolutionary Era: Telegraph and Telephone (Cont.)</a:t>
            </a:r>
          </a:p>
        </p:txBody>
      </p:sp>
      <p:pic>
        <p:nvPicPr>
          <p:cNvPr id="5" name="Picture 4" descr="telegraph"/>
          <p:cNvPicPr>
            <a:picLocks noChangeAspect="1"/>
          </p:cNvPicPr>
          <p:nvPr/>
        </p:nvPicPr>
        <p:blipFill>
          <a:blip r:embed="rId3"/>
          <a:stretch>
            <a:fillRect/>
          </a:stretch>
        </p:blipFill>
        <p:spPr>
          <a:xfrm>
            <a:off x="411480" y="2332990"/>
            <a:ext cx="5102860" cy="2726690"/>
          </a:xfrm>
          <a:prstGeom prst="rect">
            <a:avLst/>
          </a:prstGeom>
        </p:spPr>
      </p:pic>
      <p:pic>
        <p:nvPicPr>
          <p:cNvPr id="7" name="Picture 6" descr="phone"/>
          <p:cNvPicPr>
            <a:picLocks noChangeAspect="1"/>
          </p:cNvPicPr>
          <p:nvPr/>
        </p:nvPicPr>
        <p:blipFill>
          <a:blip r:embed="rId4"/>
          <a:stretch>
            <a:fillRect/>
          </a:stretch>
        </p:blipFill>
        <p:spPr>
          <a:xfrm>
            <a:off x="6436995" y="1797685"/>
            <a:ext cx="4147820" cy="3261995"/>
          </a:xfrm>
          <a:prstGeom prst="rect">
            <a:avLst/>
          </a:prstGeom>
        </p:spPr>
      </p:pic>
      <p:sp>
        <p:nvSpPr>
          <p:cNvPr id="8" name="Text Box 7"/>
          <p:cNvSpPr txBox="1"/>
          <p:nvPr/>
        </p:nvSpPr>
        <p:spPr>
          <a:xfrm>
            <a:off x="977900" y="5561330"/>
            <a:ext cx="3559810" cy="368300"/>
          </a:xfrm>
          <a:prstGeom prst="rect">
            <a:avLst/>
          </a:prstGeom>
          <a:noFill/>
        </p:spPr>
        <p:txBody>
          <a:bodyPr wrap="square" rtlCol="0">
            <a:spAutoFit/>
          </a:bodyPr>
          <a:lstStyle/>
          <a:p>
            <a:pPr algn="ctr"/>
            <a:r>
              <a:rPr lang="en-PH" altLang="en-US" b="1"/>
              <a:t>TELEGRAPH</a:t>
            </a:r>
          </a:p>
        </p:txBody>
      </p:sp>
      <p:sp>
        <p:nvSpPr>
          <p:cNvPr id="9" name="Text Box 8"/>
          <p:cNvSpPr txBox="1"/>
          <p:nvPr/>
        </p:nvSpPr>
        <p:spPr>
          <a:xfrm>
            <a:off x="6626225" y="5561330"/>
            <a:ext cx="4064000" cy="368300"/>
          </a:xfrm>
          <a:prstGeom prst="rect">
            <a:avLst/>
          </a:prstGeom>
          <a:noFill/>
        </p:spPr>
        <p:txBody>
          <a:bodyPr wrap="square" rtlCol="0">
            <a:spAutoFit/>
          </a:bodyPr>
          <a:lstStyle/>
          <a:p>
            <a:pPr algn="ctr"/>
            <a:r>
              <a:rPr lang="en-PH" altLang="en-US" b="1"/>
              <a:t>TELEPHONE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28270"/>
            <a:ext cx="10972800" cy="1042035"/>
          </a:xfrm>
        </p:spPr>
        <p:txBody>
          <a:bodyPr/>
          <a:lstStyle/>
          <a:p>
            <a:pPr marL="0" indent="0" algn="l">
              <a:buFont typeface="Wingdings" panose="05000000000000000000" charset="0"/>
              <a:buNone/>
            </a:pPr>
            <a:r>
              <a:rPr lang="en-PH" altLang="en-US" sz="2800"/>
              <a:t>Ancient Form of Communication</a:t>
            </a:r>
          </a:p>
        </p:txBody>
      </p:sp>
      <p:pic>
        <p:nvPicPr>
          <p:cNvPr id="4" name="Picture 3" descr="Green-light-burst-abstract-backgrounds"/>
          <p:cNvPicPr>
            <a:picLocks noChangeAspect="1"/>
          </p:cNvPicPr>
          <p:nvPr/>
        </p:nvPicPr>
        <p:blipFill>
          <a:blip r:embed="rId2"/>
          <a:stretch>
            <a:fillRect/>
          </a:stretch>
        </p:blipFill>
        <p:spPr>
          <a:xfrm rot="10800000">
            <a:off x="-116205" y="0"/>
            <a:ext cx="12308840" cy="6858000"/>
          </a:xfrm>
          <a:prstGeom prst="rect">
            <a:avLst/>
          </a:prstGeom>
        </p:spPr>
      </p:pic>
      <p:sp>
        <p:nvSpPr>
          <p:cNvPr id="3" name="Content Placeholder 2"/>
          <p:cNvSpPr>
            <a:spLocks noGrp="1"/>
          </p:cNvSpPr>
          <p:nvPr>
            <p:ph idx="1"/>
          </p:nvPr>
        </p:nvSpPr>
        <p:spPr>
          <a:xfrm>
            <a:off x="-40640" y="972185"/>
            <a:ext cx="12047855" cy="5559425"/>
          </a:xfrm>
        </p:spPr>
        <p:txBody>
          <a:bodyPr/>
          <a:lstStyle/>
          <a:p>
            <a:pPr marL="0" indent="0" algn="just">
              <a:lnSpc>
                <a:spcPct val="90000"/>
              </a:lnSpc>
              <a:buNone/>
            </a:pPr>
            <a:r>
              <a:rPr lang="en-US" sz="2800"/>
              <a:t>The 20th century witnessed the birth of the internet, which laid the foundation for the digital revolution. Here are some key developments:</a:t>
            </a:r>
          </a:p>
          <a:p>
            <a:pPr algn="just">
              <a:lnSpc>
                <a:spcPct val="90000"/>
              </a:lnSpc>
            </a:pPr>
            <a:r>
              <a:rPr lang="en-PH" altLang="en-US" sz="2800" b="1" i="1"/>
              <a:t>Email -</a:t>
            </a:r>
            <a:r>
              <a:rPr lang="en-PH" altLang="en-US" sz="2800"/>
              <a:t> With the advent of email, written communication entered the digital landscape. Email provides a faster and more accessible way to send written messages, transforming the way we communicate in both personal and professional settings.</a:t>
            </a:r>
          </a:p>
          <a:p>
            <a:pPr algn="just">
              <a:lnSpc>
                <a:spcPct val="90000"/>
              </a:lnSpc>
            </a:pPr>
            <a:r>
              <a:rPr lang="en-PH" altLang="en-US" sz="2800" b="1" i="1"/>
              <a:t>SMS and Instant Messaging - </a:t>
            </a:r>
            <a:r>
              <a:rPr lang="en-PH" altLang="en-US" sz="2800"/>
              <a:t>Short Message Service (SMS) and instant messaging platforms like ICQ, AIM, and WhatsApp offer real-time communication using text messages. These services gained immense popularity due to their convenience and affordability.</a:t>
            </a:r>
          </a:p>
          <a:p>
            <a:pPr algn="just">
              <a:lnSpc>
                <a:spcPct val="90000"/>
              </a:lnSpc>
            </a:pPr>
            <a:r>
              <a:rPr lang="en-PH" altLang="en-US" sz="2800" b="1" i="1"/>
              <a:t>Smartphones</a:t>
            </a:r>
            <a:r>
              <a:rPr lang="en-PH" altLang="en-US" sz="2800"/>
              <a:t> - The introduction of smartphones combined various modes of communication into a single device. Smartphones provide access to email, instant messaging, voice, video calls, social media, and numerous other communication channels, all in one portable device.</a:t>
            </a:r>
          </a:p>
        </p:txBody>
      </p:sp>
      <p:sp>
        <p:nvSpPr>
          <p:cNvPr id="6" name="Text Box 5"/>
          <p:cNvSpPr txBox="1"/>
          <p:nvPr/>
        </p:nvSpPr>
        <p:spPr>
          <a:xfrm>
            <a:off x="126365" y="371475"/>
            <a:ext cx="9530715" cy="542290"/>
          </a:xfrm>
          <a:prstGeom prst="rect">
            <a:avLst/>
          </a:prstGeom>
          <a:noFill/>
        </p:spPr>
        <p:txBody>
          <a:bodyPr wrap="square" rtlCol="0">
            <a:noAutofit/>
          </a:bodyPr>
          <a:lstStyle/>
          <a:p>
            <a:r>
              <a:rPr lang="en-PH" altLang="en-US" sz="2800" b="1"/>
              <a:t>The Digital Age: Internet and Smartphone Revolution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28270"/>
            <a:ext cx="10972800" cy="1042035"/>
          </a:xfrm>
        </p:spPr>
        <p:txBody>
          <a:bodyPr/>
          <a:lstStyle/>
          <a:p>
            <a:pPr marL="0" indent="0" algn="l">
              <a:buFont typeface="Wingdings" panose="05000000000000000000" charset="0"/>
              <a:buNone/>
            </a:pPr>
            <a:r>
              <a:rPr lang="en-PH" altLang="en-US" sz="2800"/>
              <a:t>Ancient Form of Communication</a:t>
            </a:r>
          </a:p>
        </p:txBody>
      </p:sp>
      <p:pic>
        <p:nvPicPr>
          <p:cNvPr id="4" name="Picture 3" descr="Green-light-burst-abstract-backgrounds"/>
          <p:cNvPicPr>
            <a:picLocks noChangeAspect="1"/>
          </p:cNvPicPr>
          <p:nvPr/>
        </p:nvPicPr>
        <p:blipFill>
          <a:blip r:embed="rId2"/>
          <a:stretch>
            <a:fillRect/>
          </a:stretch>
        </p:blipFill>
        <p:spPr>
          <a:xfrm rot="10800000">
            <a:off x="-116205" y="0"/>
            <a:ext cx="12308840" cy="6858000"/>
          </a:xfrm>
          <a:prstGeom prst="rect">
            <a:avLst/>
          </a:prstGeom>
        </p:spPr>
      </p:pic>
      <p:sp>
        <p:nvSpPr>
          <p:cNvPr id="3" name="Content Placeholder 2"/>
          <p:cNvSpPr>
            <a:spLocks noGrp="1"/>
          </p:cNvSpPr>
          <p:nvPr>
            <p:ph idx="1"/>
          </p:nvPr>
        </p:nvSpPr>
        <p:spPr>
          <a:xfrm>
            <a:off x="15240" y="715645"/>
            <a:ext cx="12047855" cy="5559425"/>
          </a:xfrm>
        </p:spPr>
        <p:txBody>
          <a:bodyPr/>
          <a:lstStyle/>
          <a:p>
            <a:pPr marL="0" indent="0" algn="just">
              <a:lnSpc>
                <a:spcPct val="90000"/>
              </a:lnSpc>
              <a:buNone/>
            </a:pPr>
            <a:r>
              <a:rPr lang="en-US" sz="2800"/>
              <a:t>The pace of technological advancement shows no signs of slowing down, hinting at a future where communication will continue to evolve. Here are some exciting trends to watch out for:</a:t>
            </a:r>
            <a:endParaRPr lang="en-US" altLang="en-US" sz="2800" b="1" i="1"/>
          </a:p>
          <a:p>
            <a:pPr algn="just">
              <a:lnSpc>
                <a:spcPct val="90000"/>
              </a:lnSpc>
            </a:pPr>
            <a:r>
              <a:rPr lang="en-PH" altLang="en-US" sz="2800" b="1" i="1"/>
              <a:t>5G Technology -</a:t>
            </a:r>
            <a:r>
              <a:rPr lang="en-PH" altLang="en-US" sz="2800"/>
              <a:t> The introduction of 5G technology promises faster communication speeds and lower latency. With 5G, communication will become seamless, enabling real-time interactions, Internet of Things (IoT) connectivity, and improved remote communication capabilities.</a:t>
            </a:r>
          </a:p>
          <a:p>
            <a:pPr algn="just">
              <a:lnSpc>
                <a:spcPct val="90000"/>
              </a:lnSpc>
            </a:pPr>
            <a:endParaRPr lang="en-PH" altLang="en-US" sz="2800"/>
          </a:p>
          <a:p>
            <a:pPr algn="just">
              <a:lnSpc>
                <a:spcPct val="90000"/>
              </a:lnSpc>
            </a:pPr>
            <a:r>
              <a:rPr lang="en-PH" altLang="en-US" sz="2800" b="1" i="1"/>
              <a:t>Virtual and Augmented Reality - </a:t>
            </a:r>
            <a:r>
              <a:rPr lang="en-PH" altLang="en-US" sz="2800"/>
              <a:t>Virtual and augmented reality technologies have the potential to transform communication by providing immersive experiences. From virtual meetings to interactive holographic communications, these technologies will revolutionize the way we connect with others.</a:t>
            </a:r>
          </a:p>
          <a:p>
            <a:pPr algn="just">
              <a:lnSpc>
                <a:spcPct val="90000"/>
              </a:lnSpc>
            </a:pPr>
            <a:endParaRPr lang="en-PH" altLang="en-US" sz="2800"/>
          </a:p>
          <a:p>
            <a:pPr algn="just">
              <a:lnSpc>
                <a:spcPct val="90000"/>
              </a:lnSpc>
            </a:pPr>
            <a:endParaRPr lang="en-PH" altLang="en-US" sz="2800"/>
          </a:p>
        </p:txBody>
      </p:sp>
      <p:sp>
        <p:nvSpPr>
          <p:cNvPr id="6" name="Text Box 5"/>
          <p:cNvSpPr txBox="1"/>
          <p:nvPr/>
        </p:nvSpPr>
        <p:spPr>
          <a:xfrm>
            <a:off x="15240" y="173355"/>
            <a:ext cx="9530715" cy="542290"/>
          </a:xfrm>
          <a:prstGeom prst="rect">
            <a:avLst/>
          </a:prstGeom>
          <a:noFill/>
        </p:spPr>
        <p:txBody>
          <a:bodyPr wrap="square" rtlCol="0">
            <a:noAutofit/>
          </a:bodyPr>
          <a:lstStyle/>
          <a:p>
            <a:r>
              <a:rPr lang="en-PH" altLang="en-US" sz="2800" b="1"/>
              <a:t>The Future of Communication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28270"/>
            <a:ext cx="10972800" cy="1042035"/>
          </a:xfrm>
        </p:spPr>
        <p:txBody>
          <a:bodyPr/>
          <a:lstStyle/>
          <a:p>
            <a:pPr marL="0" indent="0" algn="l">
              <a:buFont typeface="Wingdings" panose="05000000000000000000" charset="0"/>
              <a:buNone/>
            </a:pPr>
            <a:r>
              <a:rPr lang="en-PH" altLang="en-US" sz="2800"/>
              <a:t>Ancient Form of Communication</a:t>
            </a:r>
          </a:p>
        </p:txBody>
      </p:sp>
      <p:pic>
        <p:nvPicPr>
          <p:cNvPr id="4" name="Picture 3" descr="Green-light-burst-abstract-backgrounds"/>
          <p:cNvPicPr>
            <a:picLocks noChangeAspect="1"/>
          </p:cNvPicPr>
          <p:nvPr/>
        </p:nvPicPr>
        <p:blipFill>
          <a:blip r:embed="rId2"/>
          <a:stretch>
            <a:fillRect/>
          </a:stretch>
        </p:blipFill>
        <p:spPr>
          <a:xfrm rot="10800000">
            <a:off x="-116205" y="0"/>
            <a:ext cx="12308840" cy="6858000"/>
          </a:xfrm>
          <a:prstGeom prst="rect">
            <a:avLst/>
          </a:prstGeom>
        </p:spPr>
      </p:pic>
      <p:sp>
        <p:nvSpPr>
          <p:cNvPr id="3" name="Content Placeholder 2"/>
          <p:cNvSpPr>
            <a:spLocks noGrp="1"/>
          </p:cNvSpPr>
          <p:nvPr>
            <p:ph idx="1"/>
          </p:nvPr>
        </p:nvSpPr>
        <p:spPr>
          <a:xfrm>
            <a:off x="-317500" y="1298575"/>
            <a:ext cx="12047855" cy="5559425"/>
          </a:xfrm>
        </p:spPr>
        <p:txBody>
          <a:bodyPr/>
          <a:lstStyle/>
          <a:p>
            <a:pPr algn="just">
              <a:lnSpc>
                <a:spcPct val="90000"/>
              </a:lnSpc>
            </a:pPr>
            <a:r>
              <a:rPr lang="en-PH" altLang="en-US" sz="2800" b="1" i="1">
                <a:sym typeface="+mn-ea"/>
              </a:rPr>
              <a:t>Artificial Intelligence</a:t>
            </a:r>
            <a:r>
              <a:rPr lang="en-PH" altLang="en-US" sz="2800">
                <a:sym typeface="+mn-ea"/>
              </a:rPr>
              <a:t> - AI-powered communication tools are on the rise. Natural language processing, chatbots, and voice assistants continue to improve, allowing for more personalized and efficient communication experiences.</a:t>
            </a:r>
            <a:endParaRPr lang="en-PH" altLang="en-US" sz="2800"/>
          </a:p>
        </p:txBody>
      </p:sp>
      <p:sp>
        <p:nvSpPr>
          <p:cNvPr id="6" name="Text Box 5"/>
          <p:cNvSpPr txBox="1"/>
          <p:nvPr/>
        </p:nvSpPr>
        <p:spPr>
          <a:xfrm>
            <a:off x="126365" y="429895"/>
            <a:ext cx="9530715" cy="542290"/>
          </a:xfrm>
          <a:prstGeom prst="rect">
            <a:avLst/>
          </a:prstGeom>
          <a:noFill/>
        </p:spPr>
        <p:txBody>
          <a:bodyPr wrap="square" rtlCol="0">
            <a:noAutofit/>
          </a:bodyPr>
          <a:lstStyle/>
          <a:p>
            <a:r>
              <a:rPr lang="en-PH" altLang="en-US" sz="2800" b="1"/>
              <a:t>The Digital Age: Internet and Smartphone Revolution (Cont.)</a:t>
            </a:r>
          </a:p>
        </p:txBody>
      </p:sp>
      <p:pic>
        <p:nvPicPr>
          <p:cNvPr id="5" name="Picture 4" descr="Nebosh-hologram-in-a-pyramid-for-safe-and-safty"/>
          <p:cNvPicPr>
            <a:picLocks noChangeAspect="1"/>
          </p:cNvPicPr>
          <p:nvPr/>
        </p:nvPicPr>
        <p:blipFill>
          <a:blip r:embed="rId3"/>
          <a:stretch>
            <a:fillRect/>
          </a:stretch>
        </p:blipFill>
        <p:spPr>
          <a:xfrm>
            <a:off x="3470910" y="3112770"/>
            <a:ext cx="3761105" cy="2683510"/>
          </a:xfrm>
          <a:prstGeom prst="rect">
            <a:avLst/>
          </a:prstGeom>
        </p:spPr>
      </p:pic>
      <p:pic>
        <p:nvPicPr>
          <p:cNvPr id="7" name="Picture 6"/>
          <p:cNvPicPr>
            <a:picLocks noChangeAspect="1"/>
          </p:cNvPicPr>
          <p:nvPr/>
        </p:nvPicPr>
        <p:blipFill>
          <a:blip r:embed="rId4"/>
          <a:stretch>
            <a:fillRect/>
          </a:stretch>
        </p:blipFill>
        <p:spPr>
          <a:xfrm>
            <a:off x="91440" y="3112770"/>
            <a:ext cx="2826385" cy="2826385"/>
          </a:xfrm>
          <a:prstGeom prst="rect">
            <a:avLst/>
          </a:prstGeom>
        </p:spPr>
      </p:pic>
      <p:sp>
        <p:nvSpPr>
          <p:cNvPr id="8" name="Text Box 7"/>
          <p:cNvSpPr txBox="1"/>
          <p:nvPr/>
        </p:nvSpPr>
        <p:spPr>
          <a:xfrm>
            <a:off x="1078230" y="6213475"/>
            <a:ext cx="756285" cy="368300"/>
          </a:xfrm>
          <a:prstGeom prst="rect">
            <a:avLst/>
          </a:prstGeom>
          <a:noFill/>
        </p:spPr>
        <p:txBody>
          <a:bodyPr wrap="square" rtlCol="0">
            <a:spAutoFit/>
          </a:bodyPr>
          <a:lstStyle/>
          <a:p>
            <a:pPr algn="ctr"/>
            <a:r>
              <a:rPr lang="en-PH" altLang="en-US" b="1"/>
              <a:t>5G</a:t>
            </a:r>
          </a:p>
        </p:txBody>
      </p:sp>
      <p:sp>
        <p:nvSpPr>
          <p:cNvPr id="9" name="Text Box 8"/>
          <p:cNvSpPr txBox="1"/>
          <p:nvPr/>
        </p:nvSpPr>
        <p:spPr>
          <a:xfrm>
            <a:off x="3168015" y="6054725"/>
            <a:ext cx="4064000" cy="368300"/>
          </a:xfrm>
          <a:prstGeom prst="rect">
            <a:avLst/>
          </a:prstGeom>
          <a:noFill/>
        </p:spPr>
        <p:txBody>
          <a:bodyPr wrap="square" rtlCol="0">
            <a:spAutoFit/>
          </a:bodyPr>
          <a:lstStyle/>
          <a:p>
            <a:pPr algn="ctr"/>
            <a:r>
              <a:rPr lang="en-PH" altLang="en-US" b="1">
                <a:sym typeface="+mn-ea"/>
              </a:rPr>
              <a:t>Virtual and Augmented Reality </a:t>
            </a:r>
            <a:endParaRPr lang="en-PH" altLang="en-US" b="1"/>
          </a:p>
        </p:txBody>
      </p:sp>
      <p:pic>
        <p:nvPicPr>
          <p:cNvPr id="100" name="Picture 99"/>
          <p:cNvPicPr/>
          <p:nvPr/>
        </p:nvPicPr>
        <p:blipFill>
          <a:blip r:embed="rId5"/>
          <a:stretch>
            <a:fillRect/>
          </a:stretch>
        </p:blipFill>
        <p:spPr>
          <a:xfrm>
            <a:off x="7868920" y="2948940"/>
            <a:ext cx="3861435" cy="2847340"/>
          </a:xfrm>
          <a:prstGeom prst="rect">
            <a:avLst/>
          </a:prstGeom>
          <a:noFill/>
          <a:ln w="9525">
            <a:noFill/>
          </a:ln>
        </p:spPr>
      </p:pic>
      <p:sp>
        <p:nvSpPr>
          <p:cNvPr id="10" name="Text Box 9"/>
          <p:cNvSpPr txBox="1"/>
          <p:nvPr/>
        </p:nvSpPr>
        <p:spPr>
          <a:xfrm>
            <a:off x="8615045" y="6062980"/>
            <a:ext cx="2573020" cy="368300"/>
          </a:xfrm>
          <a:prstGeom prst="rect">
            <a:avLst/>
          </a:prstGeom>
          <a:noFill/>
        </p:spPr>
        <p:txBody>
          <a:bodyPr wrap="square" rtlCol="0">
            <a:spAutoFit/>
          </a:bodyPr>
          <a:lstStyle/>
          <a:p>
            <a:r>
              <a:rPr lang="en-PH" altLang="en-US" b="1">
                <a:sym typeface="+mn-ea"/>
              </a:rPr>
              <a:t>Artificial Intelligence</a:t>
            </a:r>
            <a:r>
              <a:rPr lang="en-PH" altLang="en-US">
                <a:sym typeface="+mn-ea"/>
              </a:rPr>
              <a:t> </a:t>
            </a:r>
            <a:endParaRPr lang="en-PH" altLang="en-US"/>
          </a:p>
        </p:txBody>
      </p:sp>
    </p:spTree>
  </p:cSld>
  <p:clrMapOvr>
    <a:masterClrMapping/>
  </p:clrMapOvr>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659</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Rounded MT Bold</vt:lpstr>
      <vt:lpstr>Wingdings</vt:lpstr>
      <vt:lpstr>Business Cooperate</vt:lpstr>
      <vt:lpstr>PowerPoint Presentation</vt:lpstr>
      <vt:lpstr>Ancient Form of Communication</vt:lpstr>
      <vt:lpstr>Ancient Form of Communication</vt:lpstr>
      <vt:lpstr>Ancient Form of Communication</vt:lpstr>
      <vt:lpstr>Ancient Form of Communication</vt:lpstr>
      <vt:lpstr>Ancient Form of Communication</vt:lpstr>
      <vt:lpstr>Ancient Form of Communication</vt:lpstr>
      <vt:lpstr>Ancient Form of Communication</vt:lpstr>
      <vt:lpstr>Ancient Form of Communication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Win10</cp:lastModifiedBy>
  <cp:revision>26</cp:revision>
  <dcterms:created xsi:type="dcterms:W3CDTF">2024-02-11T13:19:00Z</dcterms:created>
  <dcterms:modified xsi:type="dcterms:W3CDTF">2025-11-15T14:30:28Z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419EA0A4AFA24D02A0CFC6DCFAB21B47_11</vt:lpwstr>
  </property>
  <property fmtid="{D5CDD505-2E9C-101B-9397-08002B2CF9AE}" pid="3" name="KSOProductBuildVer">
    <vt:lpwstr>1033-12.2.0.19805</vt:lpwstr>
  </property>
</Properties>
</file>