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108" d="100"/>
          <a:sy n="108" d="100"/>
        </p:scale>
        <p:origin x="71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77D55AD-E40C-49D6-A774-025AC23D659E}"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BC9282-3F01-46E1-9A89-71AACB87935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7D55AD-E40C-49D6-A774-025AC23D659E}"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BC9282-3F01-46E1-9A89-71AACB87935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7D55AD-E40C-49D6-A774-025AC23D659E}"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BC9282-3F01-46E1-9A89-71AACB87935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77D55AD-E40C-49D6-A774-025AC23D659E}"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BC9282-3F01-46E1-9A89-71AACB87935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77D55AD-E40C-49D6-A774-025AC23D659E}" type="datetimeFigureOut">
              <a:rPr lang="en-US" smtClean="0"/>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BC9282-3F01-46E1-9A89-71AACB87935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77D55AD-E40C-49D6-A774-025AC23D659E}" type="datetimeFigureOut">
              <a:rPr lang="en-US" smtClean="0"/>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BC9282-3F01-46E1-9A89-71AACB87935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7D55AD-E40C-49D6-A774-025AC23D659E}" type="datetimeFigureOut">
              <a:rPr lang="en-US" smtClean="0"/>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BC9282-3F01-46E1-9A89-71AACB87935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7D55AD-E40C-49D6-A774-025AC23D659E}"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BC9282-3F01-46E1-9A89-71AACB87935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7D55AD-E40C-49D6-A774-025AC23D659E}"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BC9282-3F01-46E1-9A89-71AACB87935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7D55AD-E40C-49D6-A774-025AC23D659E}"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BC9282-3F01-46E1-9A89-71AACB87935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7D55AD-E40C-49D6-A774-025AC23D659E}"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BC9282-3F01-46E1-9A89-71AACB87935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7D55AD-E40C-49D6-A774-025AC23D659E}" type="datetimeFigureOut">
              <a:rPr lang="en-US" smtClean="0"/>
              <a:t>11/15/2025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BC9282-3F01-46E1-9A89-71AACB87935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techtarget.com/searchsecurity/definition/ransomware"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www.techtarget.com/searchsecurity/definition/hijacking"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techtarget.com/searchsecurity/definition/virus" TargetMode="External"/><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hyperlink" Target="https://www.techtarget.com/searchsecurity/definition/Trojan-horse" TargetMode="External"/><Relationship Id="rId4" Type="http://schemas.openxmlformats.org/officeDocument/2006/relationships/hyperlink" Target="https://www.techtarget.com/searchsecurity/definition/worm"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techtarget.com/searchsecurity/definition/spyware" TargetMode="Externa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www.techtarget.com/searchsecurity/definition/RAT-remote-access-Trojan" TargetMode="External"/><Relationship Id="rId5" Type="http://schemas.openxmlformats.org/officeDocument/2006/relationships/hyperlink" Target="https://www.techtarget.com/searchsecurity/definition/back-door" TargetMode="External"/><Relationship Id="rId4" Type="http://schemas.openxmlformats.org/officeDocument/2006/relationships/hyperlink" Target="https://www.techtarget.com/searchsecurity/definition/rootkit"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techtarget.com/searchsecurity/definition/adware"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www.techtarget.com/searchsecurity/definition/keylogger"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techtarget.com/searchsecurity/feature/17-ransomware-removal-tools-to-protect-enterprise-networks"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What Is Malware? 10 Types of Malware &amp; How They 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524000" y="903014"/>
            <a:ext cx="9144000" cy="1145135"/>
          </a:xfrm>
        </p:spPr>
        <p:txBody>
          <a:bodyPr>
            <a:normAutofit/>
          </a:bodyPr>
          <a:lstStyle/>
          <a:p>
            <a:pPr marL="457200" marR="62865" lvl="1" algn="ctr">
              <a:spcBef>
                <a:spcPts val="20"/>
              </a:spcBef>
              <a:spcAft>
                <a:spcPts val="0"/>
              </a:spcAft>
              <a:tabLst>
                <a:tab pos="215265" algn="l"/>
              </a:tabLst>
            </a:pPr>
            <a:r>
              <a:rPr lang="en-PH" sz="6600" b="1" dirty="0">
                <a:solidFill>
                  <a:srgbClr val="FFFF00"/>
                </a:solidFill>
                <a:effectLst/>
                <a:latin typeface="Arial" panose="020B0604020202020204" pitchFamily="34" charset="0"/>
                <a:ea typeface="Arial" panose="020B0604020202020204" pitchFamily="34" charset="0"/>
              </a:rPr>
              <a:t>Effects of malware</a:t>
            </a:r>
            <a:endParaRPr lang="en-US" sz="6600" b="1" dirty="0">
              <a:solidFill>
                <a:srgbClr val="FFFF00"/>
              </a:solidFill>
              <a:effectLst/>
              <a:latin typeface="Arial" panose="020B0604020202020204" pitchFamily="34" charset="0"/>
              <a:ea typeface="Arial" panose="020B0604020202020204" pitchFamily="34" charset="0"/>
            </a:endParaRPr>
          </a:p>
        </p:txBody>
      </p:sp>
      <p:sp>
        <p:nvSpPr>
          <p:cNvPr id="6" name="AutoShape 6"/>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4654"/>
          </a:xfrm>
          <a:prstGeom prst="rect">
            <a:avLst/>
          </a:prstGeom>
        </p:spPr>
      </p:pic>
      <p:sp>
        <p:nvSpPr>
          <p:cNvPr id="2" name="Title 1"/>
          <p:cNvSpPr>
            <a:spLocks noGrp="1"/>
          </p:cNvSpPr>
          <p:nvPr>
            <p:ph type="ctrTitle"/>
          </p:nvPr>
        </p:nvSpPr>
        <p:spPr>
          <a:xfrm>
            <a:off x="437492" y="1335207"/>
            <a:ext cx="11033235" cy="4184240"/>
          </a:xfrm>
        </p:spPr>
        <p:txBody>
          <a:bodyPr>
            <a:noAutofit/>
          </a:bodyPr>
          <a:lstStyle/>
          <a:p>
            <a:pPr algn="just">
              <a:lnSpc>
                <a:spcPct val="100000"/>
              </a:lnSpc>
            </a:pPr>
            <a:r>
              <a:rPr lang="en-US" sz="3200" b="0" i="0" dirty="0">
                <a:solidFill>
                  <a:schemeClr val="bg1"/>
                </a:solidFill>
                <a:effectLst/>
                <a:latin typeface="Arial" panose="020B0604020202020204" pitchFamily="34" charset="0"/>
              </a:rPr>
              <a:t>Malware, or malicious software, is any program or file that is intentionally harmful to a computer, network or server.</a:t>
            </a:r>
            <a:br>
              <a:rPr lang="en-US" sz="3200" b="0" i="0" dirty="0">
                <a:solidFill>
                  <a:schemeClr val="bg1"/>
                </a:solidFill>
                <a:effectLst/>
                <a:latin typeface="Arial" panose="020B0604020202020204" pitchFamily="34" charset="0"/>
              </a:rPr>
            </a:br>
            <a:r>
              <a:rPr lang="en-US" sz="3200" b="0" i="0" dirty="0">
                <a:solidFill>
                  <a:schemeClr val="bg1"/>
                </a:solidFill>
                <a:effectLst/>
                <a:latin typeface="Arial" panose="020B0604020202020204" pitchFamily="34" charset="0"/>
              </a:rPr>
              <a:t>Types of malware include computer viruses, worms, Trojan horses, </a:t>
            </a:r>
            <a:r>
              <a:rPr lang="en-US" sz="3200" b="0" i="0" u="sng" dirty="0">
                <a:solidFill>
                  <a:schemeClr val="bg1"/>
                </a:solidFill>
                <a:effectLst/>
                <a:latin typeface="Arial" panose="020B0604020202020204" pitchFamily="34" charset="0"/>
                <a:hlinkClick r:id="rId3"/>
              </a:rPr>
              <a:t>ransomware</a:t>
            </a:r>
            <a:r>
              <a:rPr lang="en-US" sz="3200" b="0" i="0" dirty="0">
                <a:solidFill>
                  <a:schemeClr val="bg1"/>
                </a:solidFill>
                <a:effectLst/>
                <a:latin typeface="Arial" panose="020B0604020202020204" pitchFamily="34" charset="0"/>
              </a:rPr>
              <a:t> and spyware. </a:t>
            </a:r>
            <a:br>
              <a:rPr lang="en-US" sz="3200" b="0" i="0" dirty="0">
                <a:solidFill>
                  <a:schemeClr val="bg1"/>
                </a:solidFill>
                <a:effectLst/>
                <a:latin typeface="Arial" panose="020B0604020202020204" pitchFamily="34" charset="0"/>
              </a:rPr>
            </a:br>
            <a:br>
              <a:rPr lang="en-US" sz="3200" b="0" i="0" dirty="0">
                <a:solidFill>
                  <a:schemeClr val="bg1"/>
                </a:solidFill>
                <a:effectLst/>
                <a:latin typeface="Arial" panose="020B0604020202020204" pitchFamily="34" charset="0"/>
              </a:rPr>
            </a:br>
            <a:r>
              <a:rPr lang="en-US" sz="3200" b="0" i="0" dirty="0">
                <a:solidFill>
                  <a:schemeClr val="bg1"/>
                </a:solidFill>
                <a:effectLst/>
                <a:latin typeface="Arial" panose="020B0604020202020204" pitchFamily="34" charset="0"/>
              </a:rPr>
              <a:t>These malicious programs steal, encrypt and delete sensitive data; alter or </a:t>
            </a:r>
            <a:r>
              <a:rPr lang="en-US" sz="3200" b="0" i="0" u="sng" dirty="0">
                <a:solidFill>
                  <a:schemeClr val="bg1"/>
                </a:solidFill>
                <a:effectLst/>
                <a:latin typeface="Arial" panose="020B0604020202020204" pitchFamily="34" charset="0"/>
                <a:hlinkClick r:id="rId4"/>
              </a:rPr>
              <a:t>hijack core computing functions</a:t>
            </a:r>
            <a:r>
              <a:rPr lang="en-US" sz="3200" b="0" i="0" dirty="0">
                <a:solidFill>
                  <a:schemeClr val="bg1"/>
                </a:solidFill>
                <a:effectLst/>
                <a:latin typeface="Arial" panose="020B0604020202020204" pitchFamily="34" charset="0"/>
              </a:rPr>
              <a:t> and monitor end users' computer activity.</a:t>
            </a:r>
          </a:p>
        </p:txBody>
      </p:sp>
      <p:sp>
        <p:nvSpPr>
          <p:cNvPr id="4" name="TextBox 3"/>
          <p:cNvSpPr txBox="1"/>
          <p:nvPr/>
        </p:nvSpPr>
        <p:spPr>
          <a:xfrm>
            <a:off x="437492" y="632153"/>
            <a:ext cx="3972911" cy="646331"/>
          </a:xfrm>
          <a:prstGeom prst="rect">
            <a:avLst/>
          </a:prstGeom>
          <a:noFill/>
        </p:spPr>
        <p:txBody>
          <a:bodyPr wrap="square" rtlCol="0">
            <a:spAutoFit/>
          </a:bodyPr>
          <a:lstStyle/>
          <a:p>
            <a:r>
              <a:rPr lang="en-US" sz="3600" b="1" dirty="0"/>
              <a:t>What </a:t>
            </a:r>
            <a:r>
              <a:rPr lang="en-US" sz="3600" b="1" dirty="0">
                <a:latin typeface="Arial" panose="020B0604020202020204" pitchFamily="34" charset="0"/>
                <a:cs typeface="Arial" panose="020B0604020202020204" pitchFamily="34" charset="0"/>
              </a:rPr>
              <a:t>is</a:t>
            </a:r>
            <a:r>
              <a:rPr lang="en-US" sz="3600" b="1" dirty="0"/>
              <a:t> malware?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4654"/>
          </a:xfrm>
          <a:prstGeom prst="rect">
            <a:avLst/>
          </a:prstGeom>
        </p:spPr>
      </p:pic>
      <p:sp>
        <p:nvSpPr>
          <p:cNvPr id="4" name="TextBox 3"/>
          <p:cNvSpPr txBox="1"/>
          <p:nvPr/>
        </p:nvSpPr>
        <p:spPr>
          <a:xfrm>
            <a:off x="437492" y="521794"/>
            <a:ext cx="7350674" cy="646331"/>
          </a:xfrm>
          <a:prstGeom prst="rect">
            <a:avLst/>
          </a:prstGeom>
          <a:noFill/>
        </p:spPr>
        <p:txBody>
          <a:bodyPr wrap="square" rtlCol="0">
            <a:spAutoFit/>
          </a:bodyPr>
          <a:lstStyle/>
          <a:p>
            <a:r>
              <a:rPr lang="en-US" sz="3600" b="1" i="0" dirty="0">
                <a:effectLst/>
                <a:latin typeface="Arial" panose="020B0604020202020204" pitchFamily="34" charset="0"/>
              </a:rPr>
              <a:t>What does malware do?</a:t>
            </a:r>
          </a:p>
        </p:txBody>
      </p:sp>
      <p:sp>
        <p:nvSpPr>
          <p:cNvPr id="6" name="TextBox 5"/>
          <p:cNvSpPr txBox="1"/>
          <p:nvPr/>
        </p:nvSpPr>
        <p:spPr>
          <a:xfrm>
            <a:off x="437492" y="1413063"/>
            <a:ext cx="11465474" cy="3046988"/>
          </a:xfrm>
          <a:prstGeom prst="rect">
            <a:avLst/>
          </a:prstGeom>
          <a:noFill/>
        </p:spPr>
        <p:txBody>
          <a:bodyPr wrap="square" rtlCol="0">
            <a:spAutoFit/>
          </a:bodyPr>
          <a:lstStyle/>
          <a:p>
            <a:pPr algn="just"/>
            <a:r>
              <a:rPr lang="en-US" sz="3200" b="0" i="0" dirty="0">
                <a:solidFill>
                  <a:schemeClr val="bg1"/>
                </a:solidFill>
                <a:effectLst/>
                <a:latin typeface="Arial" panose="020B0604020202020204" pitchFamily="34" charset="0"/>
              </a:rPr>
              <a:t>Malware can infect networks and devices and is designed to harm those devices, networks and/or their users in some way.</a:t>
            </a:r>
          </a:p>
          <a:p>
            <a:pPr algn="just"/>
            <a:r>
              <a:rPr lang="en-US" sz="3200" b="0" i="0" dirty="0">
                <a:solidFill>
                  <a:schemeClr val="bg1"/>
                </a:solidFill>
                <a:effectLst/>
                <a:latin typeface="Arial" panose="020B0604020202020204" pitchFamily="34" charset="0"/>
              </a:rPr>
              <a:t>Depending on the type of malware and its goal, this harm may present itself differently to the user or endpoint. In some cases, the effect malware has is relatively mild and benign, and in others, it can be disastrous.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4654"/>
          </a:xfrm>
          <a:prstGeom prst="rect">
            <a:avLst/>
          </a:prstGeom>
        </p:spPr>
      </p:pic>
      <p:sp>
        <p:nvSpPr>
          <p:cNvPr id="4" name="TextBox 3"/>
          <p:cNvSpPr txBox="1"/>
          <p:nvPr/>
        </p:nvSpPr>
        <p:spPr>
          <a:xfrm>
            <a:off x="363263" y="180285"/>
            <a:ext cx="10015046" cy="646331"/>
          </a:xfrm>
          <a:prstGeom prst="rect">
            <a:avLst/>
          </a:prstGeom>
          <a:noFill/>
        </p:spPr>
        <p:txBody>
          <a:bodyPr wrap="square" rtlCol="0">
            <a:spAutoFit/>
          </a:bodyPr>
          <a:lstStyle/>
          <a:p>
            <a:pPr algn="l"/>
            <a:r>
              <a:rPr lang="en-US" sz="3600" b="1" i="0" dirty="0">
                <a:effectLst/>
                <a:latin typeface="Arial" panose="020B0604020202020204" pitchFamily="34" charset="0"/>
              </a:rPr>
              <a:t>What are the different types of malware?</a:t>
            </a:r>
          </a:p>
        </p:txBody>
      </p:sp>
      <p:sp>
        <p:nvSpPr>
          <p:cNvPr id="6" name="TextBox 5"/>
          <p:cNvSpPr txBox="1"/>
          <p:nvPr/>
        </p:nvSpPr>
        <p:spPr>
          <a:xfrm>
            <a:off x="363263" y="1006900"/>
            <a:ext cx="11465474" cy="6494085"/>
          </a:xfrm>
          <a:prstGeom prst="rect">
            <a:avLst/>
          </a:prstGeom>
          <a:noFill/>
        </p:spPr>
        <p:txBody>
          <a:bodyPr wrap="square" rtlCol="0">
            <a:spAutoFit/>
          </a:bodyPr>
          <a:lstStyle/>
          <a:p>
            <a:pPr algn="just">
              <a:buFont typeface="Arial" panose="020B0604020202020204" pitchFamily="34" charset="0"/>
              <a:buChar char="•"/>
            </a:pPr>
            <a:r>
              <a:rPr lang="en-US" sz="3200" b="1" i="0" dirty="0">
                <a:solidFill>
                  <a:srgbClr val="FFFF00"/>
                </a:solidFill>
                <a:effectLst/>
                <a:latin typeface="Arial" panose="020B0604020202020204" pitchFamily="34" charset="0"/>
              </a:rPr>
              <a:t>Virus</a:t>
            </a:r>
            <a:r>
              <a:rPr lang="en-US" sz="3200" b="1" i="0" dirty="0">
                <a:solidFill>
                  <a:schemeClr val="bg1"/>
                </a:solidFill>
                <a:effectLst/>
                <a:latin typeface="Arial" panose="020B0604020202020204" pitchFamily="34" charset="0"/>
              </a:rPr>
              <a:t> </a:t>
            </a:r>
            <a:r>
              <a:rPr lang="en-US" sz="3200" b="0" i="0" dirty="0">
                <a:solidFill>
                  <a:schemeClr val="bg1"/>
                </a:solidFill>
                <a:effectLst/>
                <a:latin typeface="Arial" panose="020B0604020202020204" pitchFamily="34" charset="0"/>
              </a:rPr>
              <a:t>- A </a:t>
            </a:r>
            <a:r>
              <a:rPr lang="en-US" sz="3200" b="0" i="0" u="sng" dirty="0">
                <a:solidFill>
                  <a:schemeClr val="bg1"/>
                </a:solidFill>
                <a:effectLst/>
                <a:latin typeface="Arial" panose="020B0604020202020204" pitchFamily="34" charset="0"/>
                <a:hlinkClick r:id="rId3"/>
              </a:rPr>
              <a:t>virus</a:t>
            </a:r>
            <a:r>
              <a:rPr lang="en-US" sz="3200" b="0" i="0" dirty="0">
                <a:solidFill>
                  <a:schemeClr val="bg1"/>
                </a:solidFill>
                <a:effectLst/>
                <a:latin typeface="Arial" panose="020B0604020202020204" pitchFamily="34" charset="0"/>
              </a:rPr>
              <a:t> is the most common type of malware that can execute itself and spread by infecting other programs or files.</a:t>
            </a:r>
          </a:p>
          <a:p>
            <a:pPr algn="just">
              <a:buFont typeface="Arial" panose="020B0604020202020204" pitchFamily="34" charset="0"/>
              <a:buChar char="•"/>
            </a:pPr>
            <a:endParaRPr lang="en-US" sz="3200" b="0" i="0" dirty="0">
              <a:solidFill>
                <a:schemeClr val="bg1"/>
              </a:solidFill>
              <a:effectLst/>
              <a:latin typeface="Arial" panose="020B0604020202020204" pitchFamily="34" charset="0"/>
            </a:endParaRPr>
          </a:p>
          <a:p>
            <a:pPr algn="just">
              <a:buFont typeface="Arial" panose="020B0604020202020204" pitchFamily="34" charset="0"/>
              <a:buChar char="•"/>
            </a:pPr>
            <a:r>
              <a:rPr lang="en-US" sz="3200" b="1" i="0" dirty="0">
                <a:solidFill>
                  <a:srgbClr val="FFFF00"/>
                </a:solidFill>
                <a:effectLst/>
                <a:latin typeface="Arial" panose="020B0604020202020204" pitchFamily="34" charset="0"/>
              </a:rPr>
              <a:t>Worm </a:t>
            </a:r>
            <a:r>
              <a:rPr lang="en-US" sz="3200" b="0" i="0" dirty="0">
                <a:solidFill>
                  <a:schemeClr val="bg1"/>
                </a:solidFill>
                <a:effectLst/>
                <a:latin typeface="Arial" panose="020B0604020202020204" pitchFamily="34" charset="0"/>
              </a:rPr>
              <a:t>- A </a:t>
            </a:r>
            <a:r>
              <a:rPr lang="en-US" sz="3200" b="0" i="0" u="sng" dirty="0">
                <a:solidFill>
                  <a:schemeClr val="bg1"/>
                </a:solidFill>
                <a:effectLst/>
                <a:latin typeface="Arial" panose="020B0604020202020204" pitchFamily="34" charset="0"/>
                <a:hlinkClick r:id="rId4"/>
              </a:rPr>
              <a:t>worm</a:t>
            </a:r>
            <a:r>
              <a:rPr lang="en-US" sz="3200" b="0" i="0" dirty="0">
                <a:solidFill>
                  <a:schemeClr val="bg1"/>
                </a:solidFill>
                <a:effectLst/>
                <a:latin typeface="Arial" panose="020B0604020202020204" pitchFamily="34" charset="0"/>
              </a:rPr>
              <a:t> can self-replicate without a host program and typically spreads without any interaction from the malware authors.</a:t>
            </a:r>
          </a:p>
          <a:p>
            <a:pPr algn="just">
              <a:buFont typeface="Arial" panose="020B0604020202020204" pitchFamily="34" charset="0"/>
              <a:buChar char="•"/>
            </a:pPr>
            <a:endParaRPr lang="en-US" sz="3200" b="0" i="0" dirty="0">
              <a:solidFill>
                <a:schemeClr val="bg1"/>
              </a:solidFill>
              <a:effectLst/>
              <a:latin typeface="Arial" panose="020B0604020202020204" pitchFamily="34" charset="0"/>
            </a:endParaRPr>
          </a:p>
          <a:p>
            <a:pPr algn="just">
              <a:buFont typeface="Arial" panose="020B0604020202020204" pitchFamily="34" charset="0"/>
              <a:buChar char="•"/>
            </a:pPr>
            <a:r>
              <a:rPr lang="en-US" sz="3200" b="1" i="0" dirty="0">
                <a:solidFill>
                  <a:srgbClr val="FFFF00"/>
                </a:solidFill>
                <a:effectLst/>
                <a:latin typeface="Arial" panose="020B0604020202020204" pitchFamily="34" charset="0"/>
              </a:rPr>
              <a:t>Trojan horse </a:t>
            </a:r>
            <a:r>
              <a:rPr lang="en-US" sz="3200" b="0" i="0" dirty="0">
                <a:solidFill>
                  <a:schemeClr val="bg1"/>
                </a:solidFill>
                <a:effectLst/>
                <a:latin typeface="Arial" panose="020B0604020202020204" pitchFamily="34" charset="0"/>
              </a:rPr>
              <a:t>- A </a:t>
            </a:r>
            <a:r>
              <a:rPr lang="en-US" sz="3200" b="0" i="0" u="sng" dirty="0">
                <a:solidFill>
                  <a:schemeClr val="bg1"/>
                </a:solidFill>
                <a:effectLst/>
                <a:latin typeface="Arial" panose="020B0604020202020204" pitchFamily="34" charset="0"/>
                <a:hlinkClick r:id="rId5"/>
              </a:rPr>
              <a:t>Trojan horse</a:t>
            </a:r>
            <a:r>
              <a:rPr lang="en-US" sz="3200" b="0" i="0" dirty="0">
                <a:solidFill>
                  <a:schemeClr val="bg1"/>
                </a:solidFill>
                <a:effectLst/>
                <a:latin typeface="Arial" panose="020B0604020202020204" pitchFamily="34" charset="0"/>
              </a:rPr>
              <a:t> is designed to appear as a legitimate software program to gain access to a system. Once activated following installation, Trojans can execute their malicious functions.</a:t>
            </a:r>
          </a:p>
          <a:p>
            <a:pPr algn="just">
              <a:buFont typeface="Arial" panose="020B0604020202020204" pitchFamily="34" charset="0"/>
              <a:buChar char="•"/>
            </a:pPr>
            <a:endParaRPr lang="en-US" sz="3200" b="0" i="0" dirty="0">
              <a:solidFill>
                <a:schemeClr val="bg1"/>
              </a:solidFill>
              <a:effectLst/>
              <a:latin typeface="Arial" panose="020B0604020202020204" pitchFamily="34" charset="0"/>
            </a:endParaRPr>
          </a:p>
          <a:p>
            <a:pPr algn="just">
              <a:buFont typeface="Arial" panose="020B0604020202020204" pitchFamily="34" charset="0"/>
              <a:buChar char="•"/>
            </a:pPr>
            <a:endParaRPr lang="en-US" sz="3200" b="0" i="0" dirty="0">
              <a:solidFill>
                <a:schemeClr val="bg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4654"/>
          </a:xfrm>
          <a:prstGeom prst="rect">
            <a:avLst/>
          </a:prstGeom>
        </p:spPr>
      </p:pic>
      <p:sp>
        <p:nvSpPr>
          <p:cNvPr id="6" name="TextBox 5"/>
          <p:cNvSpPr txBox="1"/>
          <p:nvPr/>
        </p:nvSpPr>
        <p:spPr>
          <a:xfrm>
            <a:off x="363263" y="180284"/>
            <a:ext cx="11555468" cy="6986528"/>
          </a:xfrm>
          <a:prstGeom prst="rect">
            <a:avLst/>
          </a:prstGeom>
          <a:noFill/>
        </p:spPr>
        <p:txBody>
          <a:bodyPr wrap="square" rtlCol="0">
            <a:spAutoFit/>
          </a:bodyPr>
          <a:lstStyle/>
          <a:p>
            <a:pPr algn="just">
              <a:buFont typeface="Arial" panose="020B0604020202020204" pitchFamily="34" charset="0"/>
              <a:buChar char="•"/>
            </a:pPr>
            <a:r>
              <a:rPr lang="en-US" sz="2800" b="1" i="0" u="sng" dirty="0">
                <a:solidFill>
                  <a:srgbClr val="FFFF00"/>
                </a:solidFill>
                <a:effectLst/>
                <a:latin typeface="Arial" panose="020B0604020202020204" pitchFamily="34" charset="0"/>
                <a:hlinkClick r:id="rId3"/>
              </a:rPr>
              <a:t>Spyware </a:t>
            </a:r>
            <a:r>
              <a:rPr lang="en-US" sz="2800" b="0" i="0" u="sng" dirty="0">
                <a:solidFill>
                  <a:schemeClr val="bg1"/>
                </a:solidFill>
                <a:effectLst/>
                <a:latin typeface="Arial" panose="020B0604020202020204" pitchFamily="34" charset="0"/>
                <a:hlinkClick r:id="rId3"/>
              </a:rPr>
              <a:t>- Spyware</a:t>
            </a:r>
            <a:r>
              <a:rPr lang="en-US" sz="2800" b="0" i="0" dirty="0">
                <a:solidFill>
                  <a:schemeClr val="bg1"/>
                </a:solidFill>
                <a:effectLst/>
                <a:latin typeface="Arial" panose="020B0604020202020204" pitchFamily="34" charset="0"/>
              </a:rPr>
              <a:t> collects information and data on the device and user, as well as observes the user's activity without their knowledge.</a:t>
            </a:r>
          </a:p>
          <a:p>
            <a:pPr algn="just">
              <a:buFont typeface="Arial" panose="020B0604020202020204" pitchFamily="34" charset="0"/>
              <a:buChar char="•"/>
            </a:pPr>
            <a:endParaRPr lang="en-US" sz="2800" b="0" i="0" dirty="0">
              <a:solidFill>
                <a:schemeClr val="bg1"/>
              </a:solidFill>
              <a:effectLst/>
              <a:latin typeface="Arial" panose="020B0604020202020204" pitchFamily="34" charset="0"/>
            </a:endParaRPr>
          </a:p>
          <a:p>
            <a:pPr algn="just">
              <a:buFont typeface="Arial" panose="020B0604020202020204" pitchFamily="34" charset="0"/>
              <a:buChar char="•"/>
            </a:pPr>
            <a:r>
              <a:rPr lang="en-US" sz="2800" b="1" i="0" dirty="0">
                <a:solidFill>
                  <a:srgbClr val="FFFF00"/>
                </a:solidFill>
                <a:effectLst/>
                <a:latin typeface="Arial" panose="020B0604020202020204" pitchFamily="34" charset="0"/>
              </a:rPr>
              <a:t>Ransomware</a:t>
            </a:r>
            <a:r>
              <a:rPr lang="en-US" sz="2800" b="0" i="0" dirty="0">
                <a:solidFill>
                  <a:schemeClr val="bg1"/>
                </a:solidFill>
                <a:effectLst/>
                <a:latin typeface="Arial" panose="020B0604020202020204" pitchFamily="34" charset="0"/>
              </a:rPr>
              <a:t> - Ransomware infects a user's system and encrypts its data. Cybercriminals then demand a ransom payment from the victim in exchange for decrypting the system's data.</a:t>
            </a:r>
          </a:p>
          <a:p>
            <a:pPr algn="just">
              <a:buFont typeface="Arial" panose="020B0604020202020204" pitchFamily="34" charset="0"/>
              <a:buChar char="•"/>
            </a:pPr>
            <a:endParaRPr lang="en-US" sz="2800" b="0" i="0" dirty="0">
              <a:solidFill>
                <a:schemeClr val="bg1"/>
              </a:solidFill>
              <a:effectLst/>
              <a:latin typeface="Arial" panose="020B0604020202020204" pitchFamily="34" charset="0"/>
            </a:endParaRPr>
          </a:p>
          <a:p>
            <a:pPr algn="just">
              <a:buFont typeface="Arial" panose="020B0604020202020204" pitchFamily="34" charset="0"/>
              <a:buChar char="•"/>
            </a:pPr>
            <a:r>
              <a:rPr lang="en-US" sz="2800" b="1" i="0" dirty="0">
                <a:solidFill>
                  <a:srgbClr val="FFFF00"/>
                </a:solidFill>
                <a:effectLst/>
                <a:latin typeface="Arial" panose="020B0604020202020204" pitchFamily="34" charset="0"/>
              </a:rPr>
              <a:t>Rootkit </a:t>
            </a:r>
            <a:r>
              <a:rPr lang="en-US" sz="2800" b="0" i="0" dirty="0">
                <a:solidFill>
                  <a:schemeClr val="bg1"/>
                </a:solidFill>
                <a:effectLst/>
                <a:latin typeface="Arial" panose="020B0604020202020204" pitchFamily="34" charset="0"/>
              </a:rPr>
              <a:t>- A </a:t>
            </a:r>
            <a:r>
              <a:rPr lang="en-US" sz="2800" b="0" i="0" u="sng" dirty="0">
                <a:solidFill>
                  <a:schemeClr val="bg1"/>
                </a:solidFill>
                <a:effectLst/>
                <a:latin typeface="Arial" panose="020B0604020202020204" pitchFamily="34" charset="0"/>
                <a:hlinkClick r:id="rId4"/>
              </a:rPr>
              <a:t>rootkit</a:t>
            </a:r>
            <a:r>
              <a:rPr lang="en-US" sz="2800" b="0" i="0" dirty="0">
                <a:solidFill>
                  <a:schemeClr val="bg1"/>
                </a:solidFill>
                <a:effectLst/>
                <a:latin typeface="Arial" panose="020B0604020202020204" pitchFamily="34" charset="0"/>
              </a:rPr>
              <a:t> obtains administrator-level access to the victim's system. Once installed, the program gives threat actors root or privileged access to the system.</a:t>
            </a:r>
          </a:p>
          <a:p>
            <a:pPr algn="just">
              <a:buFont typeface="Arial" panose="020B0604020202020204" pitchFamily="34" charset="0"/>
              <a:buChar char="•"/>
            </a:pPr>
            <a:endParaRPr lang="en-US" sz="2800" b="0" i="0" dirty="0">
              <a:solidFill>
                <a:schemeClr val="bg1"/>
              </a:solidFill>
              <a:effectLst/>
              <a:latin typeface="Arial" panose="020B0604020202020204" pitchFamily="34" charset="0"/>
            </a:endParaRPr>
          </a:p>
          <a:p>
            <a:pPr algn="just">
              <a:buFont typeface="Arial" panose="020B0604020202020204" pitchFamily="34" charset="0"/>
              <a:buChar char="•"/>
            </a:pPr>
            <a:r>
              <a:rPr lang="en-US" sz="2800" b="1" i="0" dirty="0">
                <a:solidFill>
                  <a:srgbClr val="FFFF00"/>
                </a:solidFill>
                <a:effectLst/>
                <a:latin typeface="Arial" panose="020B0604020202020204" pitchFamily="34" charset="0"/>
              </a:rPr>
              <a:t>Backdoor</a:t>
            </a:r>
            <a:r>
              <a:rPr lang="en-US" sz="2800" b="0" i="0" dirty="0">
                <a:solidFill>
                  <a:schemeClr val="bg1"/>
                </a:solidFill>
                <a:effectLst/>
                <a:latin typeface="Arial" panose="020B0604020202020204" pitchFamily="34" charset="0"/>
              </a:rPr>
              <a:t> - A </a:t>
            </a:r>
            <a:r>
              <a:rPr lang="en-US" sz="2800" b="0" i="0" u="sng" dirty="0">
                <a:solidFill>
                  <a:schemeClr val="bg1"/>
                </a:solidFill>
                <a:effectLst/>
                <a:latin typeface="Arial" panose="020B0604020202020204" pitchFamily="34" charset="0"/>
                <a:hlinkClick r:id="rId5"/>
              </a:rPr>
              <a:t>backdoor</a:t>
            </a:r>
            <a:r>
              <a:rPr lang="en-US" sz="2800" b="0" i="0" dirty="0">
                <a:solidFill>
                  <a:schemeClr val="bg1"/>
                </a:solidFill>
                <a:effectLst/>
                <a:latin typeface="Arial" panose="020B0604020202020204" pitchFamily="34" charset="0"/>
              </a:rPr>
              <a:t> virus or remote access Trojan (</a:t>
            </a:r>
            <a:r>
              <a:rPr lang="en-US" sz="2800" b="0" i="0" u="sng" dirty="0">
                <a:solidFill>
                  <a:schemeClr val="bg1"/>
                </a:solidFill>
                <a:effectLst/>
                <a:latin typeface="Arial" panose="020B0604020202020204" pitchFamily="34" charset="0"/>
                <a:hlinkClick r:id="rId6"/>
              </a:rPr>
              <a:t>RAT</a:t>
            </a:r>
            <a:r>
              <a:rPr lang="en-US" sz="2800" b="0" i="0" dirty="0">
                <a:solidFill>
                  <a:schemeClr val="bg1"/>
                </a:solidFill>
                <a:effectLst/>
                <a:latin typeface="Arial" panose="020B0604020202020204" pitchFamily="34" charset="0"/>
              </a:rPr>
              <a:t>) secretly creates a backdoor into an infected computer system that enables threat actors to remotely access it without alerting the user or the system's security programs.</a:t>
            </a:r>
          </a:p>
          <a:p>
            <a:pPr algn="just">
              <a:buFont typeface="Arial" panose="020B0604020202020204" pitchFamily="34" charset="0"/>
              <a:buChar char="•"/>
            </a:pPr>
            <a:endParaRPr lang="en-US" sz="2800" b="0" i="0" dirty="0">
              <a:solidFill>
                <a:schemeClr val="bg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4654"/>
          </a:xfrm>
          <a:prstGeom prst="rect">
            <a:avLst/>
          </a:prstGeom>
        </p:spPr>
      </p:pic>
      <p:sp>
        <p:nvSpPr>
          <p:cNvPr id="6" name="TextBox 5"/>
          <p:cNvSpPr txBox="1"/>
          <p:nvPr/>
        </p:nvSpPr>
        <p:spPr>
          <a:xfrm>
            <a:off x="363263" y="180284"/>
            <a:ext cx="11555468" cy="3970318"/>
          </a:xfrm>
          <a:prstGeom prst="rect">
            <a:avLst/>
          </a:prstGeom>
          <a:noFill/>
        </p:spPr>
        <p:txBody>
          <a:bodyPr wrap="square" rtlCol="0">
            <a:spAutoFit/>
          </a:bodyPr>
          <a:lstStyle/>
          <a:p>
            <a:pPr algn="l">
              <a:buFont typeface="Arial" panose="020B0604020202020204" pitchFamily="34" charset="0"/>
              <a:buChar char="•"/>
            </a:pPr>
            <a:r>
              <a:rPr lang="en-US" sz="2800" b="1" i="0" u="sng" dirty="0">
                <a:solidFill>
                  <a:srgbClr val="FFFF00"/>
                </a:solidFill>
                <a:effectLst/>
                <a:latin typeface="Arial" panose="020B0604020202020204" pitchFamily="34" charset="0"/>
                <a:hlinkClick r:id="rId3"/>
              </a:rPr>
              <a:t>Adware</a:t>
            </a:r>
            <a:r>
              <a:rPr lang="en-US" sz="2800" b="0" i="0" u="sng" dirty="0">
                <a:solidFill>
                  <a:schemeClr val="bg1"/>
                </a:solidFill>
                <a:effectLst/>
                <a:latin typeface="Arial" panose="020B0604020202020204" pitchFamily="34" charset="0"/>
                <a:hlinkClick r:id="rId3"/>
              </a:rPr>
              <a:t> - Adware</a:t>
            </a:r>
            <a:r>
              <a:rPr lang="en-US" sz="2800" b="0" i="0" u="sng" dirty="0">
                <a:solidFill>
                  <a:schemeClr val="bg1"/>
                </a:solidFill>
                <a:effectLst/>
                <a:latin typeface="Arial" panose="020B0604020202020204" pitchFamily="34" charset="0"/>
              </a:rPr>
              <a:t> </a:t>
            </a:r>
            <a:r>
              <a:rPr lang="en-US" sz="2800" b="0" i="0" dirty="0">
                <a:solidFill>
                  <a:schemeClr val="bg1"/>
                </a:solidFill>
                <a:effectLst/>
                <a:latin typeface="Arial" panose="020B0604020202020204" pitchFamily="34" charset="0"/>
              </a:rPr>
              <a:t>tracks a user's browser and download history with the intent to display pop-up or banner advertisements that lure the user into making a purchase. For example, an advertiser might use cookies to track the webpages a user visits to better target advertising.</a:t>
            </a:r>
          </a:p>
          <a:p>
            <a:pPr algn="l">
              <a:buFont typeface="Arial" panose="020B0604020202020204" pitchFamily="34" charset="0"/>
              <a:buChar char="•"/>
            </a:pPr>
            <a:endParaRPr lang="en-US" sz="2800" b="0" i="0" dirty="0">
              <a:solidFill>
                <a:schemeClr val="bg1"/>
              </a:solidFill>
              <a:effectLst/>
              <a:latin typeface="Arial" panose="020B0604020202020204" pitchFamily="34" charset="0"/>
            </a:endParaRPr>
          </a:p>
          <a:p>
            <a:pPr algn="l">
              <a:buFont typeface="Arial" panose="020B0604020202020204" pitchFamily="34" charset="0"/>
              <a:buChar char="•"/>
            </a:pPr>
            <a:r>
              <a:rPr lang="en-US" sz="2800" b="1" dirty="0">
                <a:solidFill>
                  <a:srgbClr val="FFFF00"/>
                </a:solidFill>
                <a:latin typeface="Arial" panose="020B0604020202020204" pitchFamily="34" charset="0"/>
              </a:rPr>
              <a:t>Keyloggers</a:t>
            </a:r>
            <a:r>
              <a:rPr lang="en-US" sz="2800" dirty="0">
                <a:solidFill>
                  <a:schemeClr val="bg1"/>
                </a:solidFill>
                <a:latin typeface="Arial" panose="020B0604020202020204" pitchFamily="34" charset="0"/>
              </a:rPr>
              <a:t>  -  </a:t>
            </a:r>
            <a:r>
              <a:rPr lang="en-US" sz="2800" b="0" i="0" dirty="0">
                <a:solidFill>
                  <a:schemeClr val="bg1"/>
                </a:solidFill>
                <a:effectLst/>
                <a:latin typeface="Arial" panose="020B0604020202020204" pitchFamily="34" charset="0"/>
                <a:hlinkClick r:id="rId4"/>
              </a:rPr>
              <a:t>Keyloggers</a:t>
            </a:r>
            <a:r>
              <a:rPr lang="en-US" sz="2800" b="0" i="0" dirty="0">
                <a:solidFill>
                  <a:schemeClr val="bg1"/>
                </a:solidFill>
                <a:effectLst/>
                <a:latin typeface="Arial" panose="020B0604020202020204" pitchFamily="34" charset="0"/>
              </a:rPr>
              <a:t>, also called system monitors, track nearly everything a user does on their computer. This includes emails, opened webpages, programs and keystrokes.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4654"/>
          </a:xfrm>
          <a:prstGeom prst="rect">
            <a:avLst/>
          </a:prstGeom>
        </p:spPr>
      </p:pic>
      <p:sp>
        <p:nvSpPr>
          <p:cNvPr id="4" name="TextBox 3"/>
          <p:cNvSpPr txBox="1"/>
          <p:nvPr/>
        </p:nvSpPr>
        <p:spPr>
          <a:xfrm>
            <a:off x="437492" y="99314"/>
            <a:ext cx="7350674" cy="646331"/>
          </a:xfrm>
          <a:prstGeom prst="rect">
            <a:avLst/>
          </a:prstGeom>
          <a:noFill/>
        </p:spPr>
        <p:txBody>
          <a:bodyPr wrap="square" rtlCol="0">
            <a:spAutoFit/>
          </a:bodyPr>
          <a:lstStyle/>
          <a:p>
            <a:pPr algn="l"/>
            <a:r>
              <a:rPr lang="en-US" sz="3600" b="1" i="0" dirty="0">
                <a:effectLst/>
                <a:latin typeface="Arial" panose="020B0604020202020204" pitchFamily="34" charset="0"/>
              </a:rPr>
              <a:t>How to detect malware?</a:t>
            </a:r>
          </a:p>
        </p:txBody>
      </p:sp>
      <p:sp>
        <p:nvSpPr>
          <p:cNvPr id="6" name="TextBox 5"/>
          <p:cNvSpPr txBox="1"/>
          <p:nvPr/>
        </p:nvSpPr>
        <p:spPr>
          <a:xfrm>
            <a:off x="437492" y="844959"/>
            <a:ext cx="11465474" cy="6555641"/>
          </a:xfrm>
          <a:prstGeom prst="rect">
            <a:avLst/>
          </a:prstGeom>
          <a:noFill/>
        </p:spPr>
        <p:txBody>
          <a:bodyPr wrap="square" rtlCol="0">
            <a:spAutoFit/>
          </a:bodyPr>
          <a:lstStyle/>
          <a:p>
            <a:pPr algn="just"/>
            <a:r>
              <a:rPr lang="en-US" sz="2800" b="0" i="0" dirty="0">
                <a:solidFill>
                  <a:schemeClr val="bg1"/>
                </a:solidFill>
                <a:effectLst/>
                <a:latin typeface="Arial" panose="020B0604020202020204" pitchFamily="34" charset="0"/>
              </a:rPr>
              <a:t>Users may be able to detect malware if they observe unusual activity such as a sudden loss of disk space, unusually slow speeds, repeated crashes or freezes, or an increase in unwanted internet activity and pop-up advertisements.</a:t>
            </a:r>
          </a:p>
          <a:p>
            <a:pPr algn="just"/>
            <a:r>
              <a:rPr lang="en-US" sz="2800" b="0" i="0" dirty="0">
                <a:solidFill>
                  <a:srgbClr val="FFFF00"/>
                </a:solidFill>
                <a:effectLst/>
                <a:highlight>
                  <a:srgbClr val="FF0000"/>
                </a:highlight>
                <a:latin typeface="Arial" panose="020B0604020202020204" pitchFamily="34" charset="0"/>
              </a:rPr>
              <a:t>Antivirus and antimalware software </a:t>
            </a:r>
            <a:r>
              <a:rPr lang="en-US" sz="2800" b="0" i="0" dirty="0">
                <a:solidFill>
                  <a:schemeClr val="bg1"/>
                </a:solidFill>
                <a:effectLst/>
                <a:latin typeface="Arial" panose="020B0604020202020204" pitchFamily="34" charset="0"/>
              </a:rPr>
              <a:t>may be installed on a device to detect and remove malware. These tools can provide real-time protection or </a:t>
            </a:r>
            <a:r>
              <a:rPr lang="en-US" sz="2800" b="0" i="0" u="sng" dirty="0">
                <a:solidFill>
                  <a:schemeClr val="bg1"/>
                </a:solidFill>
                <a:effectLst/>
                <a:latin typeface="Arial" panose="020B0604020202020204" pitchFamily="34" charset="0"/>
                <a:hlinkClick r:id="rId3"/>
              </a:rPr>
              <a:t>detect and remove malware</a:t>
            </a:r>
            <a:r>
              <a:rPr lang="en-US" sz="2800" b="0" i="0" dirty="0">
                <a:solidFill>
                  <a:schemeClr val="bg1"/>
                </a:solidFill>
                <a:effectLst/>
                <a:latin typeface="Arial" panose="020B0604020202020204" pitchFamily="34" charset="0"/>
              </a:rPr>
              <a:t> by executing routine system scans.</a:t>
            </a:r>
          </a:p>
          <a:p>
            <a:pPr algn="just"/>
            <a:r>
              <a:rPr lang="en-US" sz="2800" b="0" i="0" dirty="0">
                <a:solidFill>
                  <a:srgbClr val="FFFF00"/>
                </a:solidFill>
                <a:effectLst/>
                <a:highlight>
                  <a:srgbClr val="FF0000"/>
                </a:highlight>
                <a:latin typeface="Arial" panose="020B0604020202020204" pitchFamily="34" charset="0"/>
              </a:rPr>
              <a:t>Windows Defender</a:t>
            </a:r>
            <a:r>
              <a:rPr lang="en-US" sz="2800" b="0" i="0" dirty="0">
                <a:solidFill>
                  <a:schemeClr val="bg1"/>
                </a:solidFill>
                <a:effectLst/>
                <a:latin typeface="Arial" panose="020B0604020202020204" pitchFamily="34" charset="0"/>
              </a:rPr>
              <a:t>, for example, is Microsoft antimalware software included in the Windows 10 operating system (OS) under the Windows Defender Security Center. Windows Defender protects against threats such as spyware, adware and viruses. Users can set automatic "Quick" and "Full" scans, as well as set low, medium, high and severe priority alerts.</a:t>
            </a:r>
          </a:p>
          <a:p>
            <a:pPr algn="just"/>
            <a:endParaRPr lang="en-US" sz="2800" b="0" i="0" dirty="0">
              <a:solidFill>
                <a:schemeClr val="bg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4654"/>
          </a:xfrm>
          <a:prstGeom prst="rect">
            <a:avLst/>
          </a:prstGeom>
        </p:spPr>
      </p:pic>
      <p:sp>
        <p:nvSpPr>
          <p:cNvPr id="4" name="TextBox 3"/>
          <p:cNvSpPr txBox="1"/>
          <p:nvPr/>
        </p:nvSpPr>
        <p:spPr>
          <a:xfrm>
            <a:off x="437492" y="99314"/>
            <a:ext cx="7350674" cy="646331"/>
          </a:xfrm>
          <a:prstGeom prst="rect">
            <a:avLst/>
          </a:prstGeom>
          <a:noFill/>
        </p:spPr>
        <p:txBody>
          <a:bodyPr wrap="square" rtlCol="0">
            <a:spAutoFit/>
          </a:bodyPr>
          <a:lstStyle/>
          <a:p>
            <a:pPr algn="l"/>
            <a:r>
              <a:rPr lang="en-US" sz="3600" b="1" i="0" dirty="0">
                <a:effectLst/>
                <a:latin typeface="Arial" panose="020B0604020202020204" pitchFamily="34" charset="0"/>
              </a:rPr>
              <a:t>History of malware</a:t>
            </a:r>
          </a:p>
        </p:txBody>
      </p:sp>
      <p:sp>
        <p:nvSpPr>
          <p:cNvPr id="6" name="TextBox 5"/>
          <p:cNvSpPr txBox="1"/>
          <p:nvPr/>
        </p:nvSpPr>
        <p:spPr>
          <a:xfrm>
            <a:off x="363263" y="770797"/>
            <a:ext cx="11465474" cy="6124754"/>
          </a:xfrm>
          <a:prstGeom prst="rect">
            <a:avLst/>
          </a:prstGeom>
          <a:noFill/>
        </p:spPr>
        <p:txBody>
          <a:bodyPr wrap="square" rtlCol="0">
            <a:spAutoFit/>
          </a:bodyPr>
          <a:lstStyle/>
          <a:p>
            <a:pPr algn="just"/>
            <a:r>
              <a:rPr lang="en-US" sz="2800" b="0" i="0" dirty="0">
                <a:solidFill>
                  <a:schemeClr val="bg1"/>
                </a:solidFill>
                <a:effectLst/>
                <a:latin typeface="Arial" panose="020B0604020202020204" pitchFamily="34" charset="0"/>
              </a:rPr>
              <a:t>The term </a:t>
            </a:r>
            <a:r>
              <a:rPr lang="en-US" sz="2800" b="0" i="1" dirty="0">
                <a:solidFill>
                  <a:schemeClr val="bg1"/>
                </a:solidFill>
                <a:effectLst/>
                <a:latin typeface="Arial" panose="020B0604020202020204" pitchFamily="34" charset="0"/>
              </a:rPr>
              <a:t>malware</a:t>
            </a:r>
            <a:r>
              <a:rPr lang="en-US" sz="2800" b="0" i="0" dirty="0">
                <a:solidFill>
                  <a:schemeClr val="bg1"/>
                </a:solidFill>
                <a:effectLst/>
                <a:latin typeface="Arial" panose="020B0604020202020204" pitchFamily="34" charset="0"/>
              </a:rPr>
              <a:t> was first used by computer scientist and security researcher </a:t>
            </a:r>
            <a:r>
              <a:rPr lang="en-US" sz="2800" b="0" i="1" dirty="0">
                <a:solidFill>
                  <a:srgbClr val="FFFF00"/>
                </a:solidFill>
                <a:effectLst/>
                <a:latin typeface="Arial" panose="020B0604020202020204" pitchFamily="34" charset="0"/>
              </a:rPr>
              <a:t>Yisrael </a:t>
            </a:r>
            <a:r>
              <a:rPr lang="en-US" sz="2800" b="0" i="1" dirty="0" err="1">
                <a:solidFill>
                  <a:srgbClr val="FFFF00"/>
                </a:solidFill>
                <a:effectLst/>
                <a:latin typeface="Arial" panose="020B0604020202020204" pitchFamily="34" charset="0"/>
              </a:rPr>
              <a:t>Radai</a:t>
            </a:r>
            <a:r>
              <a:rPr lang="en-US" sz="2800" b="0" i="1" dirty="0">
                <a:solidFill>
                  <a:srgbClr val="FFFF00"/>
                </a:solidFill>
                <a:effectLst/>
                <a:latin typeface="Arial" panose="020B0604020202020204" pitchFamily="34" charset="0"/>
              </a:rPr>
              <a:t> </a:t>
            </a:r>
            <a:r>
              <a:rPr lang="en-US" sz="2800" b="0" i="0" dirty="0">
                <a:solidFill>
                  <a:schemeClr val="bg1"/>
                </a:solidFill>
                <a:effectLst/>
                <a:latin typeface="Arial" panose="020B0604020202020204" pitchFamily="34" charset="0"/>
              </a:rPr>
              <a:t>in 1990. However, malware existed long before this.</a:t>
            </a:r>
          </a:p>
          <a:p>
            <a:pPr algn="just"/>
            <a:endParaRPr lang="en-US" sz="2800" b="0" i="0" dirty="0">
              <a:solidFill>
                <a:schemeClr val="bg1"/>
              </a:solidFill>
              <a:effectLst/>
              <a:latin typeface="Arial" panose="020B0604020202020204" pitchFamily="34" charset="0"/>
            </a:endParaRPr>
          </a:p>
          <a:p>
            <a:pPr algn="just"/>
            <a:r>
              <a:rPr lang="en-US" sz="2800" b="0" i="0" dirty="0">
                <a:solidFill>
                  <a:schemeClr val="bg1"/>
                </a:solidFill>
                <a:effectLst/>
                <a:latin typeface="Arial" panose="020B0604020202020204" pitchFamily="34" charset="0"/>
              </a:rPr>
              <a:t>One of the first known examples of malware was the Creeper virus in 1971, which was created as an experiment by BBN Technologies engineer Robert Thomas. Creeper was designed to infect mainframes on ARPANET </a:t>
            </a:r>
            <a:r>
              <a:rPr lang="en-US" sz="2800" b="0" i="1" dirty="0">
                <a:solidFill>
                  <a:schemeClr val="bg1"/>
                </a:solidFill>
                <a:effectLst/>
                <a:latin typeface="Arial" panose="020B0604020202020204" pitchFamily="34" charset="0"/>
              </a:rPr>
              <a:t>(</a:t>
            </a:r>
            <a:r>
              <a:rPr lang="en-US" sz="2800" b="0" i="1" dirty="0">
                <a:solidFill>
                  <a:schemeClr val="bg1"/>
                </a:solidFill>
                <a:effectLst/>
                <a:latin typeface="Google Sans"/>
              </a:rPr>
              <a:t> Advanced Research Projects Agency Network</a:t>
            </a:r>
            <a:r>
              <a:rPr lang="en-US" sz="2800" b="0" i="0" dirty="0">
                <a:solidFill>
                  <a:srgbClr val="202124"/>
                </a:solidFill>
                <a:effectLst/>
                <a:latin typeface="Google Sans"/>
              </a:rPr>
              <a:t>)</a:t>
            </a:r>
            <a:r>
              <a:rPr lang="en-US" sz="2800" b="0" i="0" dirty="0">
                <a:solidFill>
                  <a:schemeClr val="bg1"/>
                </a:solidFill>
                <a:effectLst/>
                <a:latin typeface="Arial" panose="020B0604020202020204" pitchFamily="34" charset="0"/>
              </a:rPr>
              <a:t>. While the program did not alter functions or steal or delete data, it moved from one mainframe to another without permission while displaying a teletype message that read, "I'm the creeper: Catch me if you can." Creeper was later altered by computer scientist Ray Tomlinson, who added the ability to self-replicate to the virus and created the first known computer worm.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718</Words>
  <Application>Microsoft Office PowerPoint</Application>
  <PresentationFormat>Widescreen</PresentationFormat>
  <Paragraphs>30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Google Sans</vt:lpstr>
      <vt:lpstr>Arial</vt:lpstr>
      <vt:lpstr>Calibri</vt:lpstr>
      <vt:lpstr>Calibri Light</vt:lpstr>
      <vt:lpstr>Office Theme</vt:lpstr>
      <vt:lpstr>Effects of malware</vt:lpstr>
      <vt:lpstr>Malware, or malicious software, is any program or file that is intentionally harmful to a computer, network or server. Types of malware include computer viruses, worms, Trojan horses, ransomware and spyware.   These malicious programs steal, encrypt and delete sensitive data; alter or hijack core computing functions and monitor end users' computer activity.</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malware? </dc:title>
  <dc:creator>HP</dc:creator>
  <cp:lastModifiedBy>Win10</cp:lastModifiedBy>
  <cp:revision>57</cp:revision>
  <dcterms:created xsi:type="dcterms:W3CDTF">2024-05-08T13:25:00Z</dcterms:created>
  <dcterms:modified xsi:type="dcterms:W3CDTF">2025-11-15T14:33:07Z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EC76763851EE499AA714780847D942EC_12</vt:lpwstr>
  </property>
  <property fmtid="{D5CDD505-2E9C-101B-9397-08002B2CF9AE}" pid="3" name="KSOProductBuildVer">
    <vt:lpwstr>1033-12.2.0.19805</vt:lpwstr>
  </property>
</Properties>
</file>