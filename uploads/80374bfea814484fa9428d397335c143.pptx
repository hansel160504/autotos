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0" r:id="rId5"/>
    <p:sldId id="261" r:id="rId6"/>
    <p:sldId id="262" r:id="rId7"/>
    <p:sldId id="263" r:id="rId8"/>
    <p:sldId id="264" r:id="rId9"/>
    <p:sldId id="265" r:id="rId10"/>
    <p:sldId id="266" r:id="rId11"/>
    <p:sldId id="258" r:id="rId12"/>
    <p:sldId id="259" r:id="rId13"/>
    <p:sldId id="269" r:id="rId14"/>
    <p:sldId id="270" r:id="rId15"/>
    <p:sldId id="271" r:id="rId16"/>
    <p:sldId id="272" r:id="rId17"/>
    <p:sldId id="273" r:id="rId18"/>
    <p:sldId id="274" r:id="rId19"/>
    <p:sldId id="275" r:id="rId20"/>
    <p:sldId id="276" r:id="rId21"/>
    <p:sldId id="278"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1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4205" y="1659255"/>
            <a:ext cx="10942955" cy="2219325"/>
          </a:xfrm>
        </p:spPr>
        <p:txBody>
          <a:bodyPr/>
          <a:lstStyle/>
          <a:p>
            <a:r>
              <a:rPr lang="en-PH" altLang="en-US" sz="5400" b="1" dirty="0">
                <a:latin typeface="Arial" panose="020B0604020202020204" pitchFamily="34" charset="0"/>
                <a:cs typeface="Arial" panose="020B0604020202020204" pitchFamily="34" charset="0"/>
              </a:rPr>
              <a:t>ETHICAL THEORY </a:t>
            </a:r>
            <a:br>
              <a:rPr lang="en-PH" altLang="en-US" sz="5400" b="1" dirty="0">
                <a:latin typeface="Arial" panose="020B0604020202020204" pitchFamily="34" charset="0"/>
                <a:cs typeface="Arial" panose="020B0604020202020204" pitchFamily="34" charset="0"/>
              </a:rPr>
            </a:br>
            <a:r>
              <a:rPr lang="en-PH" altLang="en-US" sz="5400" b="1" dirty="0">
                <a:latin typeface="Arial" panose="020B0604020202020204" pitchFamily="34" charset="0"/>
                <a:cs typeface="Arial" panose="020B0604020202020204" pitchFamily="34" charset="0"/>
              </a:rPr>
              <a:t>AND </a:t>
            </a:r>
            <a:br>
              <a:rPr lang="en-PH" altLang="en-US" sz="5400" b="1" dirty="0">
                <a:latin typeface="Arial" panose="020B0604020202020204" pitchFamily="34" charset="0"/>
                <a:cs typeface="Arial" panose="020B0604020202020204" pitchFamily="34" charset="0"/>
              </a:rPr>
            </a:br>
            <a:r>
              <a:rPr lang="en-PH" altLang="en-US" sz="5400" b="1" dirty="0">
                <a:latin typeface="Arial" panose="020B0604020202020204" pitchFamily="34" charset="0"/>
                <a:cs typeface="Arial" panose="020B0604020202020204" pitchFamily="34" charset="0"/>
              </a:rPr>
              <a:t>CONCEPT</a:t>
            </a:r>
            <a:endParaRPr lang="en-PH" altLang="en-US" sz="5400" b="1"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PH" altLang="en-US" b="1"/>
              <a:t>Ethical Theory</a:t>
            </a:r>
            <a:endParaRPr lang="en-PH" altLang="en-US" b="1"/>
          </a:p>
        </p:txBody>
      </p:sp>
      <p:sp>
        <p:nvSpPr>
          <p:cNvPr id="3" name="Content Placeholder 2"/>
          <p:cNvSpPr>
            <a:spLocks noGrp="1"/>
          </p:cNvSpPr>
          <p:nvPr>
            <p:ph idx="1"/>
          </p:nvPr>
        </p:nvSpPr>
        <p:spPr>
          <a:xfrm>
            <a:off x="345440" y="795020"/>
            <a:ext cx="10972800" cy="5951855"/>
          </a:xfrm>
        </p:spPr>
        <p:txBody>
          <a:bodyPr/>
          <a:p>
            <a:pPr algn="just"/>
            <a:r>
              <a:rPr lang="en-PH" altLang="en-US">
                <a:latin typeface="Arial" panose="020B0604020202020204" pitchFamily="34" charset="0"/>
                <a:cs typeface="Arial" panose="020B0604020202020204" pitchFamily="34" charset="0"/>
              </a:rPr>
              <a:t>E</a:t>
            </a:r>
            <a:r>
              <a:rPr lang="en-US">
                <a:latin typeface="Arial" panose="020B0604020202020204" pitchFamily="34" charset="0"/>
                <a:cs typeface="Arial" panose="020B0604020202020204" pitchFamily="34" charset="0"/>
              </a:rPr>
              <a:t>thical theor</a:t>
            </a:r>
            <a:r>
              <a:rPr lang="en-PH" altLang="en-US">
                <a:latin typeface="Arial" panose="020B0604020202020204" pitchFamily="34" charset="0"/>
                <a:cs typeface="Arial" panose="020B0604020202020204" pitchFamily="34" charset="0"/>
              </a:rPr>
              <a:t>y</a:t>
            </a:r>
            <a:r>
              <a:rPr lang="en-US">
                <a:latin typeface="Arial" panose="020B0604020202020204" pitchFamily="34" charset="0"/>
                <a:cs typeface="Arial" panose="020B0604020202020204" pitchFamily="34" charset="0"/>
              </a:rPr>
              <a:t> provide</a:t>
            </a:r>
            <a:r>
              <a:rPr lang="en-PH" altLang="en-US">
                <a:latin typeface="Arial" panose="020B0604020202020204" pitchFamily="34" charset="0"/>
                <a:cs typeface="Arial" panose="020B0604020202020204" pitchFamily="34" charset="0"/>
              </a:rPr>
              <a:t>s</a:t>
            </a:r>
            <a:r>
              <a:rPr lang="en-US">
                <a:latin typeface="Arial" panose="020B0604020202020204" pitchFamily="34" charset="0"/>
                <a:cs typeface="Arial" panose="020B0604020202020204" pitchFamily="34" charset="0"/>
              </a:rPr>
              <a:t> the views from which individuals seek direction when they make decisions, they form part of the decision-making foundation for </a:t>
            </a:r>
            <a:r>
              <a:rPr lang="en-US" i="1">
                <a:latin typeface="Arial" panose="020B0604020202020204" pitchFamily="34" charset="0"/>
                <a:cs typeface="Arial" panose="020B0604020202020204" pitchFamily="34" charset="0"/>
              </a:rPr>
              <a:t>Decision Making When Ethics Are In Play</a:t>
            </a:r>
            <a:r>
              <a:rPr lang="en-US">
                <a:latin typeface="Arial" panose="020B0604020202020204" pitchFamily="34" charset="0"/>
                <a:cs typeface="Arial" panose="020B0604020202020204" pitchFamily="34" charset="0"/>
              </a:rPr>
              <a:t>. Each theory highlights a different aspect a particular decision-making style or a decision rule – such as </a:t>
            </a:r>
            <a:r>
              <a:rPr lang="en-US" i="1">
                <a:latin typeface="Arial" panose="020B0604020202020204" pitchFamily="34" charset="0"/>
                <a:cs typeface="Arial" panose="020B0604020202020204" pitchFamily="34" charset="0"/>
              </a:rPr>
              <a:t>anticipating the outcome</a:t>
            </a:r>
            <a:r>
              <a:rPr lang="en-US">
                <a:latin typeface="Arial" panose="020B0604020202020204" pitchFamily="34" charset="0"/>
                <a:cs typeface="Arial" panose="020B0604020202020204" pitchFamily="34" charset="0"/>
              </a:rPr>
              <a:t> and </a:t>
            </a:r>
            <a:r>
              <a:rPr lang="en-US" i="1">
                <a:latin typeface="Arial" panose="020B0604020202020204" pitchFamily="34" charset="0"/>
                <a:cs typeface="Arial" panose="020B0604020202020204" pitchFamily="34" charset="0"/>
              </a:rPr>
              <a:t>honoring one's responsibilities</a:t>
            </a:r>
            <a:r>
              <a:rPr lang="en-US">
                <a:latin typeface="Arial" panose="020B0604020202020204" pitchFamily="34" charset="0"/>
                <a:cs typeface="Arial" panose="020B0604020202020204" pitchFamily="34" charset="0"/>
              </a:rPr>
              <a:t> to others to achieve what the individual thinks an ethically right option. To comprehend ethical choice making, students must first recognize that not everyone makes judgments in the same way, with the same knowledge, and using the same decision rules</a:t>
            </a:r>
            <a:endParaRPr lang="en-US">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PH" altLang="en-US" b="1">
                <a:sym typeface="+mn-ea"/>
              </a:rPr>
              <a:t>DEONTOLOGY</a:t>
            </a:r>
            <a:endParaRPr lang="en-PH" altLang="en-US" b="1"/>
          </a:p>
        </p:txBody>
      </p:sp>
      <p:sp>
        <p:nvSpPr>
          <p:cNvPr id="3" name="Content Placeholder 2"/>
          <p:cNvSpPr>
            <a:spLocks noGrp="1"/>
          </p:cNvSpPr>
          <p:nvPr>
            <p:ph idx="1"/>
          </p:nvPr>
        </p:nvSpPr>
        <p:spPr/>
        <p:txBody>
          <a:bodyPr/>
          <a:p>
            <a:pPr marL="0" indent="0" algn="just">
              <a:buNone/>
            </a:pPr>
            <a:r>
              <a:rPr lang="en-PH" altLang="en-US" sz="2800"/>
              <a:t>-Deontology is an ethical theory based on rules that distinguish right from wrong. </a:t>
            </a:r>
            <a:endParaRPr lang="en-PH" altLang="en-US" sz="2800"/>
          </a:p>
          <a:p>
            <a:pPr marL="0" indent="0" algn="just">
              <a:buNone/>
            </a:pPr>
            <a:r>
              <a:rPr lang="en-PH" altLang="en-US" sz="2800"/>
              <a:t>-Deontology is based on the word </a:t>
            </a:r>
            <a:r>
              <a:rPr lang="en-PH" altLang="en-US" sz="2800" i="1"/>
              <a:t>deon</a:t>
            </a:r>
            <a:r>
              <a:rPr lang="en-PH" altLang="en-US" sz="2800"/>
              <a:t> that refers to “duty.” It is associated with philosopher Immanuel Kant. Kant believed that ethical actions follow universal moral laws, such as, “Don’t lie. Don’t steal. Don’t cheat.”</a:t>
            </a:r>
            <a:endParaRPr lang="en-PH" altLang="en-US" sz="2800"/>
          </a:p>
          <a:p>
            <a:pPr marL="0" indent="0" algn="just">
              <a:buNone/>
            </a:pPr>
            <a:r>
              <a:rPr lang="en-PH" altLang="en-US" sz="2800"/>
              <a:t>-Deontology is simple to apply because it just requires people to follow the rules and do their duty. It doesn’t require weighing the costs and benefits of a situation, thus avoiding subjectivity and uncertainty.</a:t>
            </a:r>
            <a:endParaRPr lang="en-PH" alt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PH" altLang="en-US" sz="2800" b="1">
                <a:sym typeface="+mn-ea"/>
              </a:rPr>
              <a:t>DEONTOLOGY</a:t>
            </a:r>
            <a:endParaRPr lang="en-US" sz="2800"/>
          </a:p>
        </p:txBody>
      </p:sp>
      <p:sp>
        <p:nvSpPr>
          <p:cNvPr id="3" name="Content Placeholder 2"/>
          <p:cNvSpPr>
            <a:spLocks noGrp="1"/>
          </p:cNvSpPr>
          <p:nvPr>
            <p:ph idx="1"/>
          </p:nvPr>
        </p:nvSpPr>
        <p:spPr/>
        <p:txBody>
          <a:bodyPr/>
          <a:p>
            <a:endParaRPr lang="en-US"/>
          </a:p>
        </p:txBody>
      </p:sp>
      <p:pic>
        <p:nvPicPr>
          <p:cNvPr id="104" name="Picture 103"/>
          <p:cNvPicPr/>
          <p:nvPr/>
        </p:nvPicPr>
        <p:blipFill>
          <a:blip r:embed="rId1"/>
          <a:stretch>
            <a:fillRect/>
          </a:stretch>
        </p:blipFill>
        <p:spPr>
          <a:xfrm>
            <a:off x="609600" y="2058035"/>
            <a:ext cx="5378450" cy="3761105"/>
          </a:xfrm>
          <a:prstGeom prst="rect">
            <a:avLst/>
          </a:prstGeom>
          <a:noFill/>
          <a:ln w="9525">
            <a:noFill/>
          </a:ln>
        </p:spPr>
      </p:pic>
      <p:pic>
        <p:nvPicPr>
          <p:cNvPr id="105" name="Picture 104"/>
          <p:cNvPicPr/>
          <p:nvPr/>
        </p:nvPicPr>
        <p:blipFill>
          <a:blip r:embed="rId2"/>
          <a:stretch>
            <a:fillRect/>
          </a:stretch>
        </p:blipFill>
        <p:spPr>
          <a:xfrm>
            <a:off x="7331075" y="1663065"/>
            <a:ext cx="3722370" cy="435102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2800" b="1"/>
              <a:t>C</a:t>
            </a:r>
            <a:r>
              <a:rPr lang="en-PH" altLang="en-US" sz="2800" b="1"/>
              <a:t>ONSEQUENTIALISM</a:t>
            </a:r>
            <a:endParaRPr lang="en-PH" altLang="en-US" sz="2800" b="1"/>
          </a:p>
        </p:txBody>
      </p:sp>
      <p:sp>
        <p:nvSpPr>
          <p:cNvPr id="3" name="Content Placeholder 2"/>
          <p:cNvSpPr>
            <a:spLocks noGrp="1"/>
          </p:cNvSpPr>
          <p:nvPr>
            <p:ph idx="1"/>
          </p:nvPr>
        </p:nvSpPr>
        <p:spPr/>
        <p:txBody>
          <a:bodyPr/>
          <a:p>
            <a:pPr algn="just"/>
            <a:r>
              <a:rPr lang="en-US"/>
              <a:t>Consequentialism is an ethical theory used to determine whether or not an action is right by the consequences of the action</a:t>
            </a:r>
            <a:r>
              <a:rPr lang="en-PH" altLang="en-US"/>
              <a:t>.</a:t>
            </a:r>
            <a:endParaRPr lang="en-PH" altLang="en-US"/>
          </a:p>
          <a:p>
            <a:pPr algn="just"/>
            <a:endParaRPr lang="en-PH" altLang="en-US"/>
          </a:p>
          <a:p>
            <a:pPr marL="0" indent="0" algn="just">
              <a:buNone/>
            </a:pPr>
            <a:r>
              <a:rPr lang="en-PH" altLang="en-US"/>
              <a:t>Example:</a:t>
            </a:r>
            <a:endParaRPr lang="en-PH" altLang="en-US"/>
          </a:p>
          <a:p>
            <a:pPr marL="0" indent="0" algn="just">
              <a:buNone/>
            </a:pPr>
            <a:r>
              <a:rPr lang="en-PH" altLang="en-US"/>
              <a:t>Most people agree that lying is wrong, but if telling a lie would help save a person’s life, consequentialism says it’s the right thing to do. </a:t>
            </a:r>
            <a:endParaRPr lang="en-PH"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2800" b="1">
                <a:sym typeface="+mn-ea"/>
              </a:rPr>
              <a:t>C</a:t>
            </a:r>
            <a:r>
              <a:rPr lang="en-PH" altLang="en-US" sz="2800" b="1">
                <a:sym typeface="+mn-ea"/>
              </a:rPr>
              <a:t>ONSEQUENTIALISM</a:t>
            </a:r>
            <a:endParaRPr lang="en-US" sz="2800"/>
          </a:p>
        </p:txBody>
      </p:sp>
      <p:sp>
        <p:nvSpPr>
          <p:cNvPr id="3" name="Content Placeholder 2"/>
          <p:cNvSpPr>
            <a:spLocks noGrp="1"/>
          </p:cNvSpPr>
          <p:nvPr>
            <p:ph idx="1"/>
          </p:nvPr>
        </p:nvSpPr>
        <p:spPr/>
        <p:txBody>
          <a:bodyPr/>
          <a:p>
            <a:endParaRPr lang="en-US"/>
          </a:p>
        </p:txBody>
      </p:sp>
      <p:pic>
        <p:nvPicPr>
          <p:cNvPr id="106" name="Picture 105"/>
          <p:cNvPicPr/>
          <p:nvPr/>
        </p:nvPicPr>
        <p:blipFill>
          <a:blip r:embed="rId1"/>
          <a:stretch>
            <a:fillRect/>
          </a:stretch>
        </p:blipFill>
        <p:spPr>
          <a:xfrm>
            <a:off x="1884045" y="1517650"/>
            <a:ext cx="7469505" cy="410464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3560" y="256540"/>
            <a:ext cx="10972800" cy="582613"/>
          </a:xfrm>
        </p:spPr>
        <p:txBody>
          <a:bodyPr/>
          <a:p>
            <a:pPr algn="just"/>
            <a:r>
              <a:rPr lang="en-US" sz="2800"/>
              <a:t>Ethical Issues Through the Lens of Deontological or Consequential Ethical Frameworks</a:t>
            </a:r>
            <a:endParaRPr lang="en-US" sz="2800"/>
          </a:p>
        </p:txBody>
      </p:sp>
      <p:pic>
        <p:nvPicPr>
          <p:cNvPr id="4" name="Content Placeholder 3"/>
          <p:cNvPicPr>
            <a:picLocks noChangeAspect="1"/>
          </p:cNvPicPr>
          <p:nvPr>
            <p:ph idx="1"/>
          </p:nvPr>
        </p:nvPicPr>
        <p:blipFill>
          <a:blip r:embed="rId1"/>
          <a:srcRect l="9818" t="15538" r="11014" b="17667"/>
          <a:stretch>
            <a:fillRect/>
          </a:stretch>
        </p:blipFill>
        <p:spPr>
          <a:xfrm>
            <a:off x="321945" y="1189355"/>
            <a:ext cx="11724640" cy="55619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2800" b="1">
                <a:highlight>
                  <a:srgbClr val="00FFFF"/>
                </a:highlight>
              </a:rPr>
              <a:t>Ethical Principles and Obligations</a:t>
            </a:r>
            <a:endParaRPr lang="en-US" sz="2800" b="1">
              <a:highlight>
                <a:srgbClr val="00FFFF"/>
              </a:highlight>
            </a:endParaRPr>
          </a:p>
        </p:txBody>
      </p:sp>
      <p:sp>
        <p:nvSpPr>
          <p:cNvPr id="3" name="Content Placeholder 2"/>
          <p:cNvSpPr>
            <a:spLocks noGrp="1"/>
          </p:cNvSpPr>
          <p:nvPr>
            <p:ph idx="1"/>
          </p:nvPr>
        </p:nvSpPr>
        <p:spPr/>
        <p:txBody>
          <a:bodyPr/>
          <a:p>
            <a:pPr marL="0" indent="0">
              <a:buNone/>
            </a:pPr>
            <a:r>
              <a:rPr lang="en-PH" altLang="en-US"/>
              <a:t>Types of </a:t>
            </a:r>
            <a:r>
              <a:rPr lang="en-US">
                <a:sym typeface="+mn-ea"/>
              </a:rPr>
              <a:t>Ethical Principles</a:t>
            </a:r>
            <a:endParaRPr lang="en-US"/>
          </a:p>
          <a:p>
            <a:r>
              <a:rPr lang="en-US"/>
              <a:t>Autonomy</a:t>
            </a:r>
            <a:endParaRPr lang="en-US"/>
          </a:p>
          <a:p>
            <a:r>
              <a:rPr lang="en-US"/>
              <a:t>Beneficence</a:t>
            </a:r>
            <a:endParaRPr lang="en-US"/>
          </a:p>
          <a:p>
            <a:r>
              <a:rPr lang="en-US"/>
              <a:t>Nonmaleficence</a:t>
            </a:r>
            <a:endParaRPr lang="en-US"/>
          </a:p>
          <a:p>
            <a:r>
              <a:rPr lang="en-US"/>
              <a:t>Justice</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Autonomy</a:t>
            </a:r>
            <a:endParaRPr lang="en-US"/>
          </a:p>
        </p:txBody>
      </p:sp>
      <p:sp>
        <p:nvSpPr>
          <p:cNvPr id="3" name="Content Placeholder 2"/>
          <p:cNvSpPr>
            <a:spLocks noGrp="1"/>
          </p:cNvSpPr>
          <p:nvPr>
            <p:ph idx="1"/>
          </p:nvPr>
        </p:nvSpPr>
        <p:spPr/>
        <p:txBody>
          <a:bodyPr/>
          <a:p>
            <a:r>
              <a:rPr lang="en-US" sz="2800"/>
              <a:t>The ethical principle of autonomy recognizes each individual’s right to self-determination and decision-making based on their unique values, beliefs, and preferences.</a:t>
            </a:r>
            <a:r>
              <a:rPr lang="en-PH" altLang="en-US" sz="2800"/>
              <a:t> Ex: </a:t>
            </a:r>
            <a:r>
              <a:rPr lang="en-PH" altLang="en-US" sz="2800" i="1"/>
              <a:t>The nurse’s primary ethical obligation is client autonomy. Based on autonomy, clients have the right to refuse nursing care and medical treatment.</a:t>
            </a:r>
            <a:endParaRPr lang="en-PH" altLang="en-US" sz="2800" i="1"/>
          </a:p>
        </p:txBody>
      </p:sp>
      <p:pic>
        <p:nvPicPr>
          <p:cNvPr id="100" name="Picture 99"/>
          <p:cNvPicPr/>
          <p:nvPr/>
        </p:nvPicPr>
        <p:blipFill>
          <a:blip r:embed="rId1"/>
          <a:stretch>
            <a:fillRect/>
          </a:stretch>
        </p:blipFill>
        <p:spPr>
          <a:xfrm>
            <a:off x="4610100" y="3429000"/>
            <a:ext cx="2971800" cy="299021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lgn="just">
              <a:buNone/>
            </a:pPr>
            <a:r>
              <a:rPr lang="en-PH" altLang="en-US" sz="2800"/>
              <a:t>The beneficence principle leads the decision maker to do what is right and good. This emphasis on "doing good" creates an ethical viewpoint and a possible solution to an ethical problem. Acceptable conundrum This idea is directly connected to the utility principle, which states believe we should strive to achieve the highest possible ratio of good to evil in the world. This concept states that ethical theories should try to do the best since the best benefits the most people. This concept is mostly involved concerning connected with utilitarian ethical philosophy, which will be examined further in this collection of articles.</a:t>
            </a:r>
            <a:endParaRPr lang="en-PH" altLang="en-US" sz="2800"/>
          </a:p>
        </p:txBody>
      </p:sp>
      <p:sp>
        <p:nvSpPr>
          <p:cNvPr id="4" name="Title 3"/>
          <p:cNvSpPr/>
          <p:nvPr>
            <p:ph type="title"/>
          </p:nvPr>
        </p:nvSpPr>
        <p:spPr/>
        <p:txBody>
          <a:bodyPr/>
          <a:p>
            <a:r>
              <a:rPr lang="en-PH" altLang="en-US" b="1">
                <a:sym typeface="+mn-ea"/>
              </a:rPr>
              <a:t>BENEFICIENCE</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PH" altLang="en-US" sz="2800" b="1">
                <a:sym typeface="+mn-ea"/>
              </a:rPr>
              <a:t>BENEFICIENCE</a:t>
            </a:r>
            <a:endParaRPr lang="en-US" sz="2800"/>
          </a:p>
        </p:txBody>
      </p:sp>
      <p:sp>
        <p:nvSpPr>
          <p:cNvPr id="3" name="Content Placeholder 2"/>
          <p:cNvSpPr>
            <a:spLocks noGrp="1"/>
          </p:cNvSpPr>
          <p:nvPr>
            <p:ph idx="1"/>
          </p:nvPr>
        </p:nvSpPr>
        <p:spPr/>
        <p:txBody>
          <a:bodyPr/>
          <a:p>
            <a:pPr algn="ctr"/>
            <a:endParaRPr lang="en-US"/>
          </a:p>
        </p:txBody>
      </p:sp>
      <p:pic>
        <p:nvPicPr>
          <p:cNvPr id="100" name="Picture 99"/>
          <p:cNvPicPr/>
          <p:nvPr/>
        </p:nvPicPr>
        <p:blipFill>
          <a:blip r:embed="rId1"/>
          <a:stretch>
            <a:fillRect/>
          </a:stretch>
        </p:blipFill>
        <p:spPr>
          <a:xfrm>
            <a:off x="216535" y="974725"/>
            <a:ext cx="4954905" cy="3404235"/>
          </a:xfrm>
          <a:prstGeom prst="rect">
            <a:avLst/>
          </a:prstGeom>
          <a:noFill/>
          <a:ln w="9525">
            <a:noFill/>
          </a:ln>
        </p:spPr>
      </p:pic>
      <p:pic>
        <p:nvPicPr>
          <p:cNvPr id="101" name="Picture 100"/>
          <p:cNvPicPr/>
          <p:nvPr/>
        </p:nvPicPr>
        <p:blipFill>
          <a:blip r:embed="rId2"/>
          <a:stretch>
            <a:fillRect/>
          </a:stretch>
        </p:blipFill>
        <p:spPr>
          <a:xfrm>
            <a:off x="6819900" y="974725"/>
            <a:ext cx="4762500" cy="3429000"/>
          </a:xfrm>
          <a:prstGeom prst="rect">
            <a:avLst/>
          </a:prstGeom>
          <a:noFill/>
          <a:ln w="9525">
            <a:noFill/>
          </a:ln>
        </p:spPr>
      </p:pic>
      <p:pic>
        <p:nvPicPr>
          <p:cNvPr id="102" name="Picture 101"/>
          <p:cNvPicPr/>
          <p:nvPr/>
        </p:nvPicPr>
        <p:blipFill>
          <a:blip r:embed="rId3"/>
          <a:stretch>
            <a:fillRect/>
          </a:stretch>
        </p:blipFill>
        <p:spPr>
          <a:xfrm>
            <a:off x="3423285" y="2867660"/>
            <a:ext cx="2755265" cy="3976370"/>
          </a:xfrm>
          <a:prstGeom prst="rect">
            <a:avLst/>
          </a:prstGeom>
          <a:noFill/>
          <a:ln w="9525">
            <a:noFill/>
          </a:ln>
        </p:spPr>
      </p:pic>
      <p:pic>
        <p:nvPicPr>
          <p:cNvPr id="103" name="Picture 102"/>
          <p:cNvPicPr/>
          <p:nvPr/>
        </p:nvPicPr>
        <p:blipFill>
          <a:blip r:embed="rId4"/>
          <a:stretch>
            <a:fillRect/>
          </a:stretch>
        </p:blipFill>
        <p:spPr>
          <a:xfrm>
            <a:off x="6125210" y="3429000"/>
            <a:ext cx="4201160" cy="325818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Nonmaleficence</a:t>
            </a:r>
            <a:endParaRPr lang="en-US"/>
          </a:p>
        </p:txBody>
      </p:sp>
      <p:sp>
        <p:nvSpPr>
          <p:cNvPr id="3" name="Content Placeholder 2"/>
          <p:cNvSpPr>
            <a:spLocks noGrp="1"/>
          </p:cNvSpPr>
          <p:nvPr>
            <p:ph idx="1"/>
          </p:nvPr>
        </p:nvSpPr>
        <p:spPr>
          <a:xfrm>
            <a:off x="609600" y="1174750"/>
            <a:ext cx="10972165" cy="4953000"/>
          </a:xfrm>
        </p:spPr>
        <p:txBody>
          <a:bodyPr/>
          <a:p>
            <a:pPr marL="0" indent="0" algn="just">
              <a:buNone/>
            </a:pPr>
            <a:r>
              <a:rPr lang="en-PH" altLang="en-US" sz="2800"/>
              <a:t>T</a:t>
            </a:r>
            <a:r>
              <a:rPr lang="en-US" sz="2800"/>
              <a:t>he bioethical principle that specifies a </a:t>
            </a:r>
            <a:r>
              <a:rPr lang="en-US" sz="2800">
                <a:solidFill>
                  <a:schemeClr val="tx1"/>
                </a:solidFill>
              </a:rPr>
              <a:t>duty</a:t>
            </a:r>
            <a:r>
              <a:rPr lang="en-US" sz="2800" b="1">
                <a:solidFill>
                  <a:schemeClr val="tx1"/>
                </a:solidFill>
              </a:rPr>
              <a:t> </a:t>
            </a:r>
            <a:r>
              <a:rPr lang="en-US" sz="2800">
                <a:solidFill>
                  <a:schemeClr val="tx1"/>
                </a:solidFill>
              </a:rPr>
              <a:t>to</a:t>
            </a:r>
            <a:r>
              <a:rPr lang="en-US" sz="2800" b="1">
                <a:solidFill>
                  <a:schemeClr val="tx1"/>
                </a:solidFill>
              </a:rPr>
              <a:t> </a:t>
            </a:r>
            <a:r>
              <a:rPr lang="en-US" sz="2800" b="1" i="1">
                <a:solidFill>
                  <a:srgbClr val="FF0000"/>
                </a:solidFill>
              </a:rPr>
              <a:t>do no harm</a:t>
            </a:r>
            <a:r>
              <a:rPr lang="en-US" sz="2800"/>
              <a:t> and balances avoidable harm with benefits of good achieved.”</a:t>
            </a:r>
            <a:r>
              <a:rPr lang="en-PH" altLang="en-US" sz="2800"/>
              <a:t> </a:t>
            </a:r>
            <a:r>
              <a:rPr lang="en-PH" altLang="en-US" sz="2800" i="1"/>
              <a:t>Ex: An example of doing no harm in nursing practice is reflected by nurses checking medication rights three times before administering medications. In this manner, medication errors can be avoided, and the duty to do no harm is met. </a:t>
            </a:r>
            <a:endParaRPr lang="en-PH" altLang="en-US" sz="2800" i="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Nonmaleficence</a:t>
            </a:r>
            <a:endParaRPr lang="en-US"/>
          </a:p>
        </p:txBody>
      </p:sp>
      <p:sp>
        <p:nvSpPr>
          <p:cNvPr id="3" name="Content Placeholder 2"/>
          <p:cNvSpPr>
            <a:spLocks noGrp="1"/>
          </p:cNvSpPr>
          <p:nvPr>
            <p:ph idx="1"/>
          </p:nvPr>
        </p:nvSpPr>
        <p:spPr/>
        <p:txBody>
          <a:bodyPr/>
          <a:p>
            <a:endParaRPr lang="en-US"/>
          </a:p>
        </p:txBody>
      </p:sp>
      <p:pic>
        <p:nvPicPr>
          <p:cNvPr id="101" name="Picture 100"/>
          <p:cNvPicPr/>
          <p:nvPr/>
        </p:nvPicPr>
        <p:blipFill>
          <a:blip r:embed="rId1"/>
          <a:stretch>
            <a:fillRect/>
          </a:stretch>
        </p:blipFill>
        <p:spPr>
          <a:xfrm>
            <a:off x="609600" y="1716405"/>
            <a:ext cx="4741545" cy="3710940"/>
          </a:xfrm>
          <a:prstGeom prst="rect">
            <a:avLst/>
          </a:prstGeom>
          <a:noFill/>
          <a:ln w="9525">
            <a:noFill/>
          </a:ln>
        </p:spPr>
      </p:pic>
      <p:pic>
        <p:nvPicPr>
          <p:cNvPr id="102" name="Picture 101"/>
          <p:cNvPicPr/>
          <p:nvPr/>
        </p:nvPicPr>
        <p:blipFill>
          <a:blip r:embed="rId2"/>
          <a:srcRect l="12867"/>
          <a:stretch>
            <a:fillRect/>
          </a:stretch>
        </p:blipFill>
        <p:spPr>
          <a:xfrm>
            <a:off x="5812790" y="1716405"/>
            <a:ext cx="5210175" cy="3711575"/>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PH" altLang="en-US" sz="3200" b="1"/>
              <a:t>JUSTICE</a:t>
            </a:r>
            <a:endParaRPr lang="en-PH" altLang="en-US" sz="3200" b="1"/>
          </a:p>
        </p:txBody>
      </p:sp>
      <p:sp>
        <p:nvSpPr>
          <p:cNvPr id="3" name="Content Placeholder 2"/>
          <p:cNvSpPr>
            <a:spLocks noGrp="1"/>
          </p:cNvSpPr>
          <p:nvPr>
            <p:ph idx="1"/>
          </p:nvPr>
        </p:nvSpPr>
        <p:spPr/>
        <p:txBody>
          <a:bodyPr/>
          <a:p>
            <a:pPr algn="just"/>
            <a:r>
              <a:rPr lang="en-US"/>
              <a:t>a moral obligation to act on the basis of equality and equity and a standard linked to fairness for all in society.</a:t>
            </a:r>
            <a:endParaRPr lang="en-US"/>
          </a:p>
          <a:p>
            <a:pPr algn="just"/>
            <a:r>
              <a:rPr lang="en-US"/>
              <a:t>The </a:t>
            </a:r>
            <a:r>
              <a:rPr lang="en-US" i="1"/>
              <a:t>principle of justice</a:t>
            </a:r>
            <a:r>
              <a:rPr lang="en-US"/>
              <a:t> requires health care to be provided in a fair and equitable way. Nurses provide quality care for all individuals with the same level of fairness despite many characteristics, such as the individual’s financial status, culture, religion, gender, or sexual orientation.</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lgn="ctr">
              <a:buNone/>
            </a:pPr>
            <a:endParaRPr lang="en-PH" altLang="en-US" b="1">
              <a:latin typeface="Segoe Script" panose="030B0504020000000003" charset="0"/>
              <a:cs typeface="Segoe Script" panose="030B0504020000000003" charset="0"/>
            </a:endParaRPr>
          </a:p>
          <a:p>
            <a:pPr marL="0" indent="0" algn="ctr">
              <a:buNone/>
            </a:pPr>
            <a:endParaRPr lang="en-PH" altLang="en-US" b="1">
              <a:latin typeface="Segoe Script" panose="030B0504020000000003" charset="0"/>
              <a:cs typeface="Segoe Script" panose="030B0504020000000003" charset="0"/>
            </a:endParaRPr>
          </a:p>
          <a:p>
            <a:pPr marL="0" indent="0" algn="ctr">
              <a:buNone/>
            </a:pPr>
            <a:r>
              <a:rPr lang="en-PH" altLang="en-US" sz="7200" b="1">
                <a:latin typeface="Segoe Script" panose="030B0504020000000003" charset="0"/>
                <a:cs typeface="Segoe Script" panose="030B0504020000000003" charset="0"/>
              </a:rPr>
              <a:t>POLICY VACUUM</a:t>
            </a:r>
            <a:endParaRPr lang="en-PH" altLang="en-US" sz="7200" b="1">
              <a:latin typeface="Segoe Script" panose="030B0504020000000003" charset="0"/>
              <a:cs typeface="Segoe Script" panose="030B0504020000000003"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b="1"/>
              <a:t>Policy vacuum</a:t>
            </a:r>
            <a:endParaRPr lang="en-US" b="1"/>
          </a:p>
          <a:p>
            <a:pPr algn="just"/>
            <a:r>
              <a:rPr lang="en-US"/>
              <a:t>A vacuum is defined in the Merriam-Webster dictionary as “emptiness of space” and “a space absolutely devoid of matter”</a:t>
            </a:r>
            <a:r>
              <a:rPr lang="en-PH" altLang="en-US"/>
              <a:t>. The same dictionary defines policies as “a definite course or method of action selected from among alternatives and in light of given conditions to guide and determine present and future decisions”.Often the reference to policy is really a reference to public policy. Common to definitions of public policy is that it is made and initiated by a government.</a:t>
            </a:r>
            <a:endParaRPr lang="en-PH"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b="1"/>
              <a:t>Evaluating the policy vacuum – Google Street View as an example</a:t>
            </a:r>
            <a:endParaRPr lang="en-US" b="1"/>
          </a:p>
          <a:p>
            <a:pPr marL="0" indent="0" algn="just">
              <a:buNone/>
            </a:pPr>
            <a:r>
              <a:rPr lang="en-US"/>
              <a:t>Google began offering a program called Google Maps in 2005</a:t>
            </a:r>
            <a:r>
              <a:rPr lang="en-PH" altLang="en-US"/>
              <a:t>. To enhance the information on Google Maps, Google began an experimental project called Street View to collect images and offer those images to the public. In 2007, Google provided 360-degree panoramic views of five United States cities. Five years later, Google’s experimental project has evolved to include panoramic views of public streets in all seven continents</a:t>
            </a:r>
            <a:endParaRPr lang="en-PH"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ym typeface="+mn-ea"/>
              </a:rPr>
              <a:t>Google Street View</a:t>
            </a:r>
            <a:endParaRPr lang="en-US"/>
          </a:p>
        </p:txBody>
      </p:sp>
      <p:sp>
        <p:nvSpPr>
          <p:cNvPr id="3" name="Content Placeholder 2"/>
          <p:cNvSpPr>
            <a:spLocks noGrp="1"/>
          </p:cNvSpPr>
          <p:nvPr>
            <p:ph idx="1"/>
          </p:nvPr>
        </p:nvSpPr>
        <p:spPr/>
        <p:txBody>
          <a:bodyPr/>
          <a:p>
            <a:endParaRPr lang="en-US"/>
          </a:p>
        </p:txBody>
      </p:sp>
      <p:pic>
        <p:nvPicPr>
          <p:cNvPr id="103" name="Picture 102"/>
          <p:cNvPicPr/>
          <p:nvPr/>
        </p:nvPicPr>
        <p:blipFill>
          <a:blip r:embed="rId1"/>
          <a:stretch>
            <a:fillRect/>
          </a:stretch>
        </p:blipFill>
        <p:spPr>
          <a:xfrm>
            <a:off x="2218055" y="850900"/>
            <a:ext cx="7984490" cy="569976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pic>
        <p:nvPicPr>
          <p:cNvPr id="104" name="Picture 103"/>
          <p:cNvPicPr/>
          <p:nvPr/>
        </p:nvPicPr>
        <p:blipFill>
          <a:blip r:embed="rId1"/>
          <a:stretch>
            <a:fillRect/>
          </a:stretch>
        </p:blipFill>
        <p:spPr>
          <a:xfrm>
            <a:off x="1540510" y="905510"/>
            <a:ext cx="9110980" cy="549211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pic>
        <p:nvPicPr>
          <p:cNvPr id="106" name="Picture 105"/>
          <p:cNvPicPr/>
          <p:nvPr/>
        </p:nvPicPr>
        <p:blipFill>
          <a:blip r:embed="rId1"/>
          <a:stretch>
            <a:fillRect/>
          </a:stretch>
        </p:blipFill>
        <p:spPr>
          <a:xfrm>
            <a:off x="1577340" y="544195"/>
            <a:ext cx="9036685" cy="580136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lgn="ctr">
              <a:buNone/>
            </a:pPr>
            <a:r>
              <a:rPr lang="en-PH" altLang="en-US" sz="5400"/>
              <a:t>Thank you!</a:t>
            </a:r>
            <a:endParaRPr lang="en-PH" altLang="en-US" sz="5400"/>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4479</Words>
  <Application>WPS Presentation</Application>
  <PresentationFormat>Widescreen</PresentationFormat>
  <Paragraphs>67</Paragraphs>
  <Slides>21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Arial</vt:lpstr>
      <vt:lpstr>SimSun</vt:lpstr>
      <vt:lpstr>Wingdings</vt:lpstr>
      <vt:lpstr>Microsoft YaHei</vt:lpstr>
      <vt:lpstr>Arial Unicode MS</vt:lpstr>
      <vt:lpstr>Calibri</vt:lpstr>
      <vt:lpstr>Segoe Script</vt:lpstr>
      <vt:lpstr>Blue Waves</vt:lpstr>
      <vt:lpstr>ETHICAL THEORY  AND  CONCEPT</vt:lpstr>
      <vt:lpstr>Ethical Theory</vt:lpstr>
      <vt:lpstr>DEONTOLOGY</vt:lpstr>
      <vt:lpstr>DEONTOLOGY</vt:lpstr>
      <vt:lpstr>CONSEQUENTIALISM</vt:lpstr>
      <vt:lpstr>CONSEQUENTIALISM</vt:lpstr>
      <vt:lpstr>Ethical Issues Through the Lens of Deontological or Consequential Ethical Frameworks</vt:lpstr>
      <vt:lpstr>Ethical Principles and Obligations</vt:lpstr>
      <vt:lpstr>Autonomy</vt:lpstr>
      <vt:lpstr>BENEFICIENCE</vt:lpstr>
      <vt:lpstr>BENEFICIENCE</vt:lpstr>
      <vt:lpstr>Nonmaleficence</vt:lpstr>
      <vt:lpstr>Nonmaleficence</vt:lpstr>
      <vt:lpstr>JUSTICE</vt:lpstr>
      <vt:lpstr>PowerPoint 演示文稿</vt:lpstr>
      <vt:lpstr>PowerPoint 演示文稿</vt:lpstr>
      <vt:lpstr>PowerPoint 演示文稿</vt:lpstr>
      <vt:lpstr>Google Street View</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TEORY AND CONCEPT</dc:title>
  <dc:creator/>
  <cp:lastModifiedBy>eddiecenitajr NEMSU</cp:lastModifiedBy>
  <cp:revision>142</cp:revision>
  <dcterms:created xsi:type="dcterms:W3CDTF">2024-03-13T08:23:00Z</dcterms:created>
  <dcterms:modified xsi:type="dcterms:W3CDTF">2025-01-31T06:09:34Z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8A59E7212B454CAC8C46848BE1B569D2_11</vt:lpwstr>
  </property>
  <property fmtid="{D5CDD505-2E9C-101B-9397-08002B2CF9AE}" pid="3" name="KSOProductBuildVer">
    <vt:lpwstr>1033-12.2.0.19805</vt:lpwstr>
  </property>
</Properties>
</file>