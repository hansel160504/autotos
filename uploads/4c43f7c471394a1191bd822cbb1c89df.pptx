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0"/>
  </p:notesMasterIdLst>
  <p:sldIdLst>
    <p:sldId id="256" r:id="rId2"/>
    <p:sldId id="257" r:id="rId3"/>
    <p:sldId id="292" r:id="rId4"/>
    <p:sldId id="258" r:id="rId5"/>
    <p:sldId id="293" r:id="rId6"/>
    <p:sldId id="294" r:id="rId7"/>
    <p:sldId id="295" r:id="rId8"/>
    <p:sldId id="259" r:id="rId9"/>
    <p:sldId id="260" r:id="rId10"/>
    <p:sldId id="296" r:id="rId11"/>
    <p:sldId id="297" r:id="rId12"/>
    <p:sldId id="298" r:id="rId13"/>
    <p:sldId id="299" r:id="rId14"/>
    <p:sldId id="261" r:id="rId15"/>
    <p:sldId id="262" r:id="rId16"/>
    <p:sldId id="263" r:id="rId17"/>
    <p:sldId id="300" r:id="rId18"/>
    <p:sldId id="301" r:id="rId19"/>
    <p:sldId id="302" r:id="rId20"/>
    <p:sldId id="303" r:id="rId21"/>
    <p:sldId id="304" r:id="rId22"/>
    <p:sldId id="305" r:id="rId23"/>
    <p:sldId id="306" r:id="rId24"/>
    <p:sldId id="307" r:id="rId25"/>
    <p:sldId id="308" r:id="rId26"/>
    <p:sldId id="309" r:id="rId27"/>
    <p:sldId id="310" r:id="rId28"/>
    <p:sldId id="312"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158" autoAdjust="0"/>
  </p:normalViewPr>
  <p:slideViewPr>
    <p:cSldViewPr snapToGrid="0">
      <p:cViewPr varScale="1">
        <p:scale>
          <a:sx n="124" d="100"/>
          <a:sy n="124" d="100"/>
        </p:scale>
        <p:origin x="122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imperva.com/learn/application-security/trojans/"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s://www.imperva.com/learn/application-security/rootkit/" TargetMode="External"/><Relationship Id="rId4" Type="http://schemas.openxmlformats.org/officeDocument/2006/relationships/hyperlink" Target="https://www.imperva.com/learn/application-security/ransomware/"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imperva.com/learn/application-security/trojans/"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www.imperva.com/learn/application-security/phishing-attack-scam/" TargetMode="External"/><Relationship Id="rId5" Type="http://schemas.openxmlformats.org/officeDocument/2006/relationships/hyperlink" Target="https://www.imperva.com/learn/application-security/rootkit/" TargetMode="External"/><Relationship Id="rId4" Type="http://schemas.openxmlformats.org/officeDocument/2006/relationships/hyperlink" Target="https://www.imperva.com/learn/application-security/ransomware/"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imperva.com/learn/application-security/trojans/" TargetMode="External"/><Relationship Id="rId7" Type="http://schemas.openxmlformats.org/officeDocument/2006/relationships/hyperlink" Target="https://www.imperva.com/learn/ddos/ip-spoofing/"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www.imperva.com/learn/application-security/dns-spoofing/" TargetMode="External"/><Relationship Id="rId5" Type="http://schemas.openxmlformats.org/officeDocument/2006/relationships/hyperlink" Target="https://www.imperva.com/learn/application-security/rootkit/" TargetMode="External"/><Relationship Id="rId4" Type="http://schemas.openxmlformats.org/officeDocument/2006/relationships/hyperlink" Target="https://www.imperva.com/learn/application-security/ransomware/" TargetMode="Externa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www.imperva.com/learn/ddos/udp-flood/" TargetMode="External"/><Relationship Id="rId13" Type="http://schemas.openxmlformats.org/officeDocument/2006/relationships/hyperlink" Target="https://www.imperva.com/learn/application-security/cloud-security/" TargetMode="External"/><Relationship Id="rId3" Type="http://schemas.openxmlformats.org/officeDocument/2006/relationships/hyperlink" Target="https://www.imperva.com/learn/application-security/trojans/" TargetMode="External"/><Relationship Id="rId7" Type="http://schemas.openxmlformats.org/officeDocument/2006/relationships/hyperlink" Target="https://www.imperva.com/learn/ddos/syn-flood/" TargetMode="External"/><Relationship Id="rId12" Type="http://schemas.openxmlformats.org/officeDocument/2006/relationships/hyperlink" Target="https://www.imperva.com/learn/application-security/application-security/"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www.imperva.com/learn/ddos/http-flood/" TargetMode="External"/><Relationship Id="rId11" Type="http://schemas.openxmlformats.org/officeDocument/2006/relationships/hyperlink" Target="https://www.imperva.com/learn/application-security/cyber-security-solutions/" TargetMode="External"/><Relationship Id="rId5" Type="http://schemas.openxmlformats.org/officeDocument/2006/relationships/hyperlink" Target="https://www.imperva.com/learn/application-security/rootkit/" TargetMode="External"/><Relationship Id="rId10" Type="http://schemas.openxmlformats.org/officeDocument/2006/relationships/hyperlink" Target="https://www.imperva.com/learn/ddos/ntp-amplification/" TargetMode="External"/><Relationship Id="rId4" Type="http://schemas.openxmlformats.org/officeDocument/2006/relationships/hyperlink" Target="https://www.imperva.com/learn/application-security/ransomware/" TargetMode="External"/><Relationship Id="rId9" Type="http://schemas.openxmlformats.org/officeDocument/2006/relationships/hyperlink" Target="https://www.imperva.com/learn/ddos/ping-icmp-flood/" TargetMode="External"/><Relationship Id="rId14" Type="http://schemas.openxmlformats.org/officeDocument/2006/relationships/hyperlink" Target="https://www.imperva.com/learn/application-security/iot-internet-of-things-security/" TargetMode="Externa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s://www.imperva.com/learn/ddos/udp-flood/" TargetMode="External"/><Relationship Id="rId13" Type="http://schemas.openxmlformats.org/officeDocument/2006/relationships/hyperlink" Target="https://www.imperva.com/learn/application-security/cross-site-scripting-xss-attacks/" TargetMode="External"/><Relationship Id="rId3" Type="http://schemas.openxmlformats.org/officeDocument/2006/relationships/hyperlink" Target="https://www.imperva.com/learn/application-security/trojans/" TargetMode="External"/><Relationship Id="rId7" Type="http://schemas.openxmlformats.org/officeDocument/2006/relationships/hyperlink" Target="https://www.imperva.com/learn/ddos/syn-flood/" TargetMode="External"/><Relationship Id="rId12" Type="http://schemas.openxmlformats.org/officeDocument/2006/relationships/hyperlink" Target="https://www.imperva.com/learn/application-security/command-injection/"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www.imperva.com/learn/ddos/http-flood/" TargetMode="External"/><Relationship Id="rId11" Type="http://schemas.openxmlformats.org/officeDocument/2006/relationships/hyperlink" Target="https://www.imperva.com/learn/application-security/sql-injection-sqli/" TargetMode="External"/><Relationship Id="rId5" Type="http://schemas.openxmlformats.org/officeDocument/2006/relationships/hyperlink" Target="https://www.imperva.com/learn/application-security/rootkit/" TargetMode="External"/><Relationship Id="rId10" Type="http://schemas.openxmlformats.org/officeDocument/2006/relationships/hyperlink" Target="https://www.imperva.com/learn/ddos/ntp-amplification/" TargetMode="External"/><Relationship Id="rId4" Type="http://schemas.openxmlformats.org/officeDocument/2006/relationships/hyperlink" Target="https://www.imperva.com/learn/application-security/ransomware/" TargetMode="External"/><Relationship Id="rId9" Type="http://schemas.openxmlformats.org/officeDocument/2006/relationships/hyperlink" Target="https://www.imperva.com/learn/ddos/ping-icmp-flood/"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checkpoint.com/cyber-hub/network-security/what-is-vulnerability-scanning/"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www.checkpoint.com/cyber-hub/network-security/what-is-the-principle-of-least-privilege-polp/"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checkpoint.com/cyber-hub/network-security/what-is-vulnerability-scanning/"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www.checkpoint.com/cyber-hub/network-security/what-is-the-principle-of-least-privilege-polp/"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checkpoint.com/cyber-hub/network-security/what-is-vulnerability-scanning/"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www.checkpoint.com/cyber-hub/network-security/what-is-the-principle-of-least-privilege-polp/"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checkpoint.com/cyber-hub/network-security/what-is-vulnerability-scanning/"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www.checkpoint.com/cyber-hub/network-security/what-is-the-principle-of-least-privilege-polp/" TargetMode="External"/></Relationships>
</file>

<file path=ppt/notesSlides/_rels/notesSlide23.xml.rels><?xml version="1.0" encoding="UTF-8" standalone="yes"?>
<Relationships xmlns="http://schemas.openxmlformats.org/package/2006/relationships"><Relationship Id="rId8" Type="http://schemas.openxmlformats.org/officeDocument/2006/relationships/hyperlink" Target="https://www.fortinet.com/resources/cyberglossary/social-engineering" TargetMode="External"/><Relationship Id="rId13" Type="http://schemas.openxmlformats.org/officeDocument/2006/relationships/hyperlink" Target="https://www.fortinet.com/resources/cyberglossary/login-credentials" TargetMode="External"/><Relationship Id="rId18" Type="http://schemas.openxmlformats.org/officeDocument/2006/relationships/hyperlink" Target="https://www.fortinet.com/resources/cyberglossary/csrf" TargetMode="External"/><Relationship Id="rId3" Type="http://schemas.openxmlformats.org/officeDocument/2006/relationships/hyperlink" Target="https://www.fortinet.com/resources/cyberglossary/dos-vs-ddos" TargetMode="External"/><Relationship Id="rId21" Type="http://schemas.openxmlformats.org/officeDocument/2006/relationships/hyperlink" Target="https://www.fortinet.com/resources/cyberglossary/trojan-horse-virus" TargetMode="External"/><Relationship Id="rId7" Type="http://schemas.openxmlformats.org/officeDocument/2006/relationships/hyperlink" Target="https://www.fortinet.com/resources/cyberglossary/phishing" TargetMode="External"/><Relationship Id="rId12" Type="http://schemas.openxmlformats.org/officeDocument/2006/relationships/hyperlink" Target="https://www.fortinet.com/resources/cyberglossary/sql-injection" TargetMode="External"/><Relationship Id="rId17" Type="http://schemas.openxmlformats.org/officeDocument/2006/relationships/hyperlink" Target="https://www.fortinet.com/resources/cyberglossary/cross-site-scripting" TargetMode="External"/><Relationship Id="rId2" Type="http://schemas.openxmlformats.org/officeDocument/2006/relationships/slide" Target="../slides/slide23.xml"/><Relationship Id="rId16" Type="http://schemas.openxmlformats.org/officeDocument/2006/relationships/hyperlink" Target="https://www.fortinet.com/resources/cyberglossary/bot" TargetMode="External"/><Relationship Id="rId20" Type="http://schemas.openxmlformats.org/officeDocument/2006/relationships/hyperlink" Target="https://www.fortinet.com/resources/cyberglossary/insider-threats" TargetMode="External"/><Relationship Id="rId1" Type="http://schemas.openxmlformats.org/officeDocument/2006/relationships/notesMaster" Target="../notesMasters/notesMaster1.xml"/><Relationship Id="rId6" Type="http://schemas.openxmlformats.org/officeDocument/2006/relationships/hyperlink" Target="https://www.fortinet.com/resources/cyberglossary/man-in-the-middle-attack" TargetMode="External"/><Relationship Id="rId11" Type="http://schemas.openxmlformats.org/officeDocument/2006/relationships/hyperlink" Target="https://www.fortinet.com/resources/cyberglossary/artificial-intelligence-in-cybersecurity" TargetMode="External"/><Relationship Id="rId5" Type="http://schemas.openxmlformats.org/officeDocument/2006/relationships/hyperlink" Target="https://www.fortinet.com/resources/cyberglossary/cybersecurity" TargetMode="External"/><Relationship Id="rId15" Type="http://schemas.openxmlformats.org/officeDocument/2006/relationships/hyperlink" Target="https://www.fortinet.com/resources/cyberglossary/brute-force-attack" TargetMode="External"/><Relationship Id="rId10" Type="http://schemas.openxmlformats.org/officeDocument/2006/relationships/hyperlink" Target="https://www.fortinet.com/resources/cyberglossary/ransomware" TargetMode="External"/><Relationship Id="rId19" Type="http://schemas.openxmlformats.org/officeDocument/2006/relationships/hyperlink" Target="https://www.fortinet.com/resources/cyberglossary/what-is-cybersecurity" TargetMode="External"/><Relationship Id="rId4" Type="http://schemas.openxmlformats.org/officeDocument/2006/relationships/hyperlink" Target="https://www.fortinet.com/resources/cyberglossary/ddos-attack" TargetMode="External"/><Relationship Id="rId9" Type="http://schemas.openxmlformats.org/officeDocument/2006/relationships/hyperlink" Target="https://www.fortinet.com/resources/cyberglossary/spear-phishing" TargetMode="External"/><Relationship Id="rId14" Type="http://schemas.openxmlformats.org/officeDocument/2006/relationships/hyperlink" Target="https://www.fortinet.com/resources/cyberglossary/what-is-dns" TargetMode="External"/><Relationship Id="rId22" Type="http://schemas.openxmlformats.org/officeDocument/2006/relationships/hyperlink" Target="https://www.fortinet.com/resources/cyberglossary/malware"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checkpoint.com/cyber-hub/network-security/what-is-vulnerability-scanning/"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www.checkpoint.com/cyber-hub/network-security/what-is-the-principle-of-least-privilege-polp/"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checkpoint.com/cyber-hub/network-security/what-is-vulnerability-scanning/"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www.checkpoint.com/cyber-hub/network-security/what-is-the-principle-of-least-privilege-polp/" TargetMode="Externa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ww.checkpoint.com/cyber-hub/network-security/what-is-vulnerability-scanning/"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www.checkpoint.com/cyber-hub/network-security/what-is-the-principle-of-least-privilege-polp/"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fortinet.com/resources/cyberglossary/spear-phishing"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fortinet.com/resources/cyberglossary/what-is-dns"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5"/>
        <p:cNvGrpSpPr/>
        <p:nvPr/>
      </p:nvGrpSpPr>
      <p:grpSpPr>
        <a:xfrm>
          <a:off x="0" y="0"/>
          <a:ext cx="0" cy="0"/>
          <a:chOff x="0" y="0"/>
          <a:chExt cx="0" cy="0"/>
        </a:xfrm>
      </p:grpSpPr>
      <p:sp>
        <p:nvSpPr>
          <p:cNvPr id="3086" name="Google Shape;308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7" name="Google Shape;308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5"/>
        <p:cNvGrpSpPr/>
        <p:nvPr/>
      </p:nvGrpSpPr>
      <p:grpSpPr>
        <a:xfrm>
          <a:off x="0" y="0"/>
          <a:ext cx="0" cy="0"/>
          <a:chOff x="0" y="0"/>
          <a:chExt cx="0" cy="0"/>
        </a:xfrm>
      </p:grpSpPr>
      <p:sp>
        <p:nvSpPr>
          <p:cNvPr id="3156" name="Google Shape;3156;g11bc263f50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7" name="Google Shape;3157;g11bc263f5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4E4F5F"/>
                </a:solidFill>
                <a:effectLst/>
                <a:latin typeface="Open Sans" panose="020B0606030504020204" pitchFamily="34" charset="0"/>
              </a:rPr>
              <a:t>As we are now more dependent on technology then ever, it is important to understand the risks of cyber threats, to both business and individuals, and take measures to protect against cyber threats.</a:t>
            </a:r>
          </a:p>
          <a:p>
            <a:pPr marL="0" lvl="0" indent="0" algn="l" rtl="0">
              <a:spcBef>
                <a:spcPts val="0"/>
              </a:spcBef>
              <a:spcAft>
                <a:spcPts val="0"/>
              </a:spcAft>
              <a:buNone/>
            </a:pPr>
            <a:endParaRPr lang="en-US" b="0" i="0" dirty="0">
              <a:solidFill>
                <a:srgbClr val="4E4F5F"/>
              </a:solidFill>
              <a:effectLst/>
              <a:latin typeface="Open Sans" panose="020B0606030504020204" pitchFamily="34" charset="0"/>
            </a:endParaRPr>
          </a:p>
          <a:p>
            <a:pPr marL="0" lvl="0" indent="0" algn="l" rtl="0">
              <a:spcBef>
                <a:spcPts val="0"/>
              </a:spcBef>
              <a:spcAft>
                <a:spcPts val="0"/>
              </a:spcAft>
              <a:buNone/>
            </a:pPr>
            <a:r>
              <a:rPr lang="en-US" b="0" i="0" dirty="0">
                <a:solidFill>
                  <a:srgbClr val="000000"/>
                </a:solidFill>
                <a:effectLst/>
                <a:latin typeface="Inter"/>
              </a:rPr>
              <a:t>Cyber threats can originate from a variety of sources,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7"/>
        <p:cNvGrpSpPr/>
        <p:nvPr/>
      </p:nvGrpSpPr>
      <p:grpSpPr>
        <a:xfrm>
          <a:off x="0" y="0"/>
          <a:ext cx="0" cy="0"/>
          <a:chOff x="0" y="0"/>
          <a:chExt cx="0" cy="0"/>
        </a:xfrm>
      </p:grpSpPr>
      <p:sp>
        <p:nvSpPr>
          <p:cNvPr id="3178" name="Google Shape;3178;g11bc263f50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9" name="Google Shape;3179;g11bc263f50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00000"/>
                </a:solidFill>
                <a:effectLst/>
                <a:latin typeface="Inter"/>
              </a:rPr>
              <a:t>Here are several common sources of cyber threats against organizations:</a:t>
            </a:r>
          </a:p>
          <a:p>
            <a:pPr marL="0" lvl="0" indent="0" algn="l" rtl="0">
              <a:spcBef>
                <a:spcPts val="0"/>
              </a:spcBef>
              <a:spcAft>
                <a:spcPts val="0"/>
              </a:spcAft>
              <a:buNone/>
            </a:pPr>
            <a:endParaRPr lang="en-US" b="0" i="0" dirty="0">
              <a:solidFill>
                <a:srgbClr val="000000"/>
              </a:solidFill>
              <a:effectLst/>
              <a:latin typeface="Inter"/>
            </a:endParaRP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7"/>
        <p:cNvGrpSpPr/>
        <p:nvPr/>
      </p:nvGrpSpPr>
      <p:grpSpPr>
        <a:xfrm>
          <a:off x="0" y="0"/>
          <a:ext cx="0" cy="0"/>
          <a:chOff x="0" y="0"/>
          <a:chExt cx="0" cy="0"/>
        </a:xfrm>
      </p:grpSpPr>
      <p:sp>
        <p:nvSpPr>
          <p:cNvPr id="3178" name="Google Shape;3178;g11bc263f50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9" name="Google Shape;3179;g11bc263f50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00000"/>
                </a:solidFill>
                <a:effectLst/>
                <a:latin typeface="Inter"/>
              </a:rPr>
              <a:t>Here are several common sources of cyber threats against organizations:</a:t>
            </a:r>
          </a:p>
          <a:p>
            <a:pPr marL="0" lvl="0" indent="0" algn="l" rtl="0">
              <a:spcBef>
                <a:spcPts val="0"/>
              </a:spcBef>
              <a:spcAft>
                <a:spcPts val="0"/>
              </a:spcAft>
              <a:buNone/>
            </a:pPr>
            <a:endParaRPr lang="en-US" b="0" i="0" dirty="0">
              <a:solidFill>
                <a:srgbClr val="000000"/>
              </a:solidFill>
              <a:effectLst/>
              <a:latin typeface="Inter"/>
            </a:endParaRP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7"/>
        <p:cNvGrpSpPr/>
        <p:nvPr/>
      </p:nvGrpSpPr>
      <p:grpSpPr>
        <a:xfrm>
          <a:off x="0" y="0"/>
          <a:ext cx="0" cy="0"/>
          <a:chOff x="0" y="0"/>
          <a:chExt cx="0" cy="0"/>
        </a:xfrm>
      </p:grpSpPr>
      <p:sp>
        <p:nvSpPr>
          <p:cNvPr id="3178" name="Google Shape;3178;g11bc263f50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9" name="Google Shape;3179;g11bc263f50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00000"/>
                </a:solidFill>
                <a:effectLst/>
                <a:latin typeface="Inter"/>
              </a:rPr>
              <a:t>Here are several common sources of cyber threats against organizations:</a:t>
            </a:r>
          </a:p>
          <a:p>
            <a:pPr marL="0" lvl="0" indent="0" algn="l" rtl="0">
              <a:spcBef>
                <a:spcPts val="0"/>
              </a:spcBef>
              <a:spcAft>
                <a:spcPts val="0"/>
              </a:spcAft>
              <a:buNone/>
            </a:pPr>
            <a:endParaRPr lang="en-US" b="0" i="0" dirty="0">
              <a:solidFill>
                <a:srgbClr val="000000"/>
              </a:solidFill>
              <a:effectLst/>
              <a:latin typeface="Inter"/>
            </a:endParaRP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7"/>
        <p:cNvGrpSpPr/>
        <p:nvPr/>
      </p:nvGrpSpPr>
      <p:grpSpPr>
        <a:xfrm>
          <a:off x="0" y="0"/>
          <a:ext cx="0" cy="0"/>
          <a:chOff x="0" y="0"/>
          <a:chExt cx="0" cy="0"/>
        </a:xfrm>
      </p:grpSpPr>
      <p:sp>
        <p:nvSpPr>
          <p:cNvPr id="3178" name="Google Shape;3178;g11bc263f50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9" name="Google Shape;3179;g11bc263f50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00000"/>
                </a:solidFill>
                <a:effectLst/>
                <a:latin typeface="Inter"/>
              </a:rPr>
              <a:t>Here are several common sources of cyber threats against organizations:</a:t>
            </a:r>
          </a:p>
          <a:p>
            <a:pPr marL="0" lvl="0" indent="0" algn="l" rtl="0">
              <a:spcBef>
                <a:spcPts val="0"/>
              </a:spcBef>
              <a:spcAft>
                <a:spcPts val="0"/>
              </a:spcAft>
              <a:buNone/>
            </a:pPr>
            <a:endParaRPr lang="en-US" b="0" i="0" dirty="0">
              <a:solidFill>
                <a:srgbClr val="000000"/>
              </a:solidFill>
              <a:effectLst/>
              <a:latin typeface="Inter"/>
            </a:endParaRP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7"/>
        <p:cNvGrpSpPr/>
        <p:nvPr/>
      </p:nvGrpSpPr>
      <p:grpSpPr>
        <a:xfrm>
          <a:off x="0" y="0"/>
          <a:ext cx="0" cy="0"/>
          <a:chOff x="0" y="0"/>
          <a:chExt cx="0" cy="0"/>
        </a:xfrm>
      </p:grpSpPr>
      <p:sp>
        <p:nvSpPr>
          <p:cNvPr id="3178" name="Google Shape;3178;g11bc263f50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9" name="Google Shape;3179;g11bc263f50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00000"/>
                </a:solidFill>
                <a:effectLst/>
                <a:latin typeface="Inter"/>
              </a:rPr>
              <a:t>Here are several common sources of cyber threats against organizations:</a:t>
            </a:r>
          </a:p>
          <a:p>
            <a:pPr marL="0" lvl="0" indent="0" algn="l" rtl="0">
              <a:spcBef>
                <a:spcPts val="0"/>
              </a:spcBef>
              <a:spcAft>
                <a:spcPts val="0"/>
              </a:spcAft>
              <a:buNone/>
            </a:pPr>
            <a:endParaRPr lang="en-US" b="0" i="0" dirty="0">
              <a:solidFill>
                <a:srgbClr val="000000"/>
              </a:solidFill>
              <a:effectLst/>
              <a:latin typeface="Inter"/>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lang="en-US" b="1" i="0" dirty="0">
                <a:solidFill>
                  <a:srgbClr val="000000"/>
                </a:solidFill>
                <a:effectLst/>
                <a:latin typeface="Inter"/>
              </a:rPr>
              <a:t>Malicious insiders</a:t>
            </a:r>
            <a:r>
              <a:rPr lang="en-US" b="0" i="0" dirty="0">
                <a:solidFill>
                  <a:srgbClr val="000000"/>
                </a:solidFill>
                <a:effectLst/>
                <a:latin typeface="Inter"/>
              </a:rPr>
              <a:t>—an employee who has legitimate access to company assets, and abuses their privileges to steal information or damage computing systems for economic or personal gain. Insiders may be employees, contractors, suppliers, or partners of the target organization. They can also be outsiders who have compromised a privileged account and are impersonating its owner.</a:t>
            </a: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8"/>
        <p:cNvGrpSpPr/>
        <p:nvPr/>
      </p:nvGrpSpPr>
      <p:grpSpPr>
        <a:xfrm>
          <a:off x="0" y="0"/>
          <a:ext cx="0" cy="0"/>
          <a:chOff x="0" y="0"/>
          <a:chExt cx="0" cy="0"/>
        </a:xfrm>
      </p:grpSpPr>
      <p:sp>
        <p:nvSpPr>
          <p:cNvPr id="3199" name="Google Shape;3199;g11bc263f502_0_1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0" name="Google Shape;3200;g11bc263f502_0_1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0"/>
        <p:cNvGrpSpPr/>
        <p:nvPr/>
      </p:nvGrpSpPr>
      <p:grpSpPr>
        <a:xfrm>
          <a:off x="0" y="0"/>
          <a:ext cx="0" cy="0"/>
          <a:chOff x="0" y="0"/>
          <a:chExt cx="0" cy="0"/>
        </a:xfrm>
      </p:grpSpPr>
      <p:sp>
        <p:nvSpPr>
          <p:cNvPr id="3301" name="Google Shape;3301;g11bc263f502_0_1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2" name="Google Shape;3302;g11bc263f502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00000"/>
                </a:solidFill>
                <a:effectLst/>
                <a:latin typeface="Inter"/>
              </a:rPr>
              <a:t>Here are some of the main types of malware attacks:</a:t>
            </a:r>
          </a:p>
          <a:p>
            <a:pPr algn="l">
              <a:buFont typeface="Arial" panose="020B0604020202020204" pitchFamily="34" charset="0"/>
              <a:buChar char="•"/>
            </a:pPr>
            <a:r>
              <a:rPr lang="en-US" b="1" i="0" dirty="0">
                <a:solidFill>
                  <a:srgbClr val="000000"/>
                </a:solidFill>
                <a:effectLst/>
                <a:latin typeface="Inter"/>
              </a:rPr>
              <a:t>Viruses—</a:t>
            </a:r>
            <a:r>
              <a:rPr lang="en-US" b="0" i="0" dirty="0">
                <a:solidFill>
                  <a:srgbClr val="000000"/>
                </a:solidFill>
                <a:effectLst/>
                <a:latin typeface="Inter"/>
              </a:rPr>
              <a:t>a piece of code injects itself into an application. When the application runs, the malicious code executes.</a:t>
            </a:r>
          </a:p>
          <a:p>
            <a:pPr algn="l">
              <a:buFont typeface="Arial" panose="020B0604020202020204" pitchFamily="34" charset="0"/>
              <a:buChar char="•"/>
            </a:pPr>
            <a:r>
              <a:rPr lang="en-US" b="1" i="0" dirty="0">
                <a:solidFill>
                  <a:srgbClr val="000000"/>
                </a:solidFill>
                <a:effectLst/>
                <a:latin typeface="Inter"/>
              </a:rPr>
              <a:t>Worms—</a:t>
            </a:r>
            <a:r>
              <a:rPr lang="en-US" b="0" i="0" dirty="0">
                <a:solidFill>
                  <a:srgbClr val="000000"/>
                </a:solidFill>
                <a:effectLst/>
                <a:latin typeface="Inter"/>
              </a:rPr>
              <a:t>malware that exploits software vulnerabilities and backdoors to gain access to an operating system. Once installed in the network, the worm can carry out attacks such as distributed denial of service (DDoS).</a:t>
            </a:r>
          </a:p>
          <a:p>
            <a:pPr algn="l">
              <a:buFont typeface="Arial" panose="020B0604020202020204" pitchFamily="34" charset="0"/>
              <a:buChar char="•"/>
            </a:pPr>
            <a:r>
              <a:rPr lang="en-US" b="1" i="0" u="none" strike="noStrike" dirty="0">
                <a:solidFill>
                  <a:srgbClr val="285AE6"/>
                </a:solidFill>
                <a:effectLst/>
                <a:latin typeface="Inter"/>
                <a:hlinkClick r:id="rId3"/>
              </a:rPr>
              <a:t>Trojans</a:t>
            </a:r>
            <a:r>
              <a:rPr lang="en-US" b="1" i="0" dirty="0">
                <a:solidFill>
                  <a:srgbClr val="000000"/>
                </a:solidFill>
                <a:effectLst/>
                <a:latin typeface="Inter"/>
              </a:rPr>
              <a:t>—</a:t>
            </a:r>
            <a:r>
              <a:rPr lang="en-US" b="0" i="0" dirty="0">
                <a:solidFill>
                  <a:srgbClr val="000000"/>
                </a:solidFill>
                <a:effectLst/>
                <a:latin typeface="Inter"/>
              </a:rPr>
              <a:t>malicious code or software that poses as an innocent program, hiding in apps, games or email attachments. An unsuspecting user downloads the trojan, allowing it to gain control of their device.</a:t>
            </a:r>
          </a:p>
          <a:p>
            <a:pPr algn="l">
              <a:buFont typeface="Arial" panose="020B0604020202020204" pitchFamily="34" charset="0"/>
              <a:buChar char="•"/>
            </a:pPr>
            <a:r>
              <a:rPr lang="en-US" b="1" i="0" u="none" strike="noStrike" dirty="0">
                <a:solidFill>
                  <a:srgbClr val="285AE6"/>
                </a:solidFill>
                <a:effectLst/>
                <a:latin typeface="Inter"/>
                <a:hlinkClick r:id="rId4"/>
              </a:rPr>
              <a:t>Ransomware</a:t>
            </a:r>
            <a:r>
              <a:rPr lang="en-US" b="1" i="0" dirty="0">
                <a:solidFill>
                  <a:srgbClr val="000000"/>
                </a:solidFill>
                <a:effectLst/>
                <a:latin typeface="Inter"/>
              </a:rPr>
              <a:t>—</a:t>
            </a:r>
            <a:r>
              <a:rPr lang="en-US" b="0" i="0" dirty="0">
                <a:solidFill>
                  <a:srgbClr val="000000"/>
                </a:solidFill>
                <a:effectLst/>
                <a:latin typeface="Inter"/>
              </a:rPr>
              <a:t>a user or organization is denied access to their own systems or data via encryption. The attacker typically demands a ransom be paid in exchange for a decryption key to restore access, but there is no guarantee that paying the ransom will actually restore full access or functionality.</a:t>
            </a:r>
          </a:p>
          <a:p>
            <a:pPr algn="l">
              <a:buFont typeface="Arial" panose="020B0604020202020204" pitchFamily="34" charset="0"/>
              <a:buChar char="•"/>
            </a:pPr>
            <a:r>
              <a:rPr lang="en-US" b="1" i="0" dirty="0">
                <a:solidFill>
                  <a:srgbClr val="000000"/>
                </a:solidFill>
                <a:effectLst/>
                <a:latin typeface="Inter"/>
              </a:rPr>
              <a:t>Cryptojacking</a:t>
            </a:r>
            <a:r>
              <a:rPr lang="en-US" b="0" i="0" dirty="0">
                <a:solidFill>
                  <a:srgbClr val="000000"/>
                </a:solidFill>
                <a:effectLst/>
                <a:latin typeface="Inter"/>
              </a:rPr>
              <a:t>—attackers deploy software on a victim’s device, and begin using their computing resources to generate cryptocurrency, without their knowledge. Affected systems can become slow and cryptojacking kits can affect system stability.</a:t>
            </a:r>
          </a:p>
          <a:p>
            <a:pPr algn="l">
              <a:buFont typeface="Arial" panose="020B0604020202020204" pitchFamily="34" charset="0"/>
              <a:buChar char="•"/>
            </a:pPr>
            <a:r>
              <a:rPr lang="en-US" b="1" i="0" dirty="0">
                <a:solidFill>
                  <a:srgbClr val="000000"/>
                </a:solidFill>
                <a:effectLst/>
                <a:latin typeface="Inter"/>
              </a:rPr>
              <a:t>Spyware</a:t>
            </a:r>
            <a:r>
              <a:rPr lang="en-US" b="0" i="0" dirty="0">
                <a:solidFill>
                  <a:srgbClr val="000000"/>
                </a:solidFill>
                <a:effectLst/>
                <a:latin typeface="Inter"/>
              </a:rPr>
              <a:t>—a malicious actor gains access to an unsuspecting user’s data, including sensitive information such as passwords and payment details. Spyware can affect desktop browsers, mobile phones and desktop applications.</a:t>
            </a:r>
          </a:p>
          <a:p>
            <a:pPr algn="l">
              <a:buFont typeface="Arial" panose="020B0604020202020204" pitchFamily="34" charset="0"/>
              <a:buChar char="•"/>
            </a:pPr>
            <a:r>
              <a:rPr lang="en-US" b="1" i="0" dirty="0">
                <a:solidFill>
                  <a:srgbClr val="000000"/>
                </a:solidFill>
                <a:effectLst/>
                <a:latin typeface="Inter"/>
              </a:rPr>
              <a:t>Adware—</a:t>
            </a:r>
            <a:r>
              <a:rPr lang="en-US" b="0" i="0" dirty="0">
                <a:solidFill>
                  <a:srgbClr val="000000"/>
                </a:solidFill>
                <a:effectLst/>
                <a:latin typeface="Inter"/>
              </a:rPr>
              <a:t>a user’s browsing activity is tracked to determine behavior patterns and interests, allowing advertisers to send the user targeted advertising. Adware is related to spyware but does not involve installing software on the user’s device and is not necessarily used for malicious purposes, but it can be used without the user’s consent and compromise their privacy.</a:t>
            </a:r>
          </a:p>
          <a:p>
            <a:pPr algn="l">
              <a:buFont typeface="Arial" panose="020B0604020202020204" pitchFamily="34" charset="0"/>
              <a:buChar char="•"/>
            </a:pPr>
            <a:r>
              <a:rPr lang="en-US" b="1" i="0" dirty="0">
                <a:solidFill>
                  <a:srgbClr val="000000"/>
                </a:solidFill>
                <a:effectLst/>
                <a:latin typeface="Inter"/>
              </a:rPr>
              <a:t>Fileless malware</a:t>
            </a:r>
            <a:r>
              <a:rPr lang="en-US" b="0" i="0" dirty="0">
                <a:solidFill>
                  <a:srgbClr val="000000"/>
                </a:solidFill>
                <a:effectLst/>
                <a:latin typeface="Inter"/>
              </a:rPr>
              <a:t>—no software is installed on the operating system. Native files like WMI and PowerShell are edited to enable malicious functions. This stealthy form of attack is difficult to detect (antivirus can’t identify it), because the compromised files are recognized as legitimate.</a:t>
            </a:r>
          </a:p>
          <a:p>
            <a:pPr algn="l">
              <a:buFont typeface="Arial" panose="020B0604020202020204" pitchFamily="34" charset="0"/>
              <a:buChar char="•"/>
            </a:pPr>
            <a:r>
              <a:rPr lang="en-US" b="1" i="0" u="none" strike="noStrike" dirty="0">
                <a:solidFill>
                  <a:srgbClr val="285AE6"/>
                </a:solidFill>
                <a:effectLst/>
                <a:latin typeface="Inter"/>
                <a:hlinkClick r:id="rId5"/>
              </a:rPr>
              <a:t>Rootkits</a:t>
            </a:r>
            <a:r>
              <a:rPr lang="en-US" b="1" i="0" dirty="0">
                <a:solidFill>
                  <a:srgbClr val="000000"/>
                </a:solidFill>
                <a:effectLst/>
                <a:latin typeface="Inter"/>
              </a:rPr>
              <a:t>—</a:t>
            </a:r>
            <a:r>
              <a:rPr lang="en-US" b="0" i="0" dirty="0">
                <a:solidFill>
                  <a:srgbClr val="000000"/>
                </a:solidFill>
                <a:effectLst/>
                <a:latin typeface="Inter"/>
              </a:rPr>
              <a:t>software is injected into applications, firmware, operating system kernels or hypervisors, providing remote administrative access to a computer. The attacker can start the operating system within a compromised environment, gain complete control of the computer and deliver additional malware.</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0"/>
        <p:cNvGrpSpPr/>
        <p:nvPr/>
      </p:nvGrpSpPr>
      <p:grpSpPr>
        <a:xfrm>
          <a:off x="0" y="0"/>
          <a:ext cx="0" cy="0"/>
          <a:chOff x="0" y="0"/>
          <a:chExt cx="0" cy="0"/>
        </a:xfrm>
      </p:grpSpPr>
      <p:sp>
        <p:nvSpPr>
          <p:cNvPr id="3301" name="Google Shape;3301;g11bc263f502_0_1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2" name="Google Shape;3302;g11bc263f502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00000"/>
                </a:solidFill>
                <a:effectLst/>
                <a:latin typeface="Inter"/>
              </a:rPr>
              <a:t>Here are some of the main types of malware attacks:</a:t>
            </a:r>
          </a:p>
          <a:p>
            <a:pPr algn="l">
              <a:buFont typeface="Arial" panose="020B0604020202020204" pitchFamily="34" charset="0"/>
              <a:buChar char="•"/>
            </a:pPr>
            <a:r>
              <a:rPr lang="en-US" b="1" i="0" dirty="0">
                <a:solidFill>
                  <a:srgbClr val="000000"/>
                </a:solidFill>
                <a:effectLst/>
                <a:latin typeface="Inter"/>
              </a:rPr>
              <a:t>Viruses—</a:t>
            </a:r>
            <a:r>
              <a:rPr lang="en-US" b="0" i="0" dirty="0">
                <a:solidFill>
                  <a:srgbClr val="000000"/>
                </a:solidFill>
                <a:effectLst/>
                <a:latin typeface="Inter"/>
              </a:rPr>
              <a:t>a piece of code injects itself into an application. When the application runs, the malicious code executes.</a:t>
            </a:r>
          </a:p>
          <a:p>
            <a:pPr algn="l">
              <a:buFont typeface="Arial" panose="020B0604020202020204" pitchFamily="34" charset="0"/>
              <a:buChar char="•"/>
            </a:pPr>
            <a:r>
              <a:rPr lang="en-US" b="1" i="0" dirty="0">
                <a:solidFill>
                  <a:srgbClr val="000000"/>
                </a:solidFill>
                <a:effectLst/>
                <a:latin typeface="Inter"/>
              </a:rPr>
              <a:t>Worms—</a:t>
            </a:r>
            <a:r>
              <a:rPr lang="en-US" b="0" i="0" dirty="0">
                <a:solidFill>
                  <a:srgbClr val="000000"/>
                </a:solidFill>
                <a:effectLst/>
                <a:latin typeface="Inter"/>
              </a:rPr>
              <a:t>malware that exploits software vulnerabilities and backdoors to gain access to an operating system. Once installed in the network, the worm can carry out attacks such as distributed denial of service (DDoS).</a:t>
            </a:r>
          </a:p>
          <a:p>
            <a:pPr algn="l">
              <a:buFont typeface="Arial" panose="020B0604020202020204" pitchFamily="34" charset="0"/>
              <a:buChar char="•"/>
            </a:pPr>
            <a:r>
              <a:rPr lang="en-US" b="1" i="0" u="none" strike="noStrike" dirty="0">
                <a:solidFill>
                  <a:srgbClr val="285AE6"/>
                </a:solidFill>
                <a:effectLst/>
                <a:latin typeface="Inter"/>
                <a:hlinkClick r:id="rId3"/>
              </a:rPr>
              <a:t>Trojans</a:t>
            </a:r>
            <a:r>
              <a:rPr lang="en-US" b="1" i="0" dirty="0">
                <a:solidFill>
                  <a:srgbClr val="000000"/>
                </a:solidFill>
                <a:effectLst/>
                <a:latin typeface="Inter"/>
              </a:rPr>
              <a:t>—</a:t>
            </a:r>
            <a:r>
              <a:rPr lang="en-US" b="0" i="0" dirty="0">
                <a:solidFill>
                  <a:srgbClr val="000000"/>
                </a:solidFill>
                <a:effectLst/>
                <a:latin typeface="Inter"/>
              </a:rPr>
              <a:t>malicious code or software that poses as an innocent program, hiding in apps, games or email attachments. An unsuspecting user downloads the trojan, allowing it to gain control of their device.</a:t>
            </a:r>
          </a:p>
          <a:p>
            <a:pPr algn="l">
              <a:buFont typeface="Arial" panose="020B0604020202020204" pitchFamily="34" charset="0"/>
              <a:buChar char="•"/>
            </a:pPr>
            <a:r>
              <a:rPr lang="en-US" b="1" i="0" u="none" strike="noStrike" dirty="0">
                <a:solidFill>
                  <a:srgbClr val="285AE6"/>
                </a:solidFill>
                <a:effectLst/>
                <a:latin typeface="Inter"/>
                <a:hlinkClick r:id="rId4"/>
              </a:rPr>
              <a:t>Ransomware</a:t>
            </a:r>
            <a:r>
              <a:rPr lang="en-US" b="1" i="0" dirty="0">
                <a:solidFill>
                  <a:srgbClr val="000000"/>
                </a:solidFill>
                <a:effectLst/>
                <a:latin typeface="Inter"/>
              </a:rPr>
              <a:t>—</a:t>
            </a:r>
            <a:r>
              <a:rPr lang="en-US" b="0" i="0" dirty="0">
                <a:solidFill>
                  <a:srgbClr val="000000"/>
                </a:solidFill>
                <a:effectLst/>
                <a:latin typeface="Inter"/>
              </a:rPr>
              <a:t>a user or organization is denied access to their own systems or data via encryption. The attacker typically demands a ransom be paid in exchange for a decryption key to restore access, but there is no guarantee that paying the ransom will actually restore full access or functionality.</a:t>
            </a:r>
          </a:p>
          <a:p>
            <a:pPr algn="l">
              <a:buFont typeface="Arial" panose="020B0604020202020204" pitchFamily="34" charset="0"/>
              <a:buChar char="•"/>
            </a:pPr>
            <a:r>
              <a:rPr lang="en-US" b="1" i="0" dirty="0">
                <a:solidFill>
                  <a:srgbClr val="000000"/>
                </a:solidFill>
                <a:effectLst/>
                <a:latin typeface="Inter"/>
              </a:rPr>
              <a:t>Cryptojacking</a:t>
            </a:r>
            <a:r>
              <a:rPr lang="en-US" b="0" i="0" dirty="0">
                <a:solidFill>
                  <a:srgbClr val="000000"/>
                </a:solidFill>
                <a:effectLst/>
                <a:latin typeface="Inter"/>
              </a:rPr>
              <a:t>—attackers deploy software on a victim’s device, and begin using their computing resources to generate cryptocurrency, without their knowledge. Affected systems can become slow and cryptojacking kits can affect system stability.</a:t>
            </a:r>
          </a:p>
          <a:p>
            <a:pPr algn="l">
              <a:buFont typeface="Arial" panose="020B0604020202020204" pitchFamily="34" charset="0"/>
              <a:buChar char="•"/>
            </a:pPr>
            <a:r>
              <a:rPr lang="en-US" b="1" i="0" dirty="0">
                <a:solidFill>
                  <a:srgbClr val="000000"/>
                </a:solidFill>
                <a:effectLst/>
                <a:latin typeface="Inter"/>
              </a:rPr>
              <a:t>Spyware</a:t>
            </a:r>
            <a:r>
              <a:rPr lang="en-US" b="0" i="0" dirty="0">
                <a:solidFill>
                  <a:srgbClr val="000000"/>
                </a:solidFill>
                <a:effectLst/>
                <a:latin typeface="Inter"/>
              </a:rPr>
              <a:t>—a malicious actor gains access to an unsuspecting user’s data, including sensitive information such as passwords and payment details. Spyware can affect desktop browsers, mobile phones and desktop applications.</a:t>
            </a:r>
          </a:p>
          <a:p>
            <a:pPr algn="l">
              <a:buFont typeface="Arial" panose="020B0604020202020204" pitchFamily="34" charset="0"/>
              <a:buChar char="•"/>
            </a:pPr>
            <a:r>
              <a:rPr lang="en-US" b="1" i="0" dirty="0">
                <a:solidFill>
                  <a:srgbClr val="000000"/>
                </a:solidFill>
                <a:effectLst/>
                <a:latin typeface="Inter"/>
              </a:rPr>
              <a:t>Adware—</a:t>
            </a:r>
            <a:r>
              <a:rPr lang="en-US" b="0" i="0" dirty="0">
                <a:solidFill>
                  <a:srgbClr val="000000"/>
                </a:solidFill>
                <a:effectLst/>
                <a:latin typeface="Inter"/>
              </a:rPr>
              <a:t>a user’s browsing activity is tracked to determine behavior patterns and interests, allowing advertisers to send the user targeted advertising. Adware is related to spyware but does not involve installing software on the user’s device and is not necessarily used for malicious purposes, but it can be used without the user’s consent and compromise their privacy.</a:t>
            </a:r>
          </a:p>
          <a:p>
            <a:pPr algn="l">
              <a:buFont typeface="Arial" panose="020B0604020202020204" pitchFamily="34" charset="0"/>
              <a:buChar char="•"/>
            </a:pPr>
            <a:r>
              <a:rPr lang="en-US" b="1" i="0" dirty="0">
                <a:solidFill>
                  <a:srgbClr val="000000"/>
                </a:solidFill>
                <a:effectLst/>
                <a:latin typeface="Inter"/>
              </a:rPr>
              <a:t>Fileless malware</a:t>
            </a:r>
            <a:r>
              <a:rPr lang="en-US" b="0" i="0" dirty="0">
                <a:solidFill>
                  <a:srgbClr val="000000"/>
                </a:solidFill>
                <a:effectLst/>
                <a:latin typeface="Inter"/>
              </a:rPr>
              <a:t>—no software is installed on the operating system. Native files like WMI and PowerShell are edited to enable malicious functions. This stealthy form of attack is difficult to detect (antivirus can’t identify it), because the compromised files are recognized as legitimate.</a:t>
            </a:r>
          </a:p>
          <a:p>
            <a:pPr algn="l">
              <a:buFont typeface="Arial" panose="020B0604020202020204" pitchFamily="34" charset="0"/>
              <a:buChar char="•"/>
            </a:pPr>
            <a:r>
              <a:rPr lang="en-US" b="1" i="0" u="none" strike="noStrike" dirty="0">
                <a:solidFill>
                  <a:srgbClr val="285AE6"/>
                </a:solidFill>
                <a:effectLst/>
                <a:latin typeface="Inter"/>
                <a:hlinkClick r:id="rId5"/>
              </a:rPr>
              <a:t>Rootkits</a:t>
            </a:r>
            <a:r>
              <a:rPr lang="en-US" b="1" i="0" dirty="0">
                <a:solidFill>
                  <a:srgbClr val="000000"/>
                </a:solidFill>
                <a:effectLst/>
                <a:latin typeface="Inter"/>
              </a:rPr>
              <a:t>—</a:t>
            </a:r>
            <a:r>
              <a:rPr lang="en-US" b="0" i="0" dirty="0">
                <a:solidFill>
                  <a:srgbClr val="000000"/>
                </a:solidFill>
                <a:effectLst/>
                <a:latin typeface="Inter"/>
              </a:rPr>
              <a:t>software is injected into applications, firmware, operating system kernels or hypervisors, providing remote administrative access to a computer. The attacker can start the operating system within a compromised environment, gain complete control of the computer and deliver additional malware.</a:t>
            </a: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r>
              <a:rPr lang="en-US" b="0" i="0" dirty="0">
                <a:solidFill>
                  <a:srgbClr val="000000"/>
                </a:solidFill>
                <a:effectLst/>
                <a:latin typeface="Inter"/>
              </a:rPr>
              <a:t>Here are some of the main types of social engineering attacks:</a:t>
            </a:r>
          </a:p>
          <a:p>
            <a:pPr algn="l">
              <a:buFont typeface="Arial" panose="020B0604020202020204" pitchFamily="34" charset="0"/>
              <a:buChar char="•"/>
            </a:pPr>
            <a:r>
              <a:rPr lang="en-US" b="1" i="0" dirty="0">
                <a:solidFill>
                  <a:srgbClr val="000000"/>
                </a:solidFill>
                <a:effectLst/>
                <a:latin typeface="Inter"/>
              </a:rPr>
              <a:t>Baiting</a:t>
            </a:r>
            <a:r>
              <a:rPr lang="en-US" b="0" i="0" dirty="0">
                <a:solidFill>
                  <a:srgbClr val="000000"/>
                </a:solidFill>
                <a:effectLst/>
                <a:latin typeface="Inter"/>
              </a:rPr>
              <a:t>—the attacker lures a user into a social engineering trap, usually with a promise of something attractive like a free gift card. The victim provides sensitive information such as credentials to the attacker.</a:t>
            </a:r>
          </a:p>
          <a:p>
            <a:pPr algn="l">
              <a:buFont typeface="Arial" panose="020B0604020202020204" pitchFamily="34" charset="0"/>
              <a:buChar char="•"/>
            </a:pPr>
            <a:r>
              <a:rPr lang="en-US" b="1" i="0" dirty="0">
                <a:solidFill>
                  <a:srgbClr val="000000"/>
                </a:solidFill>
                <a:effectLst/>
                <a:latin typeface="Inter"/>
              </a:rPr>
              <a:t>Pretexting</a:t>
            </a:r>
            <a:r>
              <a:rPr lang="en-US" b="0" i="0" dirty="0">
                <a:solidFill>
                  <a:srgbClr val="000000"/>
                </a:solidFill>
                <a:effectLst/>
                <a:latin typeface="Inter"/>
              </a:rPr>
              <a:t>—similar to baiting, the attacker pressures the target into giving up information under false pretenses. This typically involves impersonating someone with authority, for example an IRS or police officer, whose position will compel the victim to comply.</a:t>
            </a:r>
          </a:p>
          <a:p>
            <a:pPr algn="l">
              <a:buFont typeface="Arial" panose="020B0604020202020204" pitchFamily="34" charset="0"/>
              <a:buChar char="•"/>
            </a:pPr>
            <a:r>
              <a:rPr lang="en-US" b="1" i="0" u="none" strike="noStrike" dirty="0">
                <a:solidFill>
                  <a:srgbClr val="285AE6"/>
                </a:solidFill>
                <a:effectLst/>
                <a:latin typeface="Inter"/>
                <a:hlinkClick r:id="rId6"/>
              </a:rPr>
              <a:t>Phishing</a:t>
            </a:r>
            <a:r>
              <a:rPr lang="en-US" b="1" i="0" dirty="0">
                <a:solidFill>
                  <a:srgbClr val="000000"/>
                </a:solidFill>
                <a:effectLst/>
                <a:latin typeface="Inter"/>
              </a:rPr>
              <a:t>—</a:t>
            </a:r>
            <a:r>
              <a:rPr lang="en-US" b="0" i="0" dirty="0">
                <a:solidFill>
                  <a:srgbClr val="000000"/>
                </a:solidFill>
                <a:effectLst/>
                <a:latin typeface="Inter"/>
              </a:rPr>
              <a:t>the attacker sends emails pretending to come from a trusted source. Phishing often involves sending fraudulent emails to as many users as possible, but can also be more targeted. For example, “spear phishing” personalizes the email to target a specific user, while “whaling” takes this a step further by targeting high-value individuals such as CEOs.</a:t>
            </a:r>
          </a:p>
          <a:p>
            <a:pPr algn="l">
              <a:buFont typeface="Arial" panose="020B0604020202020204" pitchFamily="34" charset="0"/>
              <a:buChar char="•"/>
            </a:pPr>
            <a:r>
              <a:rPr lang="en-US" b="1" i="0" dirty="0">
                <a:solidFill>
                  <a:srgbClr val="000000"/>
                </a:solidFill>
                <a:effectLst/>
                <a:latin typeface="Inter"/>
              </a:rPr>
              <a:t>Vishing </a:t>
            </a:r>
            <a:r>
              <a:rPr lang="en-US" b="0" i="0" dirty="0">
                <a:solidFill>
                  <a:srgbClr val="000000"/>
                </a:solidFill>
                <a:effectLst/>
                <a:latin typeface="Inter"/>
              </a:rPr>
              <a:t>(voice phishing)—the imposter uses the phone to trick the target into disclosing sensitive data or grant access to the target system. Vishing typically targets older individuals but can be employed against anyone.</a:t>
            </a:r>
          </a:p>
          <a:p>
            <a:pPr algn="l">
              <a:buFont typeface="Arial" panose="020B0604020202020204" pitchFamily="34" charset="0"/>
              <a:buChar char="•"/>
            </a:pPr>
            <a:r>
              <a:rPr lang="en-US" b="1" i="0" dirty="0">
                <a:solidFill>
                  <a:srgbClr val="000000"/>
                </a:solidFill>
                <a:effectLst/>
                <a:latin typeface="Inter"/>
              </a:rPr>
              <a:t>Smishing </a:t>
            </a:r>
            <a:r>
              <a:rPr lang="en-US" b="0" i="0" dirty="0">
                <a:solidFill>
                  <a:srgbClr val="000000"/>
                </a:solidFill>
                <a:effectLst/>
                <a:latin typeface="Inter"/>
              </a:rPr>
              <a:t>(SMS phishing)—the attacker uses text messages as the means of deceiving the victim.</a:t>
            </a:r>
          </a:p>
          <a:p>
            <a:pPr algn="l">
              <a:buFont typeface="Arial" panose="020B0604020202020204" pitchFamily="34" charset="0"/>
              <a:buChar char="•"/>
            </a:pPr>
            <a:r>
              <a:rPr lang="en-US" b="1" i="0" dirty="0">
                <a:solidFill>
                  <a:srgbClr val="000000"/>
                </a:solidFill>
                <a:effectLst/>
                <a:latin typeface="Inter"/>
              </a:rPr>
              <a:t>Piggybacking</a:t>
            </a:r>
            <a:r>
              <a:rPr lang="en-US" b="0" i="0" dirty="0">
                <a:solidFill>
                  <a:srgbClr val="000000"/>
                </a:solidFill>
                <a:effectLst/>
                <a:latin typeface="Inter"/>
              </a:rPr>
              <a:t>—an authorized user provides physical access to another individual who “piggybacks” off the user’s credentials. For example, an employee may grant access to someone posing as a new employee who misplaced their credential card.</a:t>
            </a:r>
          </a:p>
          <a:p>
            <a:pPr algn="l">
              <a:buFont typeface="Arial" panose="020B0604020202020204" pitchFamily="34" charset="0"/>
              <a:buChar char="•"/>
            </a:pPr>
            <a:r>
              <a:rPr lang="en-US" b="1" i="0" dirty="0">
                <a:solidFill>
                  <a:srgbClr val="000000"/>
                </a:solidFill>
                <a:effectLst/>
                <a:latin typeface="Inter"/>
              </a:rPr>
              <a:t>Tailgating—</a:t>
            </a:r>
            <a:r>
              <a:rPr lang="en-US" b="0" i="0" dirty="0">
                <a:solidFill>
                  <a:srgbClr val="000000"/>
                </a:solidFill>
                <a:effectLst/>
                <a:latin typeface="Inter"/>
              </a:rPr>
              <a:t>an unauthorized individual follows an authorized user into a location, for example by quickly slipping in through a protected door after the authorized user has opened it. This technique is similar to piggybacking except that the person being tailgated is unaware that they are being used by another individual.</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0"/>
        <p:cNvGrpSpPr/>
        <p:nvPr/>
      </p:nvGrpSpPr>
      <p:grpSpPr>
        <a:xfrm>
          <a:off x="0" y="0"/>
          <a:ext cx="0" cy="0"/>
          <a:chOff x="0" y="0"/>
          <a:chExt cx="0" cy="0"/>
        </a:xfrm>
      </p:grpSpPr>
      <p:sp>
        <p:nvSpPr>
          <p:cNvPr id="3301" name="Google Shape;3301;g11bc263f502_0_1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2" name="Google Shape;3302;g11bc263f502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00000"/>
                </a:solidFill>
                <a:effectLst/>
                <a:latin typeface="Inter"/>
              </a:rPr>
              <a:t>Here are some of the main types of malware attacks:</a:t>
            </a:r>
          </a:p>
          <a:p>
            <a:pPr algn="l">
              <a:buFont typeface="Arial" panose="020B0604020202020204" pitchFamily="34" charset="0"/>
              <a:buChar char="•"/>
            </a:pPr>
            <a:r>
              <a:rPr lang="en-US" b="1" i="0" dirty="0">
                <a:solidFill>
                  <a:srgbClr val="000000"/>
                </a:solidFill>
                <a:effectLst/>
                <a:latin typeface="Inter"/>
              </a:rPr>
              <a:t>Viruses—</a:t>
            </a:r>
            <a:r>
              <a:rPr lang="en-US" b="0" i="0" dirty="0">
                <a:solidFill>
                  <a:srgbClr val="000000"/>
                </a:solidFill>
                <a:effectLst/>
                <a:latin typeface="Inter"/>
              </a:rPr>
              <a:t>a piece of code injects itself into an application. When the application runs, the malicious code executes.</a:t>
            </a:r>
          </a:p>
          <a:p>
            <a:pPr algn="l">
              <a:buFont typeface="Arial" panose="020B0604020202020204" pitchFamily="34" charset="0"/>
              <a:buChar char="•"/>
            </a:pPr>
            <a:r>
              <a:rPr lang="en-US" b="1" i="0" dirty="0">
                <a:solidFill>
                  <a:srgbClr val="000000"/>
                </a:solidFill>
                <a:effectLst/>
                <a:latin typeface="Inter"/>
              </a:rPr>
              <a:t>Worms—</a:t>
            </a:r>
            <a:r>
              <a:rPr lang="en-US" b="0" i="0" dirty="0">
                <a:solidFill>
                  <a:srgbClr val="000000"/>
                </a:solidFill>
                <a:effectLst/>
                <a:latin typeface="Inter"/>
              </a:rPr>
              <a:t>malware that exploits software vulnerabilities and backdoors to gain access to an operating system. Once installed in the network, the worm can carry out attacks such as distributed denial of service (DDoS).</a:t>
            </a:r>
          </a:p>
          <a:p>
            <a:pPr algn="l">
              <a:buFont typeface="Arial" panose="020B0604020202020204" pitchFamily="34" charset="0"/>
              <a:buChar char="•"/>
            </a:pPr>
            <a:r>
              <a:rPr lang="en-US" b="1" i="0" u="none" strike="noStrike" dirty="0">
                <a:solidFill>
                  <a:srgbClr val="285AE6"/>
                </a:solidFill>
                <a:effectLst/>
                <a:latin typeface="Inter"/>
                <a:hlinkClick r:id="rId3"/>
              </a:rPr>
              <a:t>Trojans</a:t>
            </a:r>
            <a:r>
              <a:rPr lang="en-US" b="1" i="0" dirty="0">
                <a:solidFill>
                  <a:srgbClr val="000000"/>
                </a:solidFill>
                <a:effectLst/>
                <a:latin typeface="Inter"/>
              </a:rPr>
              <a:t>—</a:t>
            </a:r>
            <a:r>
              <a:rPr lang="en-US" b="0" i="0" dirty="0">
                <a:solidFill>
                  <a:srgbClr val="000000"/>
                </a:solidFill>
                <a:effectLst/>
                <a:latin typeface="Inter"/>
              </a:rPr>
              <a:t>malicious code or software that poses as an innocent program, hiding in apps, games or email attachments. An unsuspecting user downloads the trojan, allowing it to gain control of their device.</a:t>
            </a:r>
          </a:p>
          <a:p>
            <a:pPr algn="l">
              <a:buFont typeface="Arial" panose="020B0604020202020204" pitchFamily="34" charset="0"/>
              <a:buChar char="•"/>
            </a:pPr>
            <a:r>
              <a:rPr lang="en-US" b="1" i="0" u="none" strike="noStrike" dirty="0">
                <a:solidFill>
                  <a:srgbClr val="285AE6"/>
                </a:solidFill>
                <a:effectLst/>
                <a:latin typeface="Inter"/>
                <a:hlinkClick r:id="rId4"/>
              </a:rPr>
              <a:t>Ransomware</a:t>
            </a:r>
            <a:r>
              <a:rPr lang="en-US" b="1" i="0" dirty="0">
                <a:solidFill>
                  <a:srgbClr val="000000"/>
                </a:solidFill>
                <a:effectLst/>
                <a:latin typeface="Inter"/>
              </a:rPr>
              <a:t>—</a:t>
            </a:r>
            <a:r>
              <a:rPr lang="en-US" b="0" i="0" dirty="0">
                <a:solidFill>
                  <a:srgbClr val="000000"/>
                </a:solidFill>
                <a:effectLst/>
                <a:latin typeface="Inter"/>
              </a:rPr>
              <a:t>a user or organization is denied access to their own systems or data via encryption. The attacker typically demands a ransom be paid in exchange for a decryption key to restore access, but there is no guarantee that paying the ransom will actually restore full access or functionality.</a:t>
            </a:r>
          </a:p>
          <a:p>
            <a:pPr algn="l">
              <a:buFont typeface="Arial" panose="020B0604020202020204" pitchFamily="34" charset="0"/>
              <a:buChar char="•"/>
            </a:pPr>
            <a:r>
              <a:rPr lang="en-US" b="1" i="0" dirty="0">
                <a:solidFill>
                  <a:srgbClr val="000000"/>
                </a:solidFill>
                <a:effectLst/>
                <a:latin typeface="Inter"/>
              </a:rPr>
              <a:t>Cryptojacking</a:t>
            </a:r>
            <a:r>
              <a:rPr lang="en-US" b="0" i="0" dirty="0">
                <a:solidFill>
                  <a:srgbClr val="000000"/>
                </a:solidFill>
                <a:effectLst/>
                <a:latin typeface="Inter"/>
              </a:rPr>
              <a:t>—attackers deploy software on a victim’s device, and begin using their computing resources to generate cryptocurrency, without their knowledge. Affected systems can become slow and cryptojacking kits can affect system stability.</a:t>
            </a:r>
          </a:p>
          <a:p>
            <a:pPr algn="l">
              <a:buFont typeface="Arial" panose="020B0604020202020204" pitchFamily="34" charset="0"/>
              <a:buChar char="•"/>
            </a:pPr>
            <a:r>
              <a:rPr lang="en-US" b="1" i="0" dirty="0">
                <a:solidFill>
                  <a:srgbClr val="000000"/>
                </a:solidFill>
                <a:effectLst/>
                <a:latin typeface="Inter"/>
              </a:rPr>
              <a:t>Spyware</a:t>
            </a:r>
            <a:r>
              <a:rPr lang="en-US" b="0" i="0" dirty="0">
                <a:solidFill>
                  <a:srgbClr val="000000"/>
                </a:solidFill>
                <a:effectLst/>
                <a:latin typeface="Inter"/>
              </a:rPr>
              <a:t>—a malicious actor gains access to an unsuspecting user’s data, including sensitive information such as passwords and payment details. Spyware can affect desktop browsers, mobile phones and desktop applications.</a:t>
            </a:r>
          </a:p>
          <a:p>
            <a:pPr algn="l">
              <a:buFont typeface="Arial" panose="020B0604020202020204" pitchFamily="34" charset="0"/>
              <a:buChar char="•"/>
            </a:pPr>
            <a:r>
              <a:rPr lang="en-US" b="1" i="0" dirty="0">
                <a:solidFill>
                  <a:srgbClr val="000000"/>
                </a:solidFill>
                <a:effectLst/>
                <a:latin typeface="Inter"/>
              </a:rPr>
              <a:t>Adware—</a:t>
            </a:r>
            <a:r>
              <a:rPr lang="en-US" b="0" i="0" dirty="0">
                <a:solidFill>
                  <a:srgbClr val="000000"/>
                </a:solidFill>
                <a:effectLst/>
                <a:latin typeface="Inter"/>
              </a:rPr>
              <a:t>a user’s browsing activity is tracked to determine behavior patterns and interests, allowing advertisers to send the user targeted advertising. Adware is related to spyware but does not involve installing software on the user’s device and is not necessarily used for malicious purposes, but it can be used without the user’s consent and compromise their privacy.</a:t>
            </a:r>
          </a:p>
          <a:p>
            <a:pPr algn="l">
              <a:buFont typeface="Arial" panose="020B0604020202020204" pitchFamily="34" charset="0"/>
              <a:buChar char="•"/>
            </a:pPr>
            <a:r>
              <a:rPr lang="en-US" b="1" i="0" dirty="0">
                <a:solidFill>
                  <a:srgbClr val="000000"/>
                </a:solidFill>
                <a:effectLst/>
                <a:latin typeface="Inter"/>
              </a:rPr>
              <a:t>Fileless malware</a:t>
            </a:r>
            <a:r>
              <a:rPr lang="en-US" b="0" i="0" dirty="0">
                <a:solidFill>
                  <a:srgbClr val="000000"/>
                </a:solidFill>
                <a:effectLst/>
                <a:latin typeface="Inter"/>
              </a:rPr>
              <a:t>—no software is installed on the operating system. Native files like WMI and PowerShell are edited to enable malicious functions. This stealthy form of attack is difficult to detect (antivirus can’t identify it), because the compromised files are recognized as legitimate.</a:t>
            </a:r>
          </a:p>
          <a:p>
            <a:pPr algn="l">
              <a:buFont typeface="Arial" panose="020B0604020202020204" pitchFamily="34" charset="0"/>
              <a:buChar char="•"/>
            </a:pPr>
            <a:r>
              <a:rPr lang="en-US" b="1" i="0" u="none" strike="noStrike" dirty="0">
                <a:solidFill>
                  <a:srgbClr val="285AE6"/>
                </a:solidFill>
                <a:effectLst/>
                <a:latin typeface="Inter"/>
                <a:hlinkClick r:id="rId5"/>
              </a:rPr>
              <a:t>Rootkits</a:t>
            </a:r>
            <a:r>
              <a:rPr lang="en-US" b="1" i="0" dirty="0">
                <a:solidFill>
                  <a:srgbClr val="000000"/>
                </a:solidFill>
                <a:effectLst/>
                <a:latin typeface="Inter"/>
              </a:rPr>
              <a:t>—</a:t>
            </a:r>
            <a:r>
              <a:rPr lang="en-US" b="0" i="0" dirty="0">
                <a:solidFill>
                  <a:srgbClr val="000000"/>
                </a:solidFill>
                <a:effectLst/>
                <a:latin typeface="Inter"/>
              </a:rPr>
              <a:t>software is injected into applications, firmware, operating system kernels or hypervisors, providing remote administrative access to a computer. The attacker can start the operating system within a compromised environment, gain complete control of the computer and deliver additional malware.</a:t>
            </a: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r>
              <a:rPr lang="en-US" b="0" i="0" dirty="0">
                <a:solidFill>
                  <a:srgbClr val="000000"/>
                </a:solidFill>
                <a:effectLst/>
                <a:latin typeface="Inter"/>
              </a:rPr>
              <a:t>Examples of MitM attacks include:</a:t>
            </a:r>
          </a:p>
          <a:p>
            <a:pPr algn="l">
              <a:buFont typeface="Arial" panose="020B0604020202020204" pitchFamily="34" charset="0"/>
              <a:buChar char="•"/>
            </a:pPr>
            <a:r>
              <a:rPr lang="en-US" b="1" i="0" dirty="0">
                <a:solidFill>
                  <a:srgbClr val="000000"/>
                </a:solidFill>
                <a:effectLst/>
                <a:latin typeface="Inter"/>
              </a:rPr>
              <a:t>Wi-Fi eavesdropping—</a:t>
            </a:r>
            <a:r>
              <a:rPr lang="en-US" b="0" i="0" dirty="0">
                <a:solidFill>
                  <a:srgbClr val="000000"/>
                </a:solidFill>
                <a:effectLst/>
                <a:latin typeface="Inter"/>
              </a:rPr>
              <a:t>an attacker sets up a Wi-Fi connection, posing as a legitimate actor, such as a business, that users may connect to. The fraudulent Wi-Fi allows the attacker to monitor the activity of connected users and intercept data such as payment card details and login credentials.</a:t>
            </a:r>
          </a:p>
          <a:p>
            <a:pPr algn="l">
              <a:buFont typeface="Arial" panose="020B0604020202020204" pitchFamily="34" charset="0"/>
              <a:buChar char="•"/>
            </a:pPr>
            <a:r>
              <a:rPr lang="en-US" b="1" i="0" dirty="0">
                <a:solidFill>
                  <a:srgbClr val="000000"/>
                </a:solidFill>
                <a:effectLst/>
                <a:latin typeface="Inter"/>
              </a:rPr>
              <a:t>Email hijacking</a:t>
            </a:r>
            <a:r>
              <a:rPr lang="en-US" b="0" i="0" dirty="0">
                <a:solidFill>
                  <a:srgbClr val="000000"/>
                </a:solidFill>
                <a:effectLst/>
                <a:latin typeface="Inter"/>
              </a:rPr>
              <a:t>—an attacker spoofs the email address of a legitimate organization, such as a bank, and uses it to trick users into giving up sensitive information or transferring money to the attacker. The user follows instructions they think come from the bank but are actually from the attacker.</a:t>
            </a:r>
          </a:p>
          <a:p>
            <a:pPr algn="l">
              <a:buFont typeface="Arial" panose="020B0604020202020204" pitchFamily="34" charset="0"/>
              <a:buChar char="•"/>
            </a:pPr>
            <a:r>
              <a:rPr lang="en-US" b="1" i="0" u="none" strike="noStrike" dirty="0">
                <a:solidFill>
                  <a:srgbClr val="285AE6"/>
                </a:solidFill>
                <a:effectLst/>
                <a:latin typeface="Inter"/>
                <a:hlinkClick r:id="rId6"/>
              </a:rPr>
              <a:t>DNS spoofing</a:t>
            </a:r>
            <a:r>
              <a:rPr lang="en-US" b="0" i="0" dirty="0">
                <a:solidFill>
                  <a:srgbClr val="000000"/>
                </a:solidFill>
                <a:effectLst/>
                <a:latin typeface="Inter"/>
              </a:rPr>
              <a:t>—a Domain Name Server (DNS) is spoofed, directing a user to a malicious website posing as a legitimate site. The attacker may divert traffic from the legitimate site or steal the user’s credentials.</a:t>
            </a:r>
          </a:p>
          <a:p>
            <a:pPr algn="l">
              <a:buFont typeface="Arial" panose="020B0604020202020204" pitchFamily="34" charset="0"/>
              <a:buChar char="•"/>
            </a:pPr>
            <a:r>
              <a:rPr lang="en-US" b="1" i="0" u="none" strike="noStrike" dirty="0">
                <a:solidFill>
                  <a:srgbClr val="285AE6"/>
                </a:solidFill>
                <a:effectLst/>
                <a:latin typeface="Inter"/>
                <a:hlinkClick r:id="rId7"/>
              </a:rPr>
              <a:t>IP spoofing</a:t>
            </a:r>
            <a:r>
              <a:rPr lang="en-US" b="0" i="0" dirty="0">
                <a:solidFill>
                  <a:srgbClr val="000000"/>
                </a:solidFill>
                <a:effectLst/>
                <a:latin typeface="Inter"/>
              </a:rPr>
              <a:t>—an internet protocol (IP) address connects users to a specific website. An attacker can spoof an IP address to pose as a website and deceive users into thinking they are interacting with that website.</a:t>
            </a:r>
          </a:p>
          <a:p>
            <a:pPr algn="l">
              <a:buFont typeface="Arial" panose="020B0604020202020204" pitchFamily="34" charset="0"/>
              <a:buChar char="•"/>
            </a:pPr>
            <a:r>
              <a:rPr lang="en-US" b="1" i="0" dirty="0">
                <a:solidFill>
                  <a:srgbClr val="000000"/>
                </a:solidFill>
                <a:effectLst/>
                <a:latin typeface="Inter"/>
              </a:rPr>
              <a:t>HTTPS spoofing</a:t>
            </a:r>
            <a:r>
              <a:rPr lang="en-US" b="0" i="0" dirty="0">
                <a:solidFill>
                  <a:srgbClr val="000000"/>
                </a:solidFill>
                <a:effectLst/>
                <a:latin typeface="Inter"/>
              </a:rPr>
              <a:t>—HTTPS is generally considered the more secure version of HTTP, but can also be used to trick the browser into thinking that a malicious website is safe. The attacker uses “HTTPS” in the URL to conceal the malicious nature of the website.</a:t>
            </a: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0"/>
        <p:cNvGrpSpPr/>
        <p:nvPr/>
      </p:nvGrpSpPr>
      <p:grpSpPr>
        <a:xfrm>
          <a:off x="0" y="0"/>
          <a:ext cx="0" cy="0"/>
          <a:chOff x="0" y="0"/>
          <a:chExt cx="0" cy="0"/>
        </a:xfrm>
      </p:grpSpPr>
      <p:sp>
        <p:nvSpPr>
          <p:cNvPr id="3301" name="Google Shape;3301;g11bc263f502_0_1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2" name="Google Shape;3302;g11bc263f502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00000"/>
                </a:solidFill>
                <a:effectLst/>
                <a:latin typeface="Inter"/>
              </a:rPr>
              <a:t>Here are some of the main types of malware attacks:</a:t>
            </a:r>
          </a:p>
          <a:p>
            <a:pPr algn="l">
              <a:buFont typeface="Arial" panose="020B0604020202020204" pitchFamily="34" charset="0"/>
              <a:buChar char="•"/>
            </a:pPr>
            <a:r>
              <a:rPr lang="en-US" b="1" i="0" dirty="0">
                <a:solidFill>
                  <a:srgbClr val="000000"/>
                </a:solidFill>
                <a:effectLst/>
                <a:latin typeface="Inter"/>
              </a:rPr>
              <a:t>Viruses—</a:t>
            </a:r>
            <a:r>
              <a:rPr lang="en-US" b="0" i="0" dirty="0">
                <a:solidFill>
                  <a:srgbClr val="000000"/>
                </a:solidFill>
                <a:effectLst/>
                <a:latin typeface="Inter"/>
              </a:rPr>
              <a:t>a piece of code injects itself into an application. When the application runs, the malicious code executes.</a:t>
            </a:r>
          </a:p>
          <a:p>
            <a:pPr algn="l">
              <a:buFont typeface="Arial" panose="020B0604020202020204" pitchFamily="34" charset="0"/>
              <a:buChar char="•"/>
            </a:pPr>
            <a:r>
              <a:rPr lang="en-US" b="1" i="0" dirty="0">
                <a:solidFill>
                  <a:srgbClr val="000000"/>
                </a:solidFill>
                <a:effectLst/>
                <a:latin typeface="Inter"/>
              </a:rPr>
              <a:t>Worms—</a:t>
            </a:r>
            <a:r>
              <a:rPr lang="en-US" b="0" i="0" dirty="0">
                <a:solidFill>
                  <a:srgbClr val="000000"/>
                </a:solidFill>
                <a:effectLst/>
                <a:latin typeface="Inter"/>
              </a:rPr>
              <a:t>malware that exploits software vulnerabilities and backdoors to gain access to an operating system. Once installed in the network, the worm can carry out attacks such as distributed denial of service (DDoS).</a:t>
            </a:r>
          </a:p>
          <a:p>
            <a:pPr algn="l">
              <a:buFont typeface="Arial" panose="020B0604020202020204" pitchFamily="34" charset="0"/>
              <a:buChar char="•"/>
            </a:pPr>
            <a:r>
              <a:rPr lang="en-US" b="1" i="0" u="none" strike="noStrike" dirty="0">
                <a:solidFill>
                  <a:srgbClr val="285AE6"/>
                </a:solidFill>
                <a:effectLst/>
                <a:latin typeface="Inter"/>
                <a:hlinkClick r:id="rId3"/>
              </a:rPr>
              <a:t>Trojans</a:t>
            </a:r>
            <a:r>
              <a:rPr lang="en-US" b="1" i="0" dirty="0">
                <a:solidFill>
                  <a:srgbClr val="000000"/>
                </a:solidFill>
                <a:effectLst/>
                <a:latin typeface="Inter"/>
              </a:rPr>
              <a:t>—</a:t>
            </a:r>
            <a:r>
              <a:rPr lang="en-US" b="0" i="0" dirty="0">
                <a:solidFill>
                  <a:srgbClr val="000000"/>
                </a:solidFill>
                <a:effectLst/>
                <a:latin typeface="Inter"/>
              </a:rPr>
              <a:t>malicious code or software that poses as an innocent program, hiding in apps, games or email attachments. An unsuspecting user downloads the trojan, allowing it to gain control of their device.</a:t>
            </a:r>
          </a:p>
          <a:p>
            <a:pPr algn="l">
              <a:buFont typeface="Arial" panose="020B0604020202020204" pitchFamily="34" charset="0"/>
              <a:buChar char="•"/>
            </a:pPr>
            <a:r>
              <a:rPr lang="en-US" b="1" i="0" u="none" strike="noStrike" dirty="0">
                <a:solidFill>
                  <a:srgbClr val="285AE6"/>
                </a:solidFill>
                <a:effectLst/>
                <a:latin typeface="Inter"/>
                <a:hlinkClick r:id="rId4"/>
              </a:rPr>
              <a:t>Ransomware</a:t>
            </a:r>
            <a:r>
              <a:rPr lang="en-US" b="1" i="0" dirty="0">
                <a:solidFill>
                  <a:srgbClr val="000000"/>
                </a:solidFill>
                <a:effectLst/>
                <a:latin typeface="Inter"/>
              </a:rPr>
              <a:t>—</a:t>
            </a:r>
            <a:r>
              <a:rPr lang="en-US" b="0" i="0" dirty="0">
                <a:solidFill>
                  <a:srgbClr val="000000"/>
                </a:solidFill>
                <a:effectLst/>
                <a:latin typeface="Inter"/>
              </a:rPr>
              <a:t>a user or organization is denied access to their own systems or data via encryption. The attacker typically demands a ransom be paid in exchange for a decryption key to restore access, but there is no guarantee that paying the ransom will actually restore full access or functionality.</a:t>
            </a:r>
          </a:p>
          <a:p>
            <a:pPr algn="l">
              <a:buFont typeface="Arial" panose="020B0604020202020204" pitchFamily="34" charset="0"/>
              <a:buChar char="•"/>
            </a:pPr>
            <a:r>
              <a:rPr lang="en-US" b="1" i="0" dirty="0">
                <a:solidFill>
                  <a:srgbClr val="000000"/>
                </a:solidFill>
                <a:effectLst/>
                <a:latin typeface="Inter"/>
              </a:rPr>
              <a:t>Cryptojacking</a:t>
            </a:r>
            <a:r>
              <a:rPr lang="en-US" b="0" i="0" dirty="0">
                <a:solidFill>
                  <a:srgbClr val="000000"/>
                </a:solidFill>
                <a:effectLst/>
                <a:latin typeface="Inter"/>
              </a:rPr>
              <a:t>—attackers deploy software on a victim’s device, and begin using their computing resources to generate cryptocurrency, without their knowledge. Affected systems can become slow and cryptojacking kits can affect system stability.</a:t>
            </a:r>
          </a:p>
          <a:p>
            <a:pPr algn="l">
              <a:buFont typeface="Arial" panose="020B0604020202020204" pitchFamily="34" charset="0"/>
              <a:buChar char="•"/>
            </a:pPr>
            <a:r>
              <a:rPr lang="en-US" b="1" i="0" dirty="0">
                <a:solidFill>
                  <a:srgbClr val="000000"/>
                </a:solidFill>
                <a:effectLst/>
                <a:latin typeface="Inter"/>
              </a:rPr>
              <a:t>Spyware</a:t>
            </a:r>
            <a:r>
              <a:rPr lang="en-US" b="0" i="0" dirty="0">
                <a:solidFill>
                  <a:srgbClr val="000000"/>
                </a:solidFill>
                <a:effectLst/>
                <a:latin typeface="Inter"/>
              </a:rPr>
              <a:t>—a malicious actor gains access to an unsuspecting user’s data, including sensitive information such as passwords and payment details. Spyware can affect desktop browsers, mobile phones and desktop applications.</a:t>
            </a:r>
          </a:p>
          <a:p>
            <a:pPr algn="l">
              <a:buFont typeface="Arial" panose="020B0604020202020204" pitchFamily="34" charset="0"/>
              <a:buChar char="•"/>
            </a:pPr>
            <a:r>
              <a:rPr lang="en-US" b="1" i="0" dirty="0">
                <a:solidFill>
                  <a:srgbClr val="000000"/>
                </a:solidFill>
                <a:effectLst/>
                <a:latin typeface="Inter"/>
              </a:rPr>
              <a:t>Adware—</a:t>
            </a:r>
            <a:r>
              <a:rPr lang="en-US" b="0" i="0" dirty="0">
                <a:solidFill>
                  <a:srgbClr val="000000"/>
                </a:solidFill>
                <a:effectLst/>
                <a:latin typeface="Inter"/>
              </a:rPr>
              <a:t>a user’s browsing activity is tracked to determine behavior patterns and interests, allowing advertisers to send the user targeted advertising. Adware is related to spyware but does not involve installing software on the user’s device and is not necessarily used for malicious purposes, but it can be used without the user’s consent and compromise their privacy.</a:t>
            </a:r>
          </a:p>
          <a:p>
            <a:pPr algn="l">
              <a:buFont typeface="Arial" panose="020B0604020202020204" pitchFamily="34" charset="0"/>
              <a:buChar char="•"/>
            </a:pPr>
            <a:r>
              <a:rPr lang="en-US" b="1" i="0" dirty="0">
                <a:solidFill>
                  <a:srgbClr val="000000"/>
                </a:solidFill>
                <a:effectLst/>
                <a:latin typeface="Inter"/>
              </a:rPr>
              <a:t>Fileless malware</a:t>
            </a:r>
            <a:r>
              <a:rPr lang="en-US" b="0" i="0" dirty="0">
                <a:solidFill>
                  <a:srgbClr val="000000"/>
                </a:solidFill>
                <a:effectLst/>
                <a:latin typeface="Inter"/>
              </a:rPr>
              <a:t>—no software is installed on the operating system. Native files like WMI and PowerShell are edited to enable malicious functions. This stealthy form of attack is difficult to detect (antivirus can’t identify it), because the compromised files are recognized as legitimate.</a:t>
            </a:r>
          </a:p>
          <a:p>
            <a:pPr algn="l">
              <a:buFont typeface="Arial" panose="020B0604020202020204" pitchFamily="34" charset="0"/>
              <a:buChar char="•"/>
            </a:pPr>
            <a:r>
              <a:rPr lang="en-US" b="1" i="0" u="none" strike="noStrike" dirty="0">
                <a:solidFill>
                  <a:srgbClr val="285AE6"/>
                </a:solidFill>
                <a:effectLst/>
                <a:latin typeface="Inter"/>
                <a:hlinkClick r:id="rId5"/>
              </a:rPr>
              <a:t>Rootkits</a:t>
            </a:r>
            <a:r>
              <a:rPr lang="en-US" b="1" i="0" dirty="0">
                <a:solidFill>
                  <a:srgbClr val="000000"/>
                </a:solidFill>
                <a:effectLst/>
                <a:latin typeface="Inter"/>
              </a:rPr>
              <a:t>—</a:t>
            </a:r>
            <a:r>
              <a:rPr lang="en-US" b="0" i="0" dirty="0">
                <a:solidFill>
                  <a:srgbClr val="000000"/>
                </a:solidFill>
                <a:effectLst/>
                <a:latin typeface="Inter"/>
              </a:rPr>
              <a:t>software is injected into applications, firmware, operating system kernels or hypervisors, providing remote administrative access to a computer. The attacker can start the operating system within a compromised environment, gain complete control of the computer and deliver additional malware.</a:t>
            </a: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r>
              <a:rPr lang="en-US" b="0" i="0" dirty="0">
                <a:solidFill>
                  <a:srgbClr val="000000"/>
                </a:solidFill>
                <a:effectLst/>
                <a:latin typeface="Inter"/>
              </a:rPr>
              <a:t>DoS attack techniques include:</a:t>
            </a:r>
          </a:p>
          <a:p>
            <a:pPr algn="l">
              <a:buFont typeface="Arial" panose="020B0604020202020204" pitchFamily="34" charset="0"/>
              <a:buChar char="•"/>
            </a:pPr>
            <a:r>
              <a:rPr lang="en-US" b="1" i="0" u="none" strike="noStrike" dirty="0">
                <a:solidFill>
                  <a:srgbClr val="285AE6"/>
                </a:solidFill>
                <a:effectLst/>
                <a:latin typeface="Inter"/>
                <a:hlinkClick r:id="rId6"/>
              </a:rPr>
              <a:t>HTTP flood DDoS</a:t>
            </a:r>
            <a:r>
              <a:rPr lang="en-US" b="0" i="0" dirty="0">
                <a:solidFill>
                  <a:srgbClr val="000000"/>
                </a:solidFill>
                <a:effectLst/>
                <a:latin typeface="Inter"/>
              </a:rPr>
              <a:t>—the attacker uses HTTP requests that appear legitimate to overwhelm an application or web server. This technique does not require high bandwidth or malformed packets, and typically tries to force a target system to allocate as many resources as possible for each request.</a:t>
            </a:r>
          </a:p>
          <a:p>
            <a:pPr algn="l">
              <a:buFont typeface="Arial" panose="020B0604020202020204" pitchFamily="34" charset="0"/>
              <a:buChar char="•"/>
            </a:pPr>
            <a:r>
              <a:rPr lang="en-US" b="1" i="0" u="none" strike="noStrike" dirty="0">
                <a:solidFill>
                  <a:srgbClr val="285AE6"/>
                </a:solidFill>
                <a:effectLst/>
                <a:latin typeface="Inter"/>
                <a:hlinkClick r:id="rId7"/>
              </a:rPr>
              <a:t>SYN flood DDoS</a:t>
            </a:r>
            <a:r>
              <a:rPr lang="en-US" b="0" i="0" dirty="0">
                <a:solidFill>
                  <a:srgbClr val="000000"/>
                </a:solidFill>
                <a:effectLst/>
                <a:latin typeface="Inter"/>
              </a:rPr>
              <a:t>—initiating a Transmission Control Protocol (TCP) connection sequence involves sending a SYN request that the host must respond to with a SYN-ACK that acknowledges the request, and then the requester must respond with an ACK. Attackers can exploit this sequence, tying up server resources, by sending SYN requests but not responding to the SYN-ACKs from the host.</a:t>
            </a:r>
          </a:p>
          <a:p>
            <a:pPr algn="l">
              <a:buFont typeface="Arial" panose="020B0604020202020204" pitchFamily="34" charset="0"/>
              <a:buChar char="•"/>
            </a:pPr>
            <a:r>
              <a:rPr lang="en-US" b="1" i="0" u="none" strike="noStrike" dirty="0">
                <a:solidFill>
                  <a:srgbClr val="285AE6"/>
                </a:solidFill>
                <a:effectLst/>
                <a:latin typeface="Inter"/>
                <a:hlinkClick r:id="rId8"/>
              </a:rPr>
              <a:t>UDP flood DDoS</a:t>
            </a:r>
            <a:r>
              <a:rPr lang="en-US" b="0" i="0" dirty="0">
                <a:solidFill>
                  <a:srgbClr val="000000"/>
                </a:solidFill>
                <a:effectLst/>
                <a:latin typeface="Inter"/>
              </a:rPr>
              <a:t>—a remote host is flooded with User Datagram Protocol (UDP) packets sent to random ports. This technique forces the host to search for applications on the affected ports and respond with “Destination Unreachable” packets, which uses up the host resources.</a:t>
            </a:r>
          </a:p>
          <a:p>
            <a:pPr algn="l">
              <a:buFont typeface="Arial" panose="020B0604020202020204" pitchFamily="34" charset="0"/>
              <a:buChar char="•"/>
            </a:pPr>
            <a:r>
              <a:rPr lang="en-US" b="1" i="0" u="none" strike="noStrike" dirty="0">
                <a:solidFill>
                  <a:srgbClr val="285AE6"/>
                </a:solidFill>
                <a:effectLst/>
                <a:latin typeface="Inter"/>
                <a:hlinkClick r:id="rId9"/>
              </a:rPr>
              <a:t>ICMP flood</a:t>
            </a:r>
            <a:r>
              <a:rPr lang="en-US" b="0" i="0" dirty="0">
                <a:solidFill>
                  <a:srgbClr val="000000"/>
                </a:solidFill>
                <a:effectLst/>
                <a:latin typeface="Inter"/>
              </a:rPr>
              <a:t>—a barrage of ICMP Echo Request packets overwhelms the target, consuming both inbound and outgoing bandwidth. The servers may try to respond to each request with an ICMP Echo Reply packet, but cannot keep up with the rate of requests, so the system slows down.</a:t>
            </a:r>
          </a:p>
          <a:p>
            <a:pPr algn="l">
              <a:buFont typeface="Arial" panose="020B0604020202020204" pitchFamily="34" charset="0"/>
              <a:buChar char="•"/>
            </a:pPr>
            <a:r>
              <a:rPr lang="en-US" b="1" i="0" u="none" strike="noStrike" dirty="0">
                <a:solidFill>
                  <a:srgbClr val="285AE6"/>
                </a:solidFill>
                <a:effectLst/>
                <a:latin typeface="Inter"/>
                <a:hlinkClick r:id="rId10"/>
              </a:rPr>
              <a:t>NTP amplification</a:t>
            </a:r>
            <a:r>
              <a:rPr lang="en-US" b="0" i="0" dirty="0">
                <a:solidFill>
                  <a:srgbClr val="000000"/>
                </a:solidFill>
                <a:effectLst/>
                <a:latin typeface="Inter"/>
              </a:rPr>
              <a:t>—Network Time Protocol (NTP) servers are accessible to the public and can be exploited by an attacker to send large volumes of UDP traffic to a targeted server. This is considered an amplification attack due to the query-to-response ratio of 1:20 to 1:200, which allows an attacker to exploit open NTP servers to execute high-volume, high-bandwidth DDoS attacks.</a:t>
            </a: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r>
              <a:rPr lang="en-US" b="1" i="0" dirty="0">
                <a:solidFill>
                  <a:srgbClr val="000000"/>
                </a:solidFill>
                <a:effectLst/>
                <a:latin typeface="Inter"/>
              </a:rPr>
              <a:t>Cybersecurity Solutions</a:t>
            </a:r>
          </a:p>
          <a:p>
            <a:pPr algn="l"/>
            <a:r>
              <a:rPr lang="en-US" b="0" i="0" u="none" strike="noStrike" dirty="0">
                <a:solidFill>
                  <a:srgbClr val="285AE6"/>
                </a:solidFill>
                <a:effectLst/>
                <a:latin typeface="Inter"/>
                <a:hlinkClick r:id="rId11"/>
              </a:rPr>
              <a:t>Cybersecurity solutions</a:t>
            </a:r>
            <a:r>
              <a:rPr lang="en-US" b="0" i="0" dirty="0">
                <a:solidFill>
                  <a:srgbClr val="000000"/>
                </a:solidFill>
                <a:effectLst/>
                <a:latin typeface="Inter"/>
              </a:rPr>
              <a:t> are tools organizations use to help defend against cybersecurity threats, as well as accidental damage, physical disasters, and other threats. Here are the main types of security solutions:</a:t>
            </a:r>
          </a:p>
          <a:p>
            <a:pPr algn="l">
              <a:buFont typeface="Arial" panose="020B0604020202020204" pitchFamily="34" charset="0"/>
              <a:buChar char="•"/>
            </a:pPr>
            <a:r>
              <a:rPr lang="en-US" b="1" i="0" u="none" strike="noStrike" dirty="0">
                <a:solidFill>
                  <a:srgbClr val="285AE6"/>
                </a:solidFill>
                <a:effectLst/>
                <a:latin typeface="Inter"/>
                <a:hlinkClick r:id="rId12"/>
              </a:rPr>
              <a:t>Application security</a:t>
            </a:r>
            <a:r>
              <a:rPr lang="en-US" b="0" i="0" dirty="0">
                <a:solidFill>
                  <a:srgbClr val="000000"/>
                </a:solidFill>
                <a:effectLst/>
                <a:latin typeface="Inter"/>
              </a:rPr>
              <a:t>—used to test software application vulnerabilities during development and testing, and protect applications running in production, from threats like network attacks, exploits of software vulnerabilities, and web application attacks.</a:t>
            </a:r>
          </a:p>
          <a:p>
            <a:pPr algn="l">
              <a:buFont typeface="Arial" panose="020B0604020202020204" pitchFamily="34" charset="0"/>
              <a:buChar char="•"/>
            </a:pPr>
            <a:r>
              <a:rPr lang="en-US" b="1" i="0" dirty="0">
                <a:solidFill>
                  <a:srgbClr val="000000"/>
                </a:solidFill>
                <a:effectLst/>
                <a:latin typeface="Inter"/>
              </a:rPr>
              <a:t>Network security—</a:t>
            </a:r>
            <a:r>
              <a:rPr lang="en-US" b="0" i="0" dirty="0">
                <a:solidFill>
                  <a:srgbClr val="000000"/>
                </a:solidFill>
                <a:effectLst/>
                <a:latin typeface="Inter"/>
              </a:rPr>
              <a:t>monitors network traffic, identifies potentially malicious traffic, and enables organizations to block, filter or mitigate threats.</a:t>
            </a:r>
          </a:p>
          <a:p>
            <a:pPr algn="l">
              <a:buFont typeface="Arial" panose="020B0604020202020204" pitchFamily="34" charset="0"/>
              <a:buChar char="•"/>
            </a:pPr>
            <a:r>
              <a:rPr lang="en-US" b="1" i="0" u="none" strike="noStrike" dirty="0">
                <a:solidFill>
                  <a:srgbClr val="285AE6"/>
                </a:solidFill>
                <a:effectLst/>
                <a:latin typeface="Inter"/>
                <a:hlinkClick r:id="rId13"/>
              </a:rPr>
              <a:t>Cloud Security</a:t>
            </a:r>
            <a:r>
              <a:rPr lang="en-US" b="1" i="0" dirty="0">
                <a:solidFill>
                  <a:srgbClr val="000000"/>
                </a:solidFill>
                <a:effectLst/>
                <a:latin typeface="Inter"/>
              </a:rPr>
              <a:t>—</a:t>
            </a:r>
            <a:r>
              <a:rPr lang="en-US" b="0" i="0" dirty="0">
                <a:solidFill>
                  <a:srgbClr val="000000"/>
                </a:solidFill>
                <a:effectLst/>
                <a:latin typeface="Inter"/>
              </a:rPr>
              <a:t>implements security controls in public, private and hybrid cloud environments, detecting and fixing false security configurations and vulnerabilities.</a:t>
            </a:r>
          </a:p>
          <a:p>
            <a:pPr algn="l">
              <a:buFont typeface="Arial" panose="020B0604020202020204" pitchFamily="34" charset="0"/>
              <a:buChar char="•"/>
            </a:pPr>
            <a:r>
              <a:rPr lang="en-US" b="1" i="0" dirty="0">
                <a:solidFill>
                  <a:srgbClr val="000000"/>
                </a:solidFill>
                <a:effectLst/>
                <a:latin typeface="Inter"/>
              </a:rPr>
              <a:t>Endpoint security—</a:t>
            </a:r>
            <a:r>
              <a:rPr lang="en-US" b="0" i="0" dirty="0">
                <a:solidFill>
                  <a:srgbClr val="000000"/>
                </a:solidFill>
                <a:effectLst/>
                <a:latin typeface="Inter"/>
              </a:rPr>
              <a:t>deployed on endpoint devices such as servers and employee workstations, which can prevent threats like malware, unauthorized access, and exploitation of operating system and browser vulnerabilities.</a:t>
            </a:r>
          </a:p>
          <a:p>
            <a:pPr algn="l">
              <a:buFont typeface="Arial" panose="020B0604020202020204" pitchFamily="34" charset="0"/>
              <a:buChar char="•"/>
            </a:pPr>
            <a:r>
              <a:rPr lang="en-US" b="1" i="0" u="none" strike="noStrike" dirty="0">
                <a:solidFill>
                  <a:srgbClr val="285AE6"/>
                </a:solidFill>
                <a:effectLst/>
                <a:latin typeface="Inter"/>
                <a:hlinkClick r:id="rId14"/>
              </a:rPr>
              <a:t>Internet of Things (IoT) security</a:t>
            </a:r>
            <a:r>
              <a:rPr lang="en-US" b="1" i="0" dirty="0">
                <a:solidFill>
                  <a:srgbClr val="000000"/>
                </a:solidFill>
                <a:effectLst/>
                <a:latin typeface="Inter"/>
              </a:rPr>
              <a:t>—</a:t>
            </a:r>
            <a:r>
              <a:rPr lang="en-US" b="0" i="0" dirty="0">
                <a:solidFill>
                  <a:srgbClr val="000000"/>
                </a:solidFill>
                <a:effectLst/>
                <a:latin typeface="Inter"/>
              </a:rPr>
              <a:t>connected devices are often used to store sensitive data, but are usually not protected by design. IoT security solutions help gain visibility and improve security for IoT devices.</a:t>
            </a:r>
          </a:p>
          <a:p>
            <a:pPr algn="l">
              <a:buFont typeface="Arial" panose="020B0604020202020204" pitchFamily="34" charset="0"/>
              <a:buChar char="•"/>
            </a:pPr>
            <a:r>
              <a:rPr lang="en-US" b="1" i="0" dirty="0">
                <a:solidFill>
                  <a:srgbClr val="000000"/>
                </a:solidFill>
                <a:effectLst/>
                <a:latin typeface="Inter"/>
              </a:rPr>
              <a:t>Threat intelligence</a:t>
            </a:r>
            <a:r>
              <a:rPr lang="en-US" b="0" i="0" dirty="0">
                <a:solidFill>
                  <a:srgbClr val="000000"/>
                </a:solidFill>
                <a:effectLst/>
                <a:latin typeface="Inter"/>
              </a:rPr>
              <a:t>—combines multiple feeds containing data about attack signatures and threat actors, providing additional context for security events. Threat intelligence data can help security teams detect attacks, understand them, and design the most appropriate response.</a:t>
            </a: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0"/>
        <p:cNvGrpSpPr/>
        <p:nvPr/>
      </p:nvGrpSpPr>
      <p:grpSpPr>
        <a:xfrm>
          <a:off x="0" y="0"/>
          <a:ext cx="0" cy="0"/>
          <a:chOff x="0" y="0"/>
          <a:chExt cx="0" cy="0"/>
        </a:xfrm>
      </p:grpSpPr>
      <p:sp>
        <p:nvSpPr>
          <p:cNvPr id="3301" name="Google Shape;3301;g11bc263f502_0_1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2" name="Google Shape;3302;g11bc263f502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00000"/>
                </a:solidFill>
                <a:effectLst/>
                <a:latin typeface="Inter"/>
              </a:rPr>
              <a:t>Here are some of the main types of malware attacks:</a:t>
            </a:r>
          </a:p>
          <a:p>
            <a:pPr algn="l">
              <a:buFont typeface="Arial" panose="020B0604020202020204" pitchFamily="34" charset="0"/>
              <a:buChar char="•"/>
            </a:pPr>
            <a:r>
              <a:rPr lang="en-US" b="1" i="0" dirty="0">
                <a:solidFill>
                  <a:srgbClr val="000000"/>
                </a:solidFill>
                <a:effectLst/>
                <a:latin typeface="Inter"/>
              </a:rPr>
              <a:t>Viruses—</a:t>
            </a:r>
            <a:r>
              <a:rPr lang="en-US" b="0" i="0" dirty="0">
                <a:solidFill>
                  <a:srgbClr val="000000"/>
                </a:solidFill>
                <a:effectLst/>
                <a:latin typeface="Inter"/>
              </a:rPr>
              <a:t>a piece of code injects itself into an application. When the application runs, the malicious code executes.</a:t>
            </a:r>
          </a:p>
          <a:p>
            <a:pPr algn="l">
              <a:buFont typeface="Arial" panose="020B0604020202020204" pitchFamily="34" charset="0"/>
              <a:buChar char="•"/>
            </a:pPr>
            <a:r>
              <a:rPr lang="en-US" b="1" i="0" dirty="0">
                <a:solidFill>
                  <a:srgbClr val="000000"/>
                </a:solidFill>
                <a:effectLst/>
                <a:latin typeface="Inter"/>
              </a:rPr>
              <a:t>Worms—</a:t>
            </a:r>
            <a:r>
              <a:rPr lang="en-US" b="0" i="0" dirty="0">
                <a:solidFill>
                  <a:srgbClr val="000000"/>
                </a:solidFill>
                <a:effectLst/>
                <a:latin typeface="Inter"/>
              </a:rPr>
              <a:t>malware that exploits software vulnerabilities and backdoors to gain access to an operating system. Once installed in the network, the worm can carry out attacks such as distributed denial of service (DDoS).</a:t>
            </a:r>
          </a:p>
          <a:p>
            <a:pPr algn="l">
              <a:buFont typeface="Arial" panose="020B0604020202020204" pitchFamily="34" charset="0"/>
              <a:buChar char="•"/>
            </a:pPr>
            <a:r>
              <a:rPr lang="en-US" b="1" i="0" u="none" strike="noStrike" dirty="0">
                <a:solidFill>
                  <a:srgbClr val="285AE6"/>
                </a:solidFill>
                <a:effectLst/>
                <a:latin typeface="Inter"/>
                <a:hlinkClick r:id="rId3"/>
              </a:rPr>
              <a:t>Trojans</a:t>
            </a:r>
            <a:r>
              <a:rPr lang="en-US" b="1" i="0" dirty="0">
                <a:solidFill>
                  <a:srgbClr val="000000"/>
                </a:solidFill>
                <a:effectLst/>
                <a:latin typeface="Inter"/>
              </a:rPr>
              <a:t>—</a:t>
            </a:r>
            <a:r>
              <a:rPr lang="en-US" b="0" i="0" dirty="0">
                <a:solidFill>
                  <a:srgbClr val="000000"/>
                </a:solidFill>
                <a:effectLst/>
                <a:latin typeface="Inter"/>
              </a:rPr>
              <a:t>malicious code or software that poses as an innocent program, hiding in apps, games or email attachments. An unsuspecting user downloads the trojan, allowing it to gain control of their device.</a:t>
            </a:r>
          </a:p>
          <a:p>
            <a:pPr algn="l">
              <a:buFont typeface="Arial" panose="020B0604020202020204" pitchFamily="34" charset="0"/>
              <a:buChar char="•"/>
            </a:pPr>
            <a:r>
              <a:rPr lang="en-US" b="1" i="0" u="none" strike="noStrike" dirty="0">
                <a:solidFill>
                  <a:srgbClr val="285AE6"/>
                </a:solidFill>
                <a:effectLst/>
                <a:latin typeface="Inter"/>
                <a:hlinkClick r:id="rId4"/>
              </a:rPr>
              <a:t>Ransomware</a:t>
            </a:r>
            <a:r>
              <a:rPr lang="en-US" b="1" i="0" dirty="0">
                <a:solidFill>
                  <a:srgbClr val="000000"/>
                </a:solidFill>
                <a:effectLst/>
                <a:latin typeface="Inter"/>
              </a:rPr>
              <a:t>—</a:t>
            </a:r>
            <a:r>
              <a:rPr lang="en-US" b="0" i="0" dirty="0">
                <a:solidFill>
                  <a:srgbClr val="000000"/>
                </a:solidFill>
                <a:effectLst/>
                <a:latin typeface="Inter"/>
              </a:rPr>
              <a:t>a user or organization is denied access to their own systems or data via encryption. The attacker typically demands a ransom be paid in exchange for a decryption key to restore access, but there is no guarantee that paying the ransom will actually restore full access or functionality.</a:t>
            </a:r>
          </a:p>
          <a:p>
            <a:pPr algn="l">
              <a:buFont typeface="Arial" panose="020B0604020202020204" pitchFamily="34" charset="0"/>
              <a:buChar char="•"/>
            </a:pPr>
            <a:r>
              <a:rPr lang="en-US" b="1" i="0" dirty="0">
                <a:solidFill>
                  <a:srgbClr val="000000"/>
                </a:solidFill>
                <a:effectLst/>
                <a:latin typeface="Inter"/>
              </a:rPr>
              <a:t>Cryptojacking</a:t>
            </a:r>
            <a:r>
              <a:rPr lang="en-US" b="0" i="0" dirty="0">
                <a:solidFill>
                  <a:srgbClr val="000000"/>
                </a:solidFill>
                <a:effectLst/>
                <a:latin typeface="Inter"/>
              </a:rPr>
              <a:t>—attackers deploy software on a victim’s device, and begin using their computing resources to generate cryptocurrency, without their knowledge. Affected systems can become slow and cryptojacking kits can affect system stability.</a:t>
            </a:r>
          </a:p>
          <a:p>
            <a:pPr algn="l">
              <a:buFont typeface="Arial" panose="020B0604020202020204" pitchFamily="34" charset="0"/>
              <a:buChar char="•"/>
            </a:pPr>
            <a:r>
              <a:rPr lang="en-US" b="1" i="0" dirty="0">
                <a:solidFill>
                  <a:srgbClr val="000000"/>
                </a:solidFill>
                <a:effectLst/>
                <a:latin typeface="Inter"/>
              </a:rPr>
              <a:t>Spyware</a:t>
            </a:r>
            <a:r>
              <a:rPr lang="en-US" b="0" i="0" dirty="0">
                <a:solidFill>
                  <a:srgbClr val="000000"/>
                </a:solidFill>
                <a:effectLst/>
                <a:latin typeface="Inter"/>
              </a:rPr>
              <a:t>—a malicious actor gains access to an unsuspecting user’s data, including sensitive information such as passwords and payment details. Spyware can affect desktop browsers, mobile phones and desktop applications.</a:t>
            </a:r>
          </a:p>
          <a:p>
            <a:pPr algn="l">
              <a:buFont typeface="Arial" panose="020B0604020202020204" pitchFamily="34" charset="0"/>
              <a:buChar char="•"/>
            </a:pPr>
            <a:r>
              <a:rPr lang="en-US" b="1" i="0" dirty="0">
                <a:solidFill>
                  <a:srgbClr val="000000"/>
                </a:solidFill>
                <a:effectLst/>
                <a:latin typeface="Inter"/>
              </a:rPr>
              <a:t>Adware—</a:t>
            </a:r>
            <a:r>
              <a:rPr lang="en-US" b="0" i="0" dirty="0">
                <a:solidFill>
                  <a:srgbClr val="000000"/>
                </a:solidFill>
                <a:effectLst/>
                <a:latin typeface="Inter"/>
              </a:rPr>
              <a:t>a user’s browsing activity is tracked to determine behavior patterns and interests, allowing advertisers to send the user targeted advertising. Adware is related to spyware but does not involve installing software on the user’s device and is not necessarily used for malicious purposes, but it can be used without the user’s consent and compromise their privacy.</a:t>
            </a:r>
          </a:p>
          <a:p>
            <a:pPr algn="l">
              <a:buFont typeface="Arial" panose="020B0604020202020204" pitchFamily="34" charset="0"/>
              <a:buChar char="•"/>
            </a:pPr>
            <a:r>
              <a:rPr lang="en-US" b="1" i="0" dirty="0">
                <a:solidFill>
                  <a:srgbClr val="000000"/>
                </a:solidFill>
                <a:effectLst/>
                <a:latin typeface="Inter"/>
              </a:rPr>
              <a:t>Fileless malware</a:t>
            </a:r>
            <a:r>
              <a:rPr lang="en-US" b="0" i="0" dirty="0">
                <a:solidFill>
                  <a:srgbClr val="000000"/>
                </a:solidFill>
                <a:effectLst/>
                <a:latin typeface="Inter"/>
              </a:rPr>
              <a:t>—no software is installed on the operating system. Native files like WMI and PowerShell are edited to enable malicious functions. This stealthy form of attack is difficult to detect (antivirus can’t identify it), because the compromised files are recognized as legitimate.</a:t>
            </a:r>
          </a:p>
          <a:p>
            <a:pPr algn="l">
              <a:buFont typeface="Arial" panose="020B0604020202020204" pitchFamily="34" charset="0"/>
              <a:buChar char="•"/>
            </a:pPr>
            <a:r>
              <a:rPr lang="en-US" b="1" i="0" u="none" strike="noStrike" dirty="0">
                <a:solidFill>
                  <a:srgbClr val="285AE6"/>
                </a:solidFill>
                <a:effectLst/>
                <a:latin typeface="Inter"/>
                <a:hlinkClick r:id="rId5"/>
              </a:rPr>
              <a:t>Rootkits</a:t>
            </a:r>
            <a:r>
              <a:rPr lang="en-US" b="1" i="0" dirty="0">
                <a:solidFill>
                  <a:srgbClr val="000000"/>
                </a:solidFill>
                <a:effectLst/>
                <a:latin typeface="Inter"/>
              </a:rPr>
              <a:t>—</a:t>
            </a:r>
            <a:r>
              <a:rPr lang="en-US" b="0" i="0" dirty="0">
                <a:solidFill>
                  <a:srgbClr val="000000"/>
                </a:solidFill>
                <a:effectLst/>
                <a:latin typeface="Inter"/>
              </a:rPr>
              <a:t>software is injected into applications, firmware, operating system kernels or hypervisors, providing remote administrative access to a computer. The attacker can start the operating system within a compromised environment, gain complete control of the computer and deliver additional malware.</a:t>
            </a: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r>
              <a:rPr lang="en-US" b="0" i="0" dirty="0">
                <a:solidFill>
                  <a:srgbClr val="000000"/>
                </a:solidFill>
                <a:effectLst/>
                <a:latin typeface="Inter"/>
              </a:rPr>
              <a:t>DoS attack techniques include:</a:t>
            </a:r>
          </a:p>
          <a:p>
            <a:pPr algn="l">
              <a:buFont typeface="Arial" panose="020B0604020202020204" pitchFamily="34" charset="0"/>
              <a:buChar char="•"/>
            </a:pPr>
            <a:r>
              <a:rPr lang="en-US" b="1" i="0" u="none" strike="noStrike" dirty="0">
                <a:solidFill>
                  <a:srgbClr val="285AE6"/>
                </a:solidFill>
                <a:effectLst/>
                <a:latin typeface="Inter"/>
                <a:hlinkClick r:id="rId6"/>
              </a:rPr>
              <a:t>HTTP flood DDoS</a:t>
            </a:r>
            <a:r>
              <a:rPr lang="en-US" b="0" i="0" dirty="0">
                <a:solidFill>
                  <a:srgbClr val="000000"/>
                </a:solidFill>
                <a:effectLst/>
                <a:latin typeface="Inter"/>
              </a:rPr>
              <a:t>—the attacker uses HTTP requests that appear legitimate to overwhelm an application or web server. This technique does not require high bandwidth or malformed packets, and typically tries to force a target system to allocate as many resources as possible for each request.</a:t>
            </a:r>
          </a:p>
          <a:p>
            <a:pPr algn="l">
              <a:buFont typeface="Arial" panose="020B0604020202020204" pitchFamily="34" charset="0"/>
              <a:buChar char="•"/>
            </a:pPr>
            <a:r>
              <a:rPr lang="en-US" b="1" i="0" u="none" strike="noStrike" dirty="0">
                <a:solidFill>
                  <a:srgbClr val="285AE6"/>
                </a:solidFill>
                <a:effectLst/>
                <a:latin typeface="Inter"/>
                <a:hlinkClick r:id="rId7"/>
              </a:rPr>
              <a:t>SYN flood DDoS</a:t>
            </a:r>
            <a:r>
              <a:rPr lang="en-US" b="0" i="0" dirty="0">
                <a:solidFill>
                  <a:srgbClr val="000000"/>
                </a:solidFill>
                <a:effectLst/>
                <a:latin typeface="Inter"/>
              </a:rPr>
              <a:t>—initiating a Transmission Control Protocol (TCP) connection sequence involves sending a SYN request that the host must respond to with a SYN-ACK that acknowledges the request, and then the requester must respond with an ACK. Attackers can exploit this sequence, tying up server resources, by sending SYN requests but not responding to the SYN-ACKs from the host.</a:t>
            </a:r>
          </a:p>
          <a:p>
            <a:pPr algn="l">
              <a:buFont typeface="Arial" panose="020B0604020202020204" pitchFamily="34" charset="0"/>
              <a:buChar char="•"/>
            </a:pPr>
            <a:r>
              <a:rPr lang="en-US" b="1" i="0" u="none" strike="noStrike" dirty="0">
                <a:solidFill>
                  <a:srgbClr val="285AE6"/>
                </a:solidFill>
                <a:effectLst/>
                <a:latin typeface="Inter"/>
                <a:hlinkClick r:id="rId8"/>
              </a:rPr>
              <a:t>UDP flood DDoS</a:t>
            </a:r>
            <a:r>
              <a:rPr lang="en-US" b="0" i="0" dirty="0">
                <a:solidFill>
                  <a:srgbClr val="000000"/>
                </a:solidFill>
                <a:effectLst/>
                <a:latin typeface="Inter"/>
              </a:rPr>
              <a:t>—a remote host is flooded with User Datagram Protocol (UDP) packets sent to random ports. This technique forces the host to search for applications on the affected ports and respond with “Destination Unreachable” packets, which uses up the host resources.</a:t>
            </a:r>
          </a:p>
          <a:p>
            <a:pPr algn="l">
              <a:buFont typeface="Arial" panose="020B0604020202020204" pitchFamily="34" charset="0"/>
              <a:buChar char="•"/>
            </a:pPr>
            <a:r>
              <a:rPr lang="en-US" b="1" i="0" u="none" strike="noStrike" dirty="0">
                <a:solidFill>
                  <a:srgbClr val="285AE6"/>
                </a:solidFill>
                <a:effectLst/>
                <a:latin typeface="Inter"/>
                <a:hlinkClick r:id="rId9"/>
              </a:rPr>
              <a:t>ICMP flood</a:t>
            </a:r>
            <a:r>
              <a:rPr lang="en-US" b="0" i="0" dirty="0">
                <a:solidFill>
                  <a:srgbClr val="000000"/>
                </a:solidFill>
                <a:effectLst/>
                <a:latin typeface="Inter"/>
              </a:rPr>
              <a:t>—a barrage of ICMP Echo Request packets overwhelms the target, consuming both inbound and outgoing bandwidth. The servers may try to respond to each request with an ICMP Echo Reply packet, but cannot keep up with the rate of requests, so the system slows down.</a:t>
            </a:r>
          </a:p>
          <a:p>
            <a:pPr algn="l">
              <a:buFont typeface="Arial" panose="020B0604020202020204" pitchFamily="34" charset="0"/>
              <a:buChar char="•"/>
            </a:pPr>
            <a:r>
              <a:rPr lang="en-US" b="1" i="0" u="none" strike="noStrike" dirty="0">
                <a:solidFill>
                  <a:srgbClr val="285AE6"/>
                </a:solidFill>
                <a:effectLst/>
                <a:latin typeface="Inter"/>
                <a:hlinkClick r:id="rId10"/>
              </a:rPr>
              <a:t>NTP amplification</a:t>
            </a:r>
            <a:r>
              <a:rPr lang="en-US" b="0" i="0" dirty="0">
                <a:solidFill>
                  <a:srgbClr val="000000"/>
                </a:solidFill>
                <a:effectLst/>
                <a:latin typeface="Inter"/>
              </a:rPr>
              <a:t>—Network Time Protocol (NTP) servers are accessible to the public and can be exploited by an attacker to send large volumes of UDP traffic to a targeted server. This is considered an amplification attack due to the query-to-response ratio of 1:20 to 1:200, which allows an attacker to exploit open NTP servers to execute high-volume, high-bandwidth DDoS attacks.</a:t>
            </a: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algn="l"/>
            <a:r>
              <a:rPr lang="en-US" b="0" i="0" dirty="0">
                <a:solidFill>
                  <a:srgbClr val="000000"/>
                </a:solidFill>
                <a:effectLst/>
                <a:latin typeface="Inter"/>
              </a:rPr>
              <a:t>Here are some of the main vectors for injection attacks:</a:t>
            </a:r>
          </a:p>
          <a:p>
            <a:pPr algn="l">
              <a:buFont typeface="Arial" panose="020B0604020202020204" pitchFamily="34" charset="0"/>
              <a:buChar char="•"/>
            </a:pPr>
            <a:r>
              <a:rPr lang="en-US" b="1" i="0" u="none" strike="noStrike" dirty="0">
                <a:solidFill>
                  <a:srgbClr val="285AE6"/>
                </a:solidFill>
                <a:effectLst/>
                <a:latin typeface="Inter"/>
                <a:hlinkClick r:id="rId11"/>
              </a:rPr>
              <a:t>SQL injection</a:t>
            </a:r>
            <a:r>
              <a:rPr lang="en-US" b="0" i="0" dirty="0">
                <a:solidFill>
                  <a:srgbClr val="000000"/>
                </a:solidFill>
                <a:effectLst/>
                <a:latin typeface="Inter"/>
              </a:rPr>
              <a:t>—an attacker enters an SQL query into an end user input channel, such as a web form or comment field. A vulnerable application will send the attacker’s data to the database, and will execute any SQL commands that have been injected into the query. Most web applications use databases based on Structured Query Language (SQL), making them vulnerable to SQL injection. A new variant on this attack is NoSQL attacks, targeted against databases that do not use a relational data structure.</a:t>
            </a:r>
          </a:p>
          <a:p>
            <a:pPr algn="l">
              <a:buFont typeface="Arial" panose="020B0604020202020204" pitchFamily="34" charset="0"/>
              <a:buChar char="•"/>
            </a:pPr>
            <a:r>
              <a:rPr lang="en-US" b="1" i="0" u="none" strike="noStrike" dirty="0">
                <a:solidFill>
                  <a:srgbClr val="285AE6"/>
                </a:solidFill>
                <a:effectLst/>
                <a:latin typeface="Inter"/>
                <a:hlinkClick r:id="rId12"/>
              </a:rPr>
              <a:t>Code injection</a:t>
            </a:r>
            <a:r>
              <a:rPr lang="en-US" b="0" i="0" dirty="0">
                <a:solidFill>
                  <a:srgbClr val="000000"/>
                </a:solidFill>
                <a:effectLst/>
                <a:latin typeface="Inter"/>
              </a:rPr>
              <a:t>—an attacker can inject code into an application if it is vulnerable. The web server executes the malicious code as if it were part of the application.</a:t>
            </a:r>
          </a:p>
          <a:p>
            <a:pPr algn="l">
              <a:buFont typeface="Arial" panose="020B0604020202020204" pitchFamily="34" charset="0"/>
              <a:buChar char="•"/>
            </a:pPr>
            <a:r>
              <a:rPr lang="en-US" b="1" i="0" dirty="0">
                <a:solidFill>
                  <a:srgbClr val="000000"/>
                </a:solidFill>
                <a:effectLst/>
                <a:latin typeface="Inter"/>
              </a:rPr>
              <a:t>OS command injection</a:t>
            </a:r>
            <a:r>
              <a:rPr lang="en-US" b="0" i="0" dirty="0">
                <a:solidFill>
                  <a:srgbClr val="000000"/>
                </a:solidFill>
                <a:effectLst/>
                <a:latin typeface="Inter"/>
              </a:rPr>
              <a:t>—an attacker can exploit a command injection vulnerability to input commands for the operating system to execute. This allows the attack to exfiltrate OS data or take over the system.</a:t>
            </a:r>
          </a:p>
          <a:p>
            <a:pPr algn="l">
              <a:buFont typeface="Arial" panose="020B0604020202020204" pitchFamily="34" charset="0"/>
              <a:buChar char="•"/>
            </a:pPr>
            <a:r>
              <a:rPr lang="en-US" b="1" i="0" dirty="0">
                <a:solidFill>
                  <a:srgbClr val="000000"/>
                </a:solidFill>
                <a:effectLst/>
                <a:latin typeface="Inter"/>
              </a:rPr>
              <a:t>LDAP injection</a:t>
            </a:r>
            <a:r>
              <a:rPr lang="en-US" b="0" i="0" dirty="0">
                <a:solidFill>
                  <a:srgbClr val="000000"/>
                </a:solidFill>
                <a:effectLst/>
                <a:latin typeface="Inter"/>
              </a:rPr>
              <a:t>—an attacker inputs characters to alter Lightweight Directory Access Protocol (LDAP) queries. A system is vulnerable if it uses </a:t>
            </a:r>
            <a:r>
              <a:rPr lang="en-US" b="0" i="0" dirty="0" err="1">
                <a:solidFill>
                  <a:srgbClr val="000000"/>
                </a:solidFill>
                <a:effectLst/>
                <a:latin typeface="Inter"/>
              </a:rPr>
              <a:t>unsanitized</a:t>
            </a:r>
            <a:r>
              <a:rPr lang="en-US" b="0" i="0" dirty="0">
                <a:solidFill>
                  <a:srgbClr val="000000"/>
                </a:solidFill>
                <a:effectLst/>
                <a:latin typeface="Inter"/>
              </a:rPr>
              <a:t> LDAP queries. These attacks are very severe because LDAP servers may store user accounts and credentials for an entire organization.</a:t>
            </a:r>
          </a:p>
          <a:p>
            <a:pPr algn="l">
              <a:buFont typeface="Arial" panose="020B0604020202020204" pitchFamily="34" charset="0"/>
              <a:buChar char="•"/>
            </a:pPr>
            <a:r>
              <a:rPr lang="en-US" b="1" i="0" dirty="0">
                <a:solidFill>
                  <a:srgbClr val="000000"/>
                </a:solidFill>
                <a:effectLst/>
                <a:latin typeface="Inter"/>
              </a:rPr>
              <a:t>XML </a:t>
            </a:r>
            <a:r>
              <a:rPr lang="en-US" b="1" i="0" dirty="0" err="1">
                <a:solidFill>
                  <a:srgbClr val="000000"/>
                </a:solidFill>
                <a:effectLst/>
                <a:latin typeface="Inter"/>
              </a:rPr>
              <a:t>eXternal</a:t>
            </a:r>
            <a:r>
              <a:rPr lang="en-US" b="1" i="0" dirty="0">
                <a:solidFill>
                  <a:srgbClr val="000000"/>
                </a:solidFill>
                <a:effectLst/>
                <a:latin typeface="Inter"/>
              </a:rPr>
              <a:t> Entities (XXE) Injection</a:t>
            </a:r>
            <a:r>
              <a:rPr lang="en-US" b="0" i="0" dirty="0">
                <a:solidFill>
                  <a:srgbClr val="000000"/>
                </a:solidFill>
                <a:effectLst/>
                <a:latin typeface="Inter"/>
              </a:rPr>
              <a:t>—an attack is carried out using specially-constructed XML documents. This differs from other attack vectors because it exploits inherent vulnerabilities in legacy XML parsers rather than unvalidated user inputs. XML documents can be used to traverse paths, execute code remotely and execute server-side request forgery (SSRF).</a:t>
            </a:r>
          </a:p>
          <a:p>
            <a:pPr algn="l">
              <a:buFont typeface="Arial" panose="020B0604020202020204" pitchFamily="34" charset="0"/>
              <a:buChar char="•"/>
            </a:pPr>
            <a:r>
              <a:rPr lang="en-US" b="1" i="0" u="none" strike="noStrike" dirty="0">
                <a:solidFill>
                  <a:srgbClr val="285AE6"/>
                </a:solidFill>
                <a:effectLst/>
                <a:latin typeface="Inter"/>
                <a:hlinkClick r:id="rId13"/>
              </a:rPr>
              <a:t>Cross-Site Scripting</a:t>
            </a:r>
            <a:r>
              <a:rPr lang="en-US" b="1" i="0" dirty="0">
                <a:solidFill>
                  <a:srgbClr val="000000"/>
                </a:solidFill>
                <a:effectLst/>
                <a:latin typeface="Inter"/>
              </a:rPr>
              <a:t> (XSS)</a:t>
            </a:r>
            <a:r>
              <a:rPr lang="en-US" b="0" i="0" dirty="0">
                <a:solidFill>
                  <a:srgbClr val="000000"/>
                </a:solidFill>
                <a:effectLst/>
                <a:latin typeface="Inter"/>
              </a:rPr>
              <a:t>—an attacker inputs a string of text containing malicious JavaScript. The target’s browser executes the code, enabling the attacker to redirect users to a malicious website or steal session cookies to hijack a user’s session. An application is vulnerable to XSS if it doesn’t sanitize user inputs to remove JavaScript code.</a:t>
            </a:r>
          </a:p>
          <a:p>
            <a:pPr algn="l">
              <a:buFont typeface="Arial" panose="020B0604020202020204" pitchFamily="34" charset="0"/>
              <a:buChar char="•"/>
            </a:pPr>
            <a:endParaRPr lang="en-US" b="0" i="0" dirty="0">
              <a:solidFill>
                <a:srgbClr val="000000"/>
              </a:solidFill>
              <a:effectLst/>
              <a:latin typeface="Inter"/>
            </a:endParaRPr>
          </a:p>
          <a:p>
            <a:pPr algn="l">
              <a:buFont typeface="Arial" panose="020B0604020202020204" pitchFamily="34" charset="0"/>
              <a:buChar char="•"/>
            </a:pPr>
            <a:endParaRPr lang="en-US" b="0" i="0" dirty="0">
              <a:solidFill>
                <a:srgbClr val="000000"/>
              </a:solidFill>
              <a:effectLst/>
              <a:latin typeface="Inter"/>
            </a:endParaRPr>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0"/>
        <p:cNvGrpSpPr/>
        <p:nvPr/>
      </p:nvGrpSpPr>
      <p:grpSpPr>
        <a:xfrm>
          <a:off x="0" y="0"/>
          <a:ext cx="0" cy="0"/>
          <a:chOff x="0" y="0"/>
          <a:chExt cx="0" cy="0"/>
        </a:xfrm>
      </p:grpSpPr>
      <p:sp>
        <p:nvSpPr>
          <p:cNvPr id="3521" name="Google Shape;3521;g11bc263f502_0_2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2" name="Google Shape;3522;g11bc263f502_0_2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7"/>
        <p:cNvGrpSpPr/>
        <p:nvPr/>
      </p:nvGrpSpPr>
      <p:grpSpPr>
        <a:xfrm>
          <a:off x="0" y="0"/>
          <a:ext cx="0" cy="0"/>
          <a:chOff x="0" y="0"/>
          <a:chExt cx="0" cy="0"/>
        </a:xfrm>
      </p:grpSpPr>
      <p:sp>
        <p:nvSpPr>
          <p:cNvPr id="3588" name="Google Shape;3588;g11bc263f502_0_2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9" name="Google Shape;3589;g11bc263f502_0_2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333333"/>
                </a:solidFill>
                <a:effectLst/>
                <a:latin typeface="DIN"/>
              </a:rPr>
              <a:t>How to Protect Against Vulnerabilities</a:t>
            </a:r>
          </a:p>
          <a:p>
            <a:pPr algn="l"/>
            <a:r>
              <a:rPr lang="en-US" b="0" i="0" dirty="0">
                <a:solidFill>
                  <a:srgbClr val="333333"/>
                </a:solidFill>
                <a:effectLst/>
                <a:latin typeface="DIN"/>
              </a:rPr>
              <a:t>Some of the ways that companies can help protect themselves against attack include the following:</a:t>
            </a:r>
          </a:p>
          <a:p>
            <a:pPr algn="l">
              <a:buFont typeface="Arial" panose="020B0604020202020204" pitchFamily="34" charset="0"/>
              <a:buChar char="•"/>
            </a:pPr>
            <a:r>
              <a:rPr lang="en-US" b="1" i="0" dirty="0">
                <a:solidFill>
                  <a:srgbClr val="333333"/>
                </a:solidFill>
                <a:effectLst/>
                <a:latin typeface="DIN"/>
              </a:rPr>
              <a:t>Vulnerability Scanning:</a:t>
            </a:r>
            <a:r>
              <a:rPr lang="en-US" b="0" i="0" dirty="0">
                <a:solidFill>
                  <a:srgbClr val="333333"/>
                </a:solidFill>
                <a:effectLst/>
                <a:latin typeface="DIN"/>
              </a:rPr>
              <a:t> A </a:t>
            </a:r>
            <a:r>
              <a:rPr lang="en-US" b="0" i="0" u="none" strike="noStrike" dirty="0">
                <a:solidFill>
                  <a:srgbClr val="E40C5B"/>
                </a:solidFill>
                <a:effectLst/>
                <a:latin typeface="DIN"/>
                <a:hlinkClick r:id="rId3"/>
              </a:rPr>
              <a:t>vulnerability scanner</a:t>
            </a:r>
            <a:r>
              <a:rPr lang="en-US" b="0" i="0" dirty="0">
                <a:solidFill>
                  <a:srgbClr val="333333"/>
                </a:solidFill>
                <a:effectLst/>
                <a:latin typeface="DIN"/>
              </a:rPr>
              <a:t> can automatically identify many of the vulnerabilities in an organization’s systems. Performing a vulnerability scan provides insight into the issues that need correction and where the company is most likely to be attacked.</a:t>
            </a:r>
          </a:p>
          <a:p>
            <a:pPr algn="l">
              <a:buFont typeface="Arial" panose="020B0604020202020204" pitchFamily="34" charset="0"/>
              <a:buChar char="•"/>
            </a:pPr>
            <a:r>
              <a:rPr lang="en-US" b="1" i="0" dirty="0">
                <a:solidFill>
                  <a:srgbClr val="333333"/>
                </a:solidFill>
                <a:effectLst/>
                <a:latin typeface="DIN"/>
              </a:rPr>
              <a:t>Access Control:</a:t>
            </a:r>
            <a:r>
              <a:rPr lang="en-US" b="0" i="0" dirty="0">
                <a:solidFill>
                  <a:srgbClr val="333333"/>
                </a:solidFill>
                <a:effectLst/>
                <a:latin typeface="DIN"/>
              </a:rPr>
              <a:t> Many vulnerabilities arise from weak authentication and access control. Implementing </a:t>
            </a:r>
            <a:r>
              <a:rPr lang="en-US" b="0" i="0" u="none" strike="noStrike" dirty="0">
                <a:solidFill>
                  <a:srgbClr val="E40C5B"/>
                </a:solidFill>
                <a:effectLst/>
                <a:latin typeface="DIN"/>
                <a:hlinkClick r:id="rId4"/>
              </a:rPr>
              <a:t>least privilege</a:t>
            </a:r>
            <a:r>
              <a:rPr lang="en-US" b="0" i="0" dirty="0">
                <a:solidFill>
                  <a:srgbClr val="333333"/>
                </a:solidFill>
                <a:effectLst/>
                <a:latin typeface="DIN"/>
              </a:rPr>
              <a:t> and deploying multi-factor authentication (MFA) can help to limit the risk of account takeover attacks.</a:t>
            </a:r>
          </a:p>
          <a:p>
            <a:pPr algn="l">
              <a:buFont typeface="Arial" panose="020B0604020202020204" pitchFamily="34" charset="0"/>
              <a:buChar char="•"/>
            </a:pPr>
            <a:r>
              <a:rPr lang="en-US" b="1" i="0" dirty="0">
                <a:solidFill>
                  <a:srgbClr val="333333"/>
                </a:solidFill>
                <a:effectLst/>
                <a:latin typeface="DIN"/>
              </a:rPr>
              <a:t>Validate User Input:</a:t>
            </a:r>
            <a:r>
              <a:rPr lang="en-US" b="0" i="0" dirty="0">
                <a:solidFill>
                  <a:srgbClr val="333333"/>
                </a:solidFill>
                <a:effectLst/>
                <a:latin typeface="DIN"/>
              </a:rPr>
              <a:t> Many exploits take advantage of poor input validation. Applications should be designed to fully validate input before trusting and processing it.</a:t>
            </a:r>
          </a:p>
          <a:p>
            <a:pPr algn="l">
              <a:buFont typeface="Arial" panose="020B0604020202020204" pitchFamily="34" charset="0"/>
              <a:buChar char="•"/>
            </a:pPr>
            <a:r>
              <a:rPr lang="en-US" b="1" i="0" dirty="0">
                <a:solidFill>
                  <a:srgbClr val="333333"/>
                </a:solidFill>
                <a:effectLst/>
                <a:latin typeface="DIN"/>
              </a:rPr>
              <a:t>Automate Security Monitoring:</a:t>
            </a:r>
            <a:r>
              <a:rPr lang="en-US" b="0" i="0" dirty="0">
                <a:solidFill>
                  <a:srgbClr val="333333"/>
                </a:solidFill>
                <a:effectLst/>
                <a:latin typeface="DIN"/>
              </a:rPr>
              <a:t> Many companies have sprawling IT architectures, making it difficult or impossible to manually track configuration settings and cyber defenses. Automating security monitoring and management enables security teams to scale and quickly remediate issues.</a:t>
            </a:r>
          </a:p>
          <a:p>
            <a:pPr algn="l">
              <a:buFont typeface="Arial" panose="020B0604020202020204" pitchFamily="34" charset="0"/>
              <a:buChar char="•"/>
            </a:pPr>
            <a:r>
              <a:rPr lang="en-US" b="1" i="0" dirty="0">
                <a:solidFill>
                  <a:srgbClr val="333333"/>
                </a:solidFill>
                <a:effectLst/>
                <a:latin typeface="DIN"/>
              </a:rPr>
              <a:t>Deploy Security Solutions:</a:t>
            </a:r>
            <a:r>
              <a:rPr lang="en-US" b="0" i="0" dirty="0">
                <a:solidFill>
                  <a:srgbClr val="333333"/>
                </a:solidFill>
                <a:effectLst/>
                <a:latin typeface="DIN"/>
              </a:rPr>
              <a:t> Many common types of attacks can be identified and blocked by cybersecurity solutions such as firewalls or endpoint security tools. Deploying a comprehensive, integrated security architecture can reduce the risks posed by vulnerabilities.</a:t>
            </a: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333333"/>
                </a:solidFill>
                <a:effectLst/>
                <a:latin typeface="DIN"/>
              </a:rPr>
              <a:t>How to Protect Against Vulnerabilities</a:t>
            </a:r>
          </a:p>
          <a:p>
            <a:pPr algn="l"/>
            <a:r>
              <a:rPr lang="en-US" b="0" i="0" dirty="0">
                <a:solidFill>
                  <a:srgbClr val="333333"/>
                </a:solidFill>
                <a:effectLst/>
                <a:latin typeface="DIN"/>
              </a:rPr>
              <a:t>Some of the ways that companies can help protect themselves against attack include the following:</a:t>
            </a:r>
          </a:p>
          <a:p>
            <a:pPr algn="l">
              <a:buFont typeface="Arial" panose="020B0604020202020204" pitchFamily="34" charset="0"/>
              <a:buChar char="•"/>
            </a:pPr>
            <a:r>
              <a:rPr lang="en-US" b="1" i="0" dirty="0">
                <a:solidFill>
                  <a:srgbClr val="333333"/>
                </a:solidFill>
                <a:effectLst/>
                <a:latin typeface="DIN"/>
              </a:rPr>
              <a:t>Vulnerability Scanning:</a:t>
            </a:r>
            <a:r>
              <a:rPr lang="en-US" b="0" i="0" dirty="0">
                <a:solidFill>
                  <a:srgbClr val="333333"/>
                </a:solidFill>
                <a:effectLst/>
                <a:latin typeface="DIN"/>
              </a:rPr>
              <a:t> A </a:t>
            </a:r>
            <a:r>
              <a:rPr lang="en-US" b="0" i="0" u="none" strike="noStrike" dirty="0">
                <a:solidFill>
                  <a:srgbClr val="E40C5B"/>
                </a:solidFill>
                <a:effectLst/>
                <a:latin typeface="DIN"/>
                <a:hlinkClick r:id="rId3"/>
              </a:rPr>
              <a:t>vulnerability scanner</a:t>
            </a:r>
            <a:r>
              <a:rPr lang="en-US" b="0" i="0" dirty="0">
                <a:solidFill>
                  <a:srgbClr val="333333"/>
                </a:solidFill>
                <a:effectLst/>
                <a:latin typeface="DIN"/>
              </a:rPr>
              <a:t> can automatically identify many of the vulnerabilities in an organization’s systems. Performing a vulnerability scan provides insight into the issues that need correction and where the company is most likely to be attacked.</a:t>
            </a:r>
          </a:p>
          <a:p>
            <a:pPr algn="l">
              <a:buFont typeface="Arial" panose="020B0604020202020204" pitchFamily="34" charset="0"/>
              <a:buChar char="•"/>
            </a:pPr>
            <a:r>
              <a:rPr lang="en-US" b="1" i="0" dirty="0">
                <a:solidFill>
                  <a:srgbClr val="333333"/>
                </a:solidFill>
                <a:effectLst/>
                <a:latin typeface="DIN"/>
              </a:rPr>
              <a:t>Access Control:</a:t>
            </a:r>
            <a:r>
              <a:rPr lang="en-US" b="0" i="0" dirty="0">
                <a:solidFill>
                  <a:srgbClr val="333333"/>
                </a:solidFill>
                <a:effectLst/>
                <a:latin typeface="DIN"/>
              </a:rPr>
              <a:t> Many vulnerabilities arise from weak authentication and access control. Implementing </a:t>
            </a:r>
            <a:r>
              <a:rPr lang="en-US" b="0" i="0" u="none" strike="noStrike" dirty="0">
                <a:solidFill>
                  <a:srgbClr val="E40C5B"/>
                </a:solidFill>
                <a:effectLst/>
                <a:latin typeface="DIN"/>
                <a:hlinkClick r:id="rId4"/>
              </a:rPr>
              <a:t>least privilege</a:t>
            </a:r>
            <a:r>
              <a:rPr lang="en-US" b="0" i="0" dirty="0">
                <a:solidFill>
                  <a:srgbClr val="333333"/>
                </a:solidFill>
                <a:effectLst/>
                <a:latin typeface="DIN"/>
              </a:rPr>
              <a:t> and deploying multi-factor authentication (MFA) can help to limit the risk of account takeover attacks.</a:t>
            </a:r>
          </a:p>
          <a:p>
            <a:pPr algn="l">
              <a:buFont typeface="Arial" panose="020B0604020202020204" pitchFamily="34" charset="0"/>
              <a:buChar char="•"/>
            </a:pPr>
            <a:r>
              <a:rPr lang="en-US" b="1" i="0" dirty="0">
                <a:solidFill>
                  <a:srgbClr val="333333"/>
                </a:solidFill>
                <a:effectLst/>
                <a:latin typeface="DIN"/>
              </a:rPr>
              <a:t>Validate User Input:</a:t>
            </a:r>
            <a:r>
              <a:rPr lang="en-US" b="0" i="0" dirty="0">
                <a:solidFill>
                  <a:srgbClr val="333333"/>
                </a:solidFill>
                <a:effectLst/>
                <a:latin typeface="DIN"/>
              </a:rPr>
              <a:t> Many exploits take advantage of poor input validation. Applications should be designed to fully validate input before trusting and processing it.</a:t>
            </a:r>
          </a:p>
          <a:p>
            <a:pPr algn="l">
              <a:buFont typeface="Arial" panose="020B0604020202020204" pitchFamily="34" charset="0"/>
              <a:buChar char="•"/>
            </a:pPr>
            <a:r>
              <a:rPr lang="en-US" b="1" i="0" dirty="0">
                <a:solidFill>
                  <a:srgbClr val="333333"/>
                </a:solidFill>
                <a:effectLst/>
                <a:latin typeface="DIN"/>
              </a:rPr>
              <a:t>Automate Security Monitoring:</a:t>
            </a:r>
            <a:r>
              <a:rPr lang="en-US" b="0" i="0" dirty="0">
                <a:solidFill>
                  <a:srgbClr val="333333"/>
                </a:solidFill>
                <a:effectLst/>
                <a:latin typeface="DIN"/>
              </a:rPr>
              <a:t> Many companies have sprawling IT architectures, making it difficult or impossible to manually track configuration settings and cyber defenses. Automating security monitoring and management enables security teams to scale and quickly remediate issues.</a:t>
            </a:r>
          </a:p>
          <a:p>
            <a:pPr algn="l">
              <a:buFont typeface="Arial" panose="020B0604020202020204" pitchFamily="34" charset="0"/>
              <a:buChar char="•"/>
            </a:pPr>
            <a:r>
              <a:rPr lang="en-US" b="1" i="0" dirty="0">
                <a:solidFill>
                  <a:srgbClr val="333333"/>
                </a:solidFill>
                <a:effectLst/>
                <a:latin typeface="DIN"/>
              </a:rPr>
              <a:t>Deploy Security Solutions:</a:t>
            </a:r>
            <a:r>
              <a:rPr lang="en-US" b="0" i="0" dirty="0">
                <a:solidFill>
                  <a:srgbClr val="333333"/>
                </a:solidFill>
                <a:effectLst/>
                <a:latin typeface="DIN"/>
              </a:rPr>
              <a:t> Many common types of attacks can be identified and blocked by cybersecurity solutions such as firewalls or endpoint security tools. Deploying a comprehensive, integrated security architecture can reduce the risks posed by vulnerabilities.</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333333"/>
                </a:solidFill>
                <a:effectLst/>
                <a:latin typeface="DIN"/>
              </a:rPr>
              <a:t>How to Protect Against Vulnerabilities</a:t>
            </a:r>
          </a:p>
          <a:p>
            <a:pPr algn="l"/>
            <a:r>
              <a:rPr lang="en-US" b="0" i="0" dirty="0">
                <a:solidFill>
                  <a:srgbClr val="333333"/>
                </a:solidFill>
                <a:effectLst/>
                <a:latin typeface="DIN"/>
              </a:rPr>
              <a:t>Some of the ways that companies can help protect themselves against attack include the following:</a:t>
            </a:r>
          </a:p>
          <a:p>
            <a:pPr algn="l">
              <a:buFont typeface="Arial" panose="020B0604020202020204" pitchFamily="34" charset="0"/>
              <a:buChar char="•"/>
            </a:pPr>
            <a:r>
              <a:rPr lang="en-US" b="1" i="0" dirty="0">
                <a:solidFill>
                  <a:srgbClr val="333333"/>
                </a:solidFill>
                <a:effectLst/>
                <a:latin typeface="DIN"/>
              </a:rPr>
              <a:t>Vulnerability Scanning:</a:t>
            </a:r>
            <a:r>
              <a:rPr lang="en-US" b="0" i="0" dirty="0">
                <a:solidFill>
                  <a:srgbClr val="333333"/>
                </a:solidFill>
                <a:effectLst/>
                <a:latin typeface="DIN"/>
              </a:rPr>
              <a:t> A </a:t>
            </a:r>
            <a:r>
              <a:rPr lang="en-US" b="0" i="0" u="none" strike="noStrike" dirty="0">
                <a:solidFill>
                  <a:srgbClr val="E40C5B"/>
                </a:solidFill>
                <a:effectLst/>
                <a:latin typeface="DIN"/>
                <a:hlinkClick r:id="rId3"/>
              </a:rPr>
              <a:t>vulnerability scanner</a:t>
            </a:r>
            <a:r>
              <a:rPr lang="en-US" b="0" i="0" dirty="0">
                <a:solidFill>
                  <a:srgbClr val="333333"/>
                </a:solidFill>
                <a:effectLst/>
                <a:latin typeface="DIN"/>
              </a:rPr>
              <a:t> can automatically identify many of the vulnerabilities in an organization’s systems. Performing a vulnerability scan provides insight into the issues that need correction and where the company is most likely to be attacked.</a:t>
            </a:r>
          </a:p>
          <a:p>
            <a:pPr algn="l">
              <a:buFont typeface="Arial" panose="020B0604020202020204" pitchFamily="34" charset="0"/>
              <a:buChar char="•"/>
            </a:pPr>
            <a:r>
              <a:rPr lang="en-US" b="1" i="0" dirty="0">
                <a:solidFill>
                  <a:srgbClr val="333333"/>
                </a:solidFill>
                <a:effectLst/>
                <a:latin typeface="DIN"/>
              </a:rPr>
              <a:t>Access Control:</a:t>
            </a:r>
            <a:r>
              <a:rPr lang="en-US" b="0" i="0" dirty="0">
                <a:solidFill>
                  <a:srgbClr val="333333"/>
                </a:solidFill>
                <a:effectLst/>
                <a:latin typeface="DIN"/>
              </a:rPr>
              <a:t> Many vulnerabilities arise from weak authentication and access control. Implementing </a:t>
            </a:r>
            <a:r>
              <a:rPr lang="en-US" b="0" i="0" u="none" strike="noStrike" dirty="0">
                <a:solidFill>
                  <a:srgbClr val="E40C5B"/>
                </a:solidFill>
                <a:effectLst/>
                <a:latin typeface="DIN"/>
                <a:hlinkClick r:id="rId4"/>
              </a:rPr>
              <a:t>least privilege</a:t>
            </a:r>
            <a:r>
              <a:rPr lang="en-US" b="0" i="0" dirty="0">
                <a:solidFill>
                  <a:srgbClr val="333333"/>
                </a:solidFill>
                <a:effectLst/>
                <a:latin typeface="DIN"/>
              </a:rPr>
              <a:t> and deploying multi-factor authentication (MFA) can help to limit the risk of account takeover attacks.</a:t>
            </a:r>
          </a:p>
          <a:p>
            <a:pPr algn="l">
              <a:buFont typeface="Arial" panose="020B0604020202020204" pitchFamily="34" charset="0"/>
              <a:buChar char="•"/>
            </a:pPr>
            <a:r>
              <a:rPr lang="en-US" b="1" i="0" dirty="0">
                <a:solidFill>
                  <a:srgbClr val="333333"/>
                </a:solidFill>
                <a:effectLst/>
                <a:latin typeface="DIN"/>
              </a:rPr>
              <a:t>Validate User Input:</a:t>
            </a:r>
            <a:r>
              <a:rPr lang="en-US" b="0" i="0" dirty="0">
                <a:solidFill>
                  <a:srgbClr val="333333"/>
                </a:solidFill>
                <a:effectLst/>
                <a:latin typeface="DIN"/>
              </a:rPr>
              <a:t> Many exploits take advantage of poor input validation. Applications should be designed to fully validate input before trusting and processing it.</a:t>
            </a:r>
          </a:p>
          <a:p>
            <a:pPr algn="l">
              <a:buFont typeface="Arial" panose="020B0604020202020204" pitchFamily="34" charset="0"/>
              <a:buChar char="•"/>
            </a:pPr>
            <a:r>
              <a:rPr lang="en-US" b="1" i="0" dirty="0">
                <a:solidFill>
                  <a:srgbClr val="333333"/>
                </a:solidFill>
                <a:effectLst/>
                <a:latin typeface="DIN"/>
              </a:rPr>
              <a:t>Automate Security Monitoring:</a:t>
            </a:r>
            <a:r>
              <a:rPr lang="en-US" b="0" i="0" dirty="0">
                <a:solidFill>
                  <a:srgbClr val="333333"/>
                </a:solidFill>
                <a:effectLst/>
                <a:latin typeface="DIN"/>
              </a:rPr>
              <a:t> Many companies have sprawling IT architectures, making it difficult or impossible to manually track configuration settings and cyber defenses. Automating security monitoring and management enables security teams to scale and quickly remediate issues.</a:t>
            </a:r>
          </a:p>
          <a:p>
            <a:pPr algn="l">
              <a:buFont typeface="Arial" panose="020B0604020202020204" pitchFamily="34" charset="0"/>
              <a:buChar char="•"/>
            </a:pPr>
            <a:r>
              <a:rPr lang="en-US" b="1" i="0" dirty="0">
                <a:solidFill>
                  <a:srgbClr val="333333"/>
                </a:solidFill>
                <a:effectLst/>
                <a:latin typeface="DIN"/>
              </a:rPr>
              <a:t>Deploy Security Solutions:</a:t>
            </a:r>
            <a:r>
              <a:rPr lang="en-US" b="0" i="0" dirty="0">
                <a:solidFill>
                  <a:srgbClr val="333333"/>
                </a:solidFill>
                <a:effectLst/>
                <a:latin typeface="DIN"/>
              </a:rPr>
              <a:t> Many common types of attacks can be identified and blocked by cybersecurity solutions such as firewalls or endpoint security tools. Deploying a comprehensive, integrated security architecture can reduce the risks posed by vulnerabilities.</a:t>
            </a:r>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333333"/>
                </a:solidFill>
                <a:effectLst/>
                <a:latin typeface="DIN"/>
              </a:rPr>
              <a:t>How to Protect Against Vulnerabilities</a:t>
            </a:r>
          </a:p>
          <a:p>
            <a:pPr algn="l"/>
            <a:r>
              <a:rPr lang="en-US" b="0" i="0" dirty="0">
                <a:solidFill>
                  <a:srgbClr val="333333"/>
                </a:solidFill>
                <a:effectLst/>
                <a:latin typeface="DIN"/>
              </a:rPr>
              <a:t>Some of the ways that companies can help protect themselves against attack include the following:</a:t>
            </a:r>
          </a:p>
          <a:p>
            <a:pPr algn="l">
              <a:buFont typeface="Arial" panose="020B0604020202020204" pitchFamily="34" charset="0"/>
              <a:buChar char="•"/>
            </a:pPr>
            <a:r>
              <a:rPr lang="en-US" b="1" i="0" dirty="0">
                <a:solidFill>
                  <a:srgbClr val="333333"/>
                </a:solidFill>
                <a:effectLst/>
                <a:latin typeface="DIN"/>
              </a:rPr>
              <a:t>Vulnerability Scanning:</a:t>
            </a:r>
            <a:r>
              <a:rPr lang="en-US" b="0" i="0" dirty="0">
                <a:solidFill>
                  <a:srgbClr val="333333"/>
                </a:solidFill>
                <a:effectLst/>
                <a:latin typeface="DIN"/>
              </a:rPr>
              <a:t> A </a:t>
            </a:r>
            <a:r>
              <a:rPr lang="en-US" b="0" i="0" u="none" strike="noStrike" dirty="0">
                <a:solidFill>
                  <a:srgbClr val="E40C5B"/>
                </a:solidFill>
                <a:effectLst/>
                <a:latin typeface="DIN"/>
                <a:hlinkClick r:id="rId3"/>
              </a:rPr>
              <a:t>vulnerability scanner</a:t>
            </a:r>
            <a:r>
              <a:rPr lang="en-US" b="0" i="0" dirty="0">
                <a:solidFill>
                  <a:srgbClr val="333333"/>
                </a:solidFill>
                <a:effectLst/>
                <a:latin typeface="DIN"/>
              </a:rPr>
              <a:t> can automatically identify many of the vulnerabilities in an organization’s systems. Performing a vulnerability scan provides insight into the issues that need correction and where the company is most likely to be attacked.</a:t>
            </a:r>
          </a:p>
          <a:p>
            <a:pPr algn="l">
              <a:buFont typeface="Arial" panose="020B0604020202020204" pitchFamily="34" charset="0"/>
              <a:buChar char="•"/>
            </a:pPr>
            <a:r>
              <a:rPr lang="en-US" b="1" i="0" dirty="0">
                <a:solidFill>
                  <a:srgbClr val="333333"/>
                </a:solidFill>
                <a:effectLst/>
                <a:latin typeface="DIN"/>
              </a:rPr>
              <a:t>Access Control:</a:t>
            </a:r>
            <a:r>
              <a:rPr lang="en-US" b="0" i="0" dirty="0">
                <a:solidFill>
                  <a:srgbClr val="333333"/>
                </a:solidFill>
                <a:effectLst/>
                <a:latin typeface="DIN"/>
              </a:rPr>
              <a:t> Many vulnerabilities arise from weak authentication and access control. Implementing </a:t>
            </a:r>
            <a:r>
              <a:rPr lang="en-US" b="0" i="0" u="none" strike="noStrike" dirty="0">
                <a:solidFill>
                  <a:srgbClr val="E40C5B"/>
                </a:solidFill>
                <a:effectLst/>
                <a:latin typeface="DIN"/>
                <a:hlinkClick r:id="rId4"/>
              </a:rPr>
              <a:t>least privilege</a:t>
            </a:r>
            <a:r>
              <a:rPr lang="en-US" b="0" i="0" dirty="0">
                <a:solidFill>
                  <a:srgbClr val="333333"/>
                </a:solidFill>
                <a:effectLst/>
                <a:latin typeface="DIN"/>
              </a:rPr>
              <a:t> and deploying multi-factor authentication (MFA) can help to limit the risk of account takeover attacks.</a:t>
            </a:r>
          </a:p>
          <a:p>
            <a:pPr algn="l">
              <a:buFont typeface="Arial" panose="020B0604020202020204" pitchFamily="34" charset="0"/>
              <a:buChar char="•"/>
            </a:pPr>
            <a:r>
              <a:rPr lang="en-US" b="1" i="0" dirty="0">
                <a:solidFill>
                  <a:srgbClr val="333333"/>
                </a:solidFill>
                <a:effectLst/>
                <a:latin typeface="DIN"/>
              </a:rPr>
              <a:t>Validate User Input:</a:t>
            </a:r>
            <a:r>
              <a:rPr lang="en-US" b="0" i="0" dirty="0">
                <a:solidFill>
                  <a:srgbClr val="333333"/>
                </a:solidFill>
                <a:effectLst/>
                <a:latin typeface="DIN"/>
              </a:rPr>
              <a:t> Many exploits take advantage of poor input validation. Applications should be designed to fully validate input before trusting and processing it.</a:t>
            </a:r>
          </a:p>
          <a:p>
            <a:pPr algn="l">
              <a:buFont typeface="Arial" panose="020B0604020202020204" pitchFamily="34" charset="0"/>
              <a:buChar char="•"/>
            </a:pPr>
            <a:r>
              <a:rPr lang="en-US" b="1" i="0" dirty="0">
                <a:solidFill>
                  <a:srgbClr val="333333"/>
                </a:solidFill>
                <a:effectLst/>
                <a:latin typeface="DIN"/>
              </a:rPr>
              <a:t>Automate Security Monitoring:</a:t>
            </a:r>
            <a:r>
              <a:rPr lang="en-US" b="0" i="0" dirty="0">
                <a:solidFill>
                  <a:srgbClr val="333333"/>
                </a:solidFill>
                <a:effectLst/>
                <a:latin typeface="DIN"/>
              </a:rPr>
              <a:t> Many companies have sprawling IT architectures, making it difficult or impossible to manually track configuration settings and cyber defenses. Automating security monitoring and management enables security teams to scale and quickly remediate issues.</a:t>
            </a:r>
          </a:p>
          <a:p>
            <a:pPr algn="l">
              <a:buFont typeface="Arial" panose="020B0604020202020204" pitchFamily="34" charset="0"/>
              <a:buChar char="•"/>
            </a:pPr>
            <a:r>
              <a:rPr lang="en-US" b="1" i="0" dirty="0">
                <a:solidFill>
                  <a:srgbClr val="333333"/>
                </a:solidFill>
                <a:effectLst/>
                <a:latin typeface="DIN"/>
              </a:rPr>
              <a:t>Deploy Security Solutions:</a:t>
            </a:r>
            <a:r>
              <a:rPr lang="en-US" b="0" i="0" dirty="0">
                <a:solidFill>
                  <a:srgbClr val="333333"/>
                </a:solidFill>
                <a:effectLst/>
                <a:latin typeface="DIN"/>
              </a:rPr>
              <a:t> Many common types of attacks can be identified and blocked by cybersecurity solutions such as firewalls or endpoint security tools. Deploying a comprehensive, integrated security architecture can reduce the risks posed by vulnerabilities.</a:t>
            </a:r>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323E48"/>
                </a:solidFill>
                <a:effectLst/>
                <a:latin typeface="Inter"/>
              </a:rPr>
              <a:t> DoS and DDoS attacks</a:t>
            </a:r>
          </a:p>
          <a:p>
            <a:pPr algn="l"/>
            <a:r>
              <a:rPr lang="en-US" b="0" i="0" dirty="0">
                <a:solidFill>
                  <a:srgbClr val="000000"/>
                </a:solidFill>
                <a:effectLst/>
                <a:latin typeface="Inter"/>
              </a:rPr>
              <a:t>A </a:t>
            </a:r>
            <a:r>
              <a:rPr lang="en-US" b="1" i="0" u="none" strike="noStrike" dirty="0">
                <a:solidFill>
                  <a:srgbClr val="333333"/>
                </a:solidFill>
                <a:effectLst/>
                <a:latin typeface="Inter"/>
                <a:hlinkClick r:id="rId3"/>
              </a:rPr>
              <a:t>denial-of-service (DoS) attack</a:t>
            </a:r>
            <a:r>
              <a:rPr lang="en-US" b="0" i="0" dirty="0">
                <a:solidFill>
                  <a:srgbClr val="000000"/>
                </a:solidFill>
                <a:effectLst/>
                <a:latin typeface="Inter"/>
              </a:rPr>
              <a:t> is designed to overwhelm the resources of a system to the point where it is unable to reply to legitimate service requests. A distributed denial-of-service (DDoS) attack is similar in that it also seeks to drain the resources of a system. A </a:t>
            </a:r>
            <a:r>
              <a:rPr lang="en-US" b="1" i="0" u="none" strike="noStrike" dirty="0">
                <a:solidFill>
                  <a:srgbClr val="333333"/>
                </a:solidFill>
                <a:effectLst/>
                <a:latin typeface="Inter"/>
                <a:hlinkClick r:id="rId4"/>
              </a:rPr>
              <a:t>DDoS attack</a:t>
            </a:r>
            <a:r>
              <a:rPr lang="en-US" b="0" i="0" dirty="0">
                <a:solidFill>
                  <a:srgbClr val="000000"/>
                </a:solidFill>
                <a:effectLst/>
                <a:latin typeface="Inter"/>
              </a:rPr>
              <a:t> is initiated by a vast array of malware-infected host machines controlled by the attacker. These are referred to as “denial of service” attacks because the victim site is unable to provide service to those who want to access it.</a:t>
            </a:r>
          </a:p>
          <a:p>
            <a:pPr algn="l"/>
            <a:r>
              <a:rPr lang="en-US" b="0" i="0" dirty="0">
                <a:solidFill>
                  <a:srgbClr val="000000"/>
                </a:solidFill>
                <a:effectLst/>
                <a:latin typeface="Inter"/>
              </a:rPr>
              <a:t>With a DoS attack, the target site gets flooded with illegitimate requests. Because the site has to respond to each request, its resources get consumed by all the responses. This makes it impossible for the site to serve users as it normally does and often results in a complete shutdown of the site.</a:t>
            </a:r>
          </a:p>
          <a:p>
            <a:pPr algn="l"/>
            <a:r>
              <a:rPr lang="en-US" b="0" i="0" dirty="0">
                <a:solidFill>
                  <a:srgbClr val="000000"/>
                </a:solidFill>
                <a:effectLst/>
                <a:latin typeface="Inter"/>
              </a:rPr>
              <a:t>DoS and DDoS attacks are different from other types of cyber attacks that enable the hacker to either obtain access to a system or increase the access they currently have. With these types of attacks, the attacker directly benefits from their efforts. With DoS and DDoS network attacks, on the other hand, the objective is simply to interrupt the effectiveness of the target's service. If the attacker is hired by a business competitor, they may benefit financially from their efforts.</a:t>
            </a:r>
          </a:p>
          <a:p>
            <a:pPr algn="l"/>
            <a:r>
              <a:rPr lang="en-US" b="0" i="0" dirty="0">
                <a:solidFill>
                  <a:srgbClr val="000000"/>
                </a:solidFill>
                <a:effectLst/>
                <a:latin typeface="Inter"/>
              </a:rPr>
              <a:t>A DoS attack can also be used to create vulnerability for another type of attack. With a successful DoS or DDoS attack, the system often has to come offline, which can leave it vulnerable to other types of attacks. One common way to prevent DoS attacks is to use a firewall that detects whether requests sent to your site are legitimate. Imposter requests can then be discarded, allowing normal traffic to flow without interruption. An example of a major internet attack of this kind occurred in February 2020 to Amazon Web Services (AWS).  </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2. MITM attacks</a:t>
            </a:r>
          </a:p>
          <a:p>
            <a:pPr algn="l"/>
            <a:r>
              <a:rPr lang="en-US" b="0" i="0" dirty="0">
                <a:solidFill>
                  <a:srgbClr val="000000"/>
                </a:solidFill>
                <a:effectLst/>
                <a:latin typeface="Inter"/>
              </a:rPr>
              <a:t>Man-in-the-middle (MITM) types of cyber attacks refer to breaches in </a:t>
            </a:r>
            <a:r>
              <a:rPr lang="en-US" b="1" i="0" u="none" strike="noStrike" dirty="0">
                <a:solidFill>
                  <a:srgbClr val="333333"/>
                </a:solidFill>
                <a:effectLst/>
                <a:latin typeface="Inter"/>
                <a:hlinkClick r:id="rId5"/>
              </a:rPr>
              <a:t>cybersecurity</a:t>
            </a:r>
            <a:r>
              <a:rPr lang="en-US" b="0" i="0" dirty="0">
                <a:solidFill>
                  <a:srgbClr val="000000"/>
                </a:solidFill>
                <a:effectLst/>
                <a:latin typeface="Inter"/>
              </a:rPr>
              <a:t> that make it possible for an attacker to eavesdrop on the data sent back and forth between two people, networks, or computers. It is called a “</a:t>
            </a:r>
            <a:r>
              <a:rPr lang="en-US" b="1" i="0" u="none" strike="noStrike" dirty="0">
                <a:solidFill>
                  <a:srgbClr val="333333"/>
                </a:solidFill>
                <a:effectLst/>
                <a:latin typeface="Inter"/>
                <a:hlinkClick r:id="rId6"/>
              </a:rPr>
              <a:t>man in the middle” attack</a:t>
            </a:r>
            <a:r>
              <a:rPr lang="en-US" b="0" i="0" dirty="0">
                <a:solidFill>
                  <a:srgbClr val="000000"/>
                </a:solidFill>
                <a:effectLst/>
                <a:latin typeface="Inter"/>
              </a:rPr>
              <a:t> because the attacker positions themselves in the “middle” or between the two parties trying to communicate. In effect, the attacker is spying on the interaction between the two parties.</a:t>
            </a:r>
          </a:p>
          <a:p>
            <a:pPr algn="l"/>
            <a:r>
              <a:rPr lang="en-US" b="0" i="0" dirty="0">
                <a:solidFill>
                  <a:srgbClr val="000000"/>
                </a:solidFill>
                <a:effectLst/>
                <a:latin typeface="Inter"/>
              </a:rPr>
              <a:t>In a </a:t>
            </a:r>
            <a:r>
              <a:rPr lang="en-US" b="1" i="0" u="none" strike="noStrike" dirty="0">
                <a:solidFill>
                  <a:srgbClr val="333333"/>
                </a:solidFill>
                <a:effectLst/>
                <a:latin typeface="Inter"/>
                <a:hlinkClick r:id="rId6"/>
              </a:rPr>
              <a:t>MITM attack</a:t>
            </a:r>
            <a:r>
              <a:rPr lang="en-US" b="0" i="0" dirty="0">
                <a:solidFill>
                  <a:srgbClr val="000000"/>
                </a:solidFill>
                <a:effectLst/>
                <a:latin typeface="Inter"/>
              </a:rPr>
              <a:t>, the two parties involved feel like they are communicating as they normally do. What they do not know is that the person actually sending the message illicitly modifies or accesses the message before it reaches its destination. Some ways to protect yourself and your organization from MITM attacks is by using strong encryption on access points or to use a virtual private network (VPN).</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3. Phishing attacks</a:t>
            </a:r>
          </a:p>
          <a:p>
            <a:pPr algn="l"/>
            <a:r>
              <a:rPr lang="en-US" b="0" i="0" dirty="0">
                <a:solidFill>
                  <a:srgbClr val="000000"/>
                </a:solidFill>
                <a:effectLst/>
                <a:latin typeface="Inter"/>
              </a:rPr>
              <a:t>A </a:t>
            </a:r>
            <a:r>
              <a:rPr lang="en-US" b="1" i="0" u="none" strike="noStrike" dirty="0">
                <a:solidFill>
                  <a:srgbClr val="333333"/>
                </a:solidFill>
                <a:effectLst/>
                <a:latin typeface="Inter"/>
                <a:hlinkClick r:id="rId7"/>
              </a:rPr>
              <a:t>phishing attack</a:t>
            </a:r>
            <a:r>
              <a:rPr lang="en-US" b="0" i="0" dirty="0">
                <a:solidFill>
                  <a:srgbClr val="000000"/>
                </a:solidFill>
                <a:effectLst/>
                <a:latin typeface="Inter"/>
              </a:rPr>
              <a:t> occurs when a malicious actor sends emails that seem to be coming from trusted, legitimate sources in an attempt to grab sensitive information from the target. Phishing attacks combine </a:t>
            </a:r>
            <a:r>
              <a:rPr lang="en-US" b="1" i="0" u="none" strike="noStrike" dirty="0">
                <a:solidFill>
                  <a:srgbClr val="333333"/>
                </a:solidFill>
                <a:effectLst/>
                <a:latin typeface="Inter"/>
                <a:hlinkClick r:id="rId8"/>
              </a:rPr>
              <a:t>social engineering</a:t>
            </a:r>
            <a:r>
              <a:rPr lang="en-US" b="0" i="0" dirty="0">
                <a:solidFill>
                  <a:srgbClr val="000000"/>
                </a:solidFill>
                <a:effectLst/>
                <a:latin typeface="Inter"/>
              </a:rPr>
              <a:t> and technology and are so-called because the attacker is, in effect, “fishing” for access to a forbidden area by using the “bait” of a seemingly trustworthy sender. </a:t>
            </a:r>
          </a:p>
          <a:p>
            <a:pPr algn="l"/>
            <a:r>
              <a:rPr lang="en-US" b="0" i="0" dirty="0">
                <a:solidFill>
                  <a:srgbClr val="000000"/>
                </a:solidFill>
                <a:effectLst/>
                <a:latin typeface="Inter"/>
              </a:rPr>
              <a:t>To execute the attack, the bad actor may send a link that brings you to a website that then fools you into downloading malware such as viruses, or giving the attacker your private information. In many cases, the target may not realize they have been compromised, which allows the attacker to go after others in the same organization without anyone suspecting malicious activity.</a:t>
            </a:r>
          </a:p>
          <a:p>
            <a:pPr algn="l"/>
            <a:r>
              <a:rPr lang="en-US" b="0" i="0" dirty="0">
                <a:solidFill>
                  <a:srgbClr val="000000"/>
                </a:solidFill>
                <a:effectLst/>
                <a:latin typeface="Inter"/>
              </a:rPr>
              <a:t>You can prevent phishing attacks from achieving their objectives by thinking carefully about the kinds of emails you open and the links you click on. Pay close attention to email headers, and do not click on anything that looks suspicious. Check the parameters for “Reply-to” and “Return-path.” They need to connect to the same domain presented in the email.</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4. Whale-phishing attacks</a:t>
            </a:r>
          </a:p>
          <a:p>
            <a:pPr algn="l"/>
            <a:r>
              <a:rPr lang="en-US" b="0" i="0" dirty="0">
                <a:solidFill>
                  <a:srgbClr val="000000"/>
                </a:solidFill>
                <a:effectLst/>
                <a:latin typeface="Inter"/>
              </a:rPr>
              <a:t>A whale-phishing attack is so-named because it goes after the “big fish” or whales of an organization, which typically include those in the C-suite or others in charge of the organization. These individuals are likely to possess information that can be valuable to attackers, such as proprietary information about the business or its operations. </a:t>
            </a:r>
          </a:p>
          <a:p>
            <a:pPr algn="l"/>
            <a:r>
              <a:rPr lang="en-US" b="0" i="0" dirty="0">
                <a:solidFill>
                  <a:srgbClr val="000000"/>
                </a:solidFill>
                <a:effectLst/>
                <a:latin typeface="Inter"/>
              </a:rPr>
              <a:t>If a targeted “whale” downloads ransomware, they are more likely to pay the ransom to prevent news of the successful attack from getting out and damaging their reputation or that of the organization. Whale-phishing attacks can be prevented by taking the same kinds of precautions to avoid phishing attacks, such as carefully examining emails and the attachments and links that come with them, keeping an eye out for suspicious destinations or parameters.</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5. Spear-phishing attacks</a:t>
            </a:r>
          </a:p>
          <a:p>
            <a:pPr algn="l"/>
            <a:r>
              <a:rPr lang="en-US" b="1" i="0" u="none" strike="noStrike" dirty="0">
                <a:solidFill>
                  <a:srgbClr val="333333"/>
                </a:solidFill>
                <a:effectLst/>
                <a:latin typeface="Inter"/>
                <a:hlinkClick r:id="rId9"/>
              </a:rPr>
              <a:t>Spear phishing</a:t>
            </a:r>
            <a:r>
              <a:rPr lang="en-US" b="0" i="0" dirty="0">
                <a:solidFill>
                  <a:srgbClr val="000000"/>
                </a:solidFill>
                <a:effectLst/>
                <a:latin typeface="Inter"/>
              </a:rPr>
              <a:t> refers to a specific type of targeted phishing attack. The attacker takes the time to research their intended targets and then write messages the target is likely to find personally relevant. These types of attacks are aptly called “spear” phishing because of the way the attacker hones in on one specific target. The message will seem legitimate, which is why it can be difficult to spot a spear-phishing attack.</a:t>
            </a:r>
          </a:p>
          <a:p>
            <a:pPr algn="l"/>
            <a:r>
              <a:rPr lang="en-US" b="0" i="0" dirty="0">
                <a:solidFill>
                  <a:srgbClr val="000000"/>
                </a:solidFill>
                <a:effectLst/>
                <a:latin typeface="Inter"/>
              </a:rPr>
              <a:t>Often, a spear-phishing attack uses email spoofing, where the information inside the “From” portion of the email is faked, making it look like the email is coming from a different sender. This can be someone the target trusts, like an individual within their social network, a close friend, or a business partner. Attackers may also use website cloning to make the communication seem legitimate. With website cloning, the attacker copies a legitimate website to lull the victim into a sense of comfort. The target, thinking the website is real, then feels comfortable entering their private information.</a:t>
            </a:r>
          </a:p>
          <a:p>
            <a:pPr algn="l"/>
            <a:r>
              <a:rPr lang="en-US" b="0" i="0" dirty="0">
                <a:solidFill>
                  <a:srgbClr val="000000"/>
                </a:solidFill>
                <a:effectLst/>
                <a:latin typeface="Inter"/>
              </a:rPr>
              <a:t>Similar to regular phishing attacks, spear-phishing-attacks can be prevented by carefully checking the details in all fields of an email and making sure users do not click on any link whose destination cannot be verified as legitimate.</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6. Ransomware</a:t>
            </a:r>
          </a:p>
          <a:p>
            <a:pPr algn="l"/>
            <a:r>
              <a:rPr lang="en-US" b="0" i="0" dirty="0">
                <a:solidFill>
                  <a:srgbClr val="000000"/>
                </a:solidFill>
                <a:effectLst/>
                <a:latin typeface="Inter"/>
              </a:rPr>
              <a:t>With </a:t>
            </a:r>
            <a:r>
              <a:rPr lang="en-US" b="1" i="0" u="none" strike="noStrike" dirty="0">
                <a:solidFill>
                  <a:srgbClr val="333333"/>
                </a:solidFill>
                <a:effectLst/>
                <a:latin typeface="Inter"/>
                <a:hlinkClick r:id="rId10"/>
              </a:rPr>
              <a:t>Ransomware</a:t>
            </a:r>
            <a:r>
              <a:rPr lang="en-US" b="0" i="0" dirty="0">
                <a:solidFill>
                  <a:srgbClr val="000000"/>
                </a:solidFill>
                <a:effectLst/>
                <a:latin typeface="Inter"/>
              </a:rPr>
              <a:t>, the victim’s system is held hostage until they agree to pay a ransom to the attacker. After the payment has been sent, the attacker then provides instructions regarding how the target can regain control of their computer. The name "ransomware” is appropriate because the malware demands a ransom from the victim.</a:t>
            </a:r>
          </a:p>
          <a:p>
            <a:pPr algn="l"/>
            <a:r>
              <a:rPr lang="en-US" b="0" i="0" dirty="0">
                <a:solidFill>
                  <a:srgbClr val="000000"/>
                </a:solidFill>
                <a:effectLst/>
                <a:latin typeface="Inter"/>
              </a:rPr>
              <a:t>In a </a:t>
            </a:r>
            <a:r>
              <a:rPr lang="en-US" b="1" i="0" u="none" strike="noStrike" dirty="0">
                <a:solidFill>
                  <a:srgbClr val="333333"/>
                </a:solidFill>
                <a:effectLst/>
                <a:latin typeface="Inter"/>
                <a:hlinkClick r:id="rId10"/>
              </a:rPr>
              <a:t>ransomware attack</a:t>
            </a:r>
            <a:r>
              <a:rPr lang="en-US" b="0" i="0" dirty="0">
                <a:solidFill>
                  <a:srgbClr val="000000"/>
                </a:solidFill>
                <a:effectLst/>
                <a:latin typeface="Inter"/>
              </a:rPr>
              <a:t>, the target downloads ransomware, either from a website or from within an email attachment. The malware is written to exploit vulnerabilities that have not been addressed by either the system’s manufacturer or the IT team. The ransomware then encrypts the target's workstation. At times, ransomware can be used to attack multiple parties by denying access to either several computers or a central server essential to business operations.</a:t>
            </a:r>
          </a:p>
          <a:p>
            <a:pPr algn="l"/>
            <a:r>
              <a:rPr lang="en-US" b="0" i="0" dirty="0">
                <a:solidFill>
                  <a:srgbClr val="000000"/>
                </a:solidFill>
                <a:effectLst/>
                <a:latin typeface="Inter"/>
              </a:rPr>
              <a:t>Affecting multiple computers is often accomplished by not initiating systems captivation until days or even weeks after the malware's initial penetration. The malware can send AUTORUN files that go from one system to another via the internal network or Universal Serial Bus (USB) drives that connect to multiple computers. Then, when the attacker initiates the encryption, it works on all the infected systems simultaneously.</a:t>
            </a:r>
          </a:p>
          <a:p>
            <a:pPr algn="l"/>
            <a:r>
              <a:rPr lang="en-US" b="0" i="0" dirty="0">
                <a:solidFill>
                  <a:srgbClr val="000000"/>
                </a:solidFill>
                <a:effectLst/>
                <a:latin typeface="Inter"/>
              </a:rPr>
              <a:t>In some cases, ransomware authors design the code to evade traditional antivirus software. It is therefore important for users to remain vigilant regarding which sites they visit and which links they click. You can also prevent many ransomware attacks by using a next-generation firewall (NGFW) that can perform deep data packet inspections </a:t>
            </a:r>
            <a:r>
              <a:rPr lang="en-US" b="1" i="0" u="none" strike="noStrike" dirty="0">
                <a:solidFill>
                  <a:srgbClr val="333333"/>
                </a:solidFill>
                <a:effectLst/>
                <a:latin typeface="Inter"/>
                <a:hlinkClick r:id="rId11"/>
              </a:rPr>
              <a:t>using artificial intelligence</a:t>
            </a:r>
            <a:r>
              <a:rPr lang="en-US" b="0" i="0" dirty="0">
                <a:solidFill>
                  <a:srgbClr val="000000"/>
                </a:solidFill>
                <a:effectLst/>
                <a:latin typeface="Inter"/>
              </a:rPr>
              <a:t> (AI) that looks for the characteristics of ransomware.</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7. Password attacks</a:t>
            </a:r>
          </a:p>
          <a:p>
            <a:pPr algn="l"/>
            <a:r>
              <a:rPr lang="en-US" b="0" i="0" dirty="0">
                <a:solidFill>
                  <a:srgbClr val="000000"/>
                </a:solidFill>
                <a:effectLst/>
                <a:latin typeface="Inter"/>
              </a:rPr>
              <a:t>Passwords are the access verification tool of choice for most people, so figuring out a target’s password is an attractive proposition for a hacker. This can be done using a few different methods. Often, people keep copies of their passwords on pieces of paper or sticky notes around or on their desks. An attacker can either find the password themselves or pay someone on the inside to get it for them.  </a:t>
            </a:r>
          </a:p>
          <a:p>
            <a:pPr algn="l"/>
            <a:r>
              <a:rPr lang="en-US" b="0" i="0" dirty="0">
                <a:solidFill>
                  <a:srgbClr val="000000"/>
                </a:solidFill>
                <a:effectLst/>
                <a:latin typeface="Inter"/>
              </a:rPr>
              <a:t>An attacker may also try to intercept network transmissions to grab passwords not encrypted by the network. They can also use social engineering, which convinces the target to input their password to solve a seemingly “important” problem. In other cases, the attacker can simply guess the user’s password, particularly if they use a default password or one that is easy to remember such as “1234567.”</a:t>
            </a:r>
          </a:p>
          <a:p>
            <a:pPr algn="l"/>
            <a:r>
              <a:rPr lang="en-US" b="0" i="0" dirty="0">
                <a:solidFill>
                  <a:srgbClr val="000000"/>
                </a:solidFill>
                <a:effectLst/>
                <a:latin typeface="Inter"/>
              </a:rPr>
              <a:t>Attackers also often use brute-force methods to guess passwords. A brute-force password hack uses basic information about the individual or their job title to try to guess their password. For example, their name, birthdate, anniversary, or other personal but easy-to-discover details can be used in different combinations to decipher their password. Information that users put on social media can also be leveraged in a brute-force password hack. What the individual does for fun, specific hobbies, names of pets, or names of children are sometimes used to form passwords, making them relatively easy to guess for brute-force attackers.</a:t>
            </a:r>
          </a:p>
          <a:p>
            <a:pPr algn="l"/>
            <a:r>
              <a:rPr lang="en-US" b="0" i="0" dirty="0">
                <a:solidFill>
                  <a:srgbClr val="000000"/>
                </a:solidFill>
                <a:effectLst/>
                <a:latin typeface="Inter"/>
              </a:rPr>
              <a:t>A hacker can also use a dictionary attack to ascertain a user’s password. A dictionary attack is a technique that uses common words and phrases, such as those listed in a dictionary, to try and guess the target's password. </a:t>
            </a:r>
          </a:p>
          <a:p>
            <a:pPr algn="l"/>
            <a:r>
              <a:rPr lang="en-US" b="0" i="0" dirty="0">
                <a:solidFill>
                  <a:srgbClr val="000000"/>
                </a:solidFill>
                <a:effectLst/>
                <a:latin typeface="Inter"/>
              </a:rPr>
              <a:t>One effective method of preventing brute-force and dictionary password attacks is to set up a lock-out policy. This locks out access to devices, websites, or applications automatically after a certain number of failed attempts. With a lock-out policy, the attacker only has a few tries before they get banned from access. If you have a lockout policy in place already and discover that your account has been locked out because of too many login attempts, it is wise to change your password. </a:t>
            </a:r>
          </a:p>
          <a:p>
            <a:pPr algn="l"/>
            <a:r>
              <a:rPr lang="en-US" b="0" i="0" dirty="0">
                <a:solidFill>
                  <a:srgbClr val="000000"/>
                </a:solidFill>
                <a:effectLst/>
                <a:latin typeface="Inter"/>
              </a:rPr>
              <a:t>If an attacker systematically uses a brute-force or dictionary attack to guess your password, they may take note of the passwords that did not work. For example, if your password is your last name followed by your year of birth and the hacker tries putting your birth year before your last name on the final attempt, they may get it right on the next try. </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8. SQL injection attacks</a:t>
            </a:r>
          </a:p>
          <a:p>
            <a:pPr algn="l"/>
            <a:r>
              <a:rPr lang="en-US" b="1" i="0" u="none" strike="noStrike" dirty="0">
                <a:solidFill>
                  <a:srgbClr val="333333"/>
                </a:solidFill>
                <a:effectLst/>
                <a:latin typeface="Inter"/>
                <a:hlinkClick r:id="rId12"/>
              </a:rPr>
              <a:t>Structured Query Language (SQL) injection</a:t>
            </a:r>
            <a:r>
              <a:rPr lang="en-US" b="0" i="0" dirty="0">
                <a:solidFill>
                  <a:srgbClr val="000000"/>
                </a:solidFill>
                <a:effectLst/>
                <a:latin typeface="Inter"/>
              </a:rPr>
              <a:t> is a common method of taking advantage of websites that depend on databases to serve their users. Clients are computers that get information from servers, and an SQL attack uses an SQL query sent from the client to a database on the server. The command is inserted, or “injected”, into a data plane in place of something else that normally goes there, such as a password or login. The server that holds the database then runs the command and the system is penetrated.</a:t>
            </a:r>
          </a:p>
          <a:p>
            <a:pPr algn="l"/>
            <a:r>
              <a:rPr lang="en-US" b="0" i="0" dirty="0">
                <a:solidFill>
                  <a:srgbClr val="000000"/>
                </a:solidFill>
                <a:effectLst/>
                <a:latin typeface="Inter"/>
              </a:rPr>
              <a:t>If an SQL injection succeeds, several things can happen, including the release of sensitive data or the modification or deletion of important data. Also, an attacker can execute administrator operations like a shutdown command, which can interrupt the function of the database.</a:t>
            </a:r>
          </a:p>
          <a:p>
            <a:pPr algn="l"/>
            <a:r>
              <a:rPr lang="en-US" b="0" i="0" dirty="0">
                <a:solidFill>
                  <a:srgbClr val="000000"/>
                </a:solidFill>
                <a:effectLst/>
                <a:latin typeface="Inter"/>
              </a:rPr>
              <a:t>To shield yourself from an SQL injection attack, take advantage of the least-privileged model. With least-privileged architecture, only those who absolutely need to access key databases are allowed in. Even if a user has power or influence within the organization, they may not be allowed to access specific areas of the network if their job does not depend on it. </a:t>
            </a:r>
          </a:p>
          <a:p>
            <a:pPr algn="l"/>
            <a:r>
              <a:rPr lang="en-US" b="0" i="0" dirty="0">
                <a:solidFill>
                  <a:srgbClr val="000000"/>
                </a:solidFill>
                <a:effectLst/>
                <a:latin typeface="Inter"/>
              </a:rPr>
              <a:t>For example, the CEO can be kept from accessing areas of the network even if they have the right to know what is inside. Applying a least-privileged policy can prevent not just bad actors from accessing sensitive areas but also those who mean well but accidentally leave their </a:t>
            </a:r>
            <a:r>
              <a:rPr lang="en-US" b="1" i="0" u="none" strike="noStrike" dirty="0">
                <a:solidFill>
                  <a:srgbClr val="333333"/>
                </a:solidFill>
                <a:effectLst/>
                <a:latin typeface="Inter"/>
                <a:hlinkClick r:id="rId13"/>
              </a:rPr>
              <a:t>login credentials</a:t>
            </a:r>
            <a:r>
              <a:rPr lang="en-US" b="0" i="0" dirty="0">
                <a:solidFill>
                  <a:srgbClr val="000000"/>
                </a:solidFill>
                <a:effectLst/>
                <a:latin typeface="Inter"/>
              </a:rPr>
              <a:t> vulnerable to attackers or leave their workstations running while away from their computers.</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9. URL interpretation</a:t>
            </a:r>
          </a:p>
          <a:p>
            <a:pPr algn="l"/>
            <a:r>
              <a:rPr lang="en-US" b="0" i="0" dirty="0">
                <a:solidFill>
                  <a:srgbClr val="000000"/>
                </a:solidFill>
                <a:effectLst/>
                <a:latin typeface="Inter"/>
              </a:rPr>
              <a:t>With URL interpretation, attackers alter and fabricate certain URL addresses and use them to gain access to the target’s personal and professional data. This kind of attack is also referred to as URL poisoning. The name “URL interpretation” comes from the fact that the attacker knows the order in which a web-page’s URL information needs to be entered. The attacker then “interprets” this syntax, using it to figure out how to get into areas they do not have access to.</a:t>
            </a:r>
          </a:p>
          <a:p>
            <a:pPr algn="l"/>
            <a:r>
              <a:rPr lang="en-US" b="0" i="0" dirty="0">
                <a:solidFill>
                  <a:srgbClr val="000000"/>
                </a:solidFill>
                <a:effectLst/>
                <a:latin typeface="Inter"/>
              </a:rPr>
              <a:t>To execute a URL interpretation attack, a hacker may guess URLs they can use to gain administrator privileges to a site or to access the site’s back end to get into a user’s account. Once they get to the page they want, they can manipulate the site itself or gain access to sensitive information about the people who use it.</a:t>
            </a:r>
          </a:p>
          <a:p>
            <a:pPr algn="l"/>
            <a:r>
              <a:rPr lang="en-US" b="0" i="0" dirty="0">
                <a:solidFill>
                  <a:srgbClr val="000000"/>
                </a:solidFill>
                <a:effectLst/>
                <a:latin typeface="Inter"/>
              </a:rPr>
              <a:t>For example, if a hacker attempts to get into the admin section of a site called GetYourKnowledgeOn.com, they may type in http://getyourknowledgeon.com/admin, and this will bring them to an admin login page. In some cases, the admin username and password may be the default "admin" and "admin" or very easy to guess. An attacker may also have already figured out the admin’s password or narrowed it down to a few possibilities. The attacker then tries each one, gains access, and can manipulate, steal, or delete data at will.</a:t>
            </a:r>
          </a:p>
          <a:p>
            <a:pPr algn="l"/>
            <a:r>
              <a:rPr lang="en-US" b="0" i="0" dirty="0">
                <a:solidFill>
                  <a:srgbClr val="000000"/>
                </a:solidFill>
                <a:effectLst/>
                <a:latin typeface="Inter"/>
              </a:rPr>
              <a:t>To prevent URL interpretation attacks from succeeding, use secure authentication methods for any sensitive areas of your site. This may necessitate multi-factor authentication (MFA) or secure passwords consisting of seemingly random characters.</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10. DNS spoofing</a:t>
            </a:r>
          </a:p>
          <a:p>
            <a:pPr algn="l"/>
            <a:r>
              <a:rPr lang="en-US" b="0" i="0" dirty="0">
                <a:solidFill>
                  <a:srgbClr val="000000"/>
                </a:solidFill>
                <a:effectLst/>
                <a:latin typeface="Inter"/>
              </a:rPr>
              <a:t>With </a:t>
            </a:r>
            <a:r>
              <a:rPr lang="en-US" b="1" i="0" u="none" strike="noStrike" dirty="0">
                <a:solidFill>
                  <a:srgbClr val="333333"/>
                </a:solidFill>
                <a:effectLst/>
                <a:latin typeface="Inter"/>
                <a:hlinkClick r:id="rId14"/>
              </a:rPr>
              <a:t>Domain Name System (DNS)</a:t>
            </a:r>
            <a:r>
              <a:rPr lang="en-US" b="0" i="0" dirty="0">
                <a:solidFill>
                  <a:srgbClr val="000000"/>
                </a:solidFill>
                <a:effectLst/>
                <a:latin typeface="Inter"/>
              </a:rPr>
              <a:t> spoofing, a hacker alters DNS records to send traffic to a fake or “spoofed” website. Once on the fraudulent site, the victim may enter sensitive information that can be used or sold by the hacker. The hacker may also construct a poor-quality site with derogatory or inflammatory content to make a competitor company look bad.</a:t>
            </a:r>
          </a:p>
          <a:p>
            <a:pPr algn="l"/>
            <a:r>
              <a:rPr lang="en-US" b="0" i="0" dirty="0">
                <a:solidFill>
                  <a:srgbClr val="000000"/>
                </a:solidFill>
                <a:effectLst/>
                <a:latin typeface="Inter"/>
              </a:rPr>
              <a:t>In a DNS spoofing attack, the attacker takes advantage of the fact that the user thinks the site they are visiting is legitimate. This gives the attacker the ability to commit crimes in the name of an innocent company, at least from the perspective of the visitor.</a:t>
            </a:r>
          </a:p>
          <a:p>
            <a:pPr algn="l"/>
            <a:r>
              <a:rPr lang="en-US" b="0" i="0" dirty="0">
                <a:solidFill>
                  <a:srgbClr val="000000"/>
                </a:solidFill>
                <a:effectLst/>
                <a:latin typeface="Inter"/>
              </a:rPr>
              <a:t>To prevent DNS spoofing, make sure your DNS servers are kept up-to-date. Attackers aim to exploit vulnerabilities in DNS servers, and the most recent software versions often contain fixes that close known vulnerabilities.</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11. Session hijacking</a:t>
            </a:r>
          </a:p>
          <a:p>
            <a:pPr algn="l"/>
            <a:r>
              <a:rPr lang="en-US" b="0" i="0" dirty="0">
                <a:solidFill>
                  <a:srgbClr val="000000"/>
                </a:solidFill>
                <a:effectLst/>
                <a:latin typeface="Inter"/>
              </a:rPr>
              <a:t>Session hijacking is one of multiple types of MITM attacks. The attacker takes over a session between a client and the server. The computer being used in the attack substitutes its Internet Protocol (IP) address for that of the client computer, and the server continues the session without suspecting it is communicating with the attacker instead of the client. This kind of attack is effective because the server uses the client's IP address to verify its identity. If the attacker's IP address is inserted partway through the session, the server may not suspect a breach because it is already engaged in a trusted connection.</a:t>
            </a:r>
          </a:p>
          <a:p>
            <a:pPr algn="l"/>
            <a:r>
              <a:rPr lang="en-US" b="0" i="0" dirty="0">
                <a:solidFill>
                  <a:srgbClr val="000000"/>
                </a:solidFill>
                <a:effectLst/>
                <a:latin typeface="Inter"/>
              </a:rPr>
              <a:t>To prevent session hijacking, use a VPN to access business-critical servers. This way, all communication is encrypted, and an attacker cannot gain access to the secure tunnel created by the VPN.</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12. Brute force attacks</a:t>
            </a:r>
          </a:p>
          <a:p>
            <a:pPr algn="l"/>
            <a:r>
              <a:rPr lang="en-US" b="0" i="0" dirty="0">
                <a:solidFill>
                  <a:srgbClr val="000000"/>
                </a:solidFill>
                <a:effectLst/>
                <a:latin typeface="Inter"/>
              </a:rPr>
              <a:t>A </a:t>
            </a:r>
            <a:r>
              <a:rPr lang="en-US" b="1" i="0" u="none" strike="noStrike" dirty="0">
                <a:solidFill>
                  <a:srgbClr val="333333"/>
                </a:solidFill>
                <a:effectLst/>
                <a:latin typeface="Inter"/>
                <a:hlinkClick r:id="rId15"/>
              </a:rPr>
              <a:t>brute-force attack</a:t>
            </a:r>
            <a:r>
              <a:rPr lang="en-US" b="0" i="0" dirty="0">
                <a:solidFill>
                  <a:srgbClr val="000000"/>
                </a:solidFill>
                <a:effectLst/>
                <a:latin typeface="Inter"/>
              </a:rPr>
              <a:t> gets its name from the “brutish” or simple methodology employed by the attack. The attacker simply tries to guess the login credentials of someone with access to the target system. Once they get it right, they are in.</a:t>
            </a:r>
          </a:p>
          <a:p>
            <a:pPr algn="l"/>
            <a:r>
              <a:rPr lang="en-US" b="0" i="0" dirty="0">
                <a:solidFill>
                  <a:srgbClr val="000000"/>
                </a:solidFill>
                <a:effectLst/>
                <a:latin typeface="Inter"/>
              </a:rPr>
              <a:t>While this may sound time-consuming and difficult, attackers often use </a:t>
            </a:r>
            <a:r>
              <a:rPr lang="en-US" b="1" i="0" u="none" strike="noStrike" dirty="0">
                <a:solidFill>
                  <a:srgbClr val="333333"/>
                </a:solidFill>
                <a:effectLst/>
                <a:latin typeface="Inter"/>
                <a:hlinkClick r:id="rId16"/>
              </a:rPr>
              <a:t>bots</a:t>
            </a:r>
            <a:r>
              <a:rPr lang="en-US" b="0" i="0" dirty="0">
                <a:solidFill>
                  <a:srgbClr val="000000"/>
                </a:solidFill>
                <a:effectLst/>
                <a:latin typeface="Inter"/>
              </a:rPr>
              <a:t> to crack the credentials. The attacker provides the bot with a list of credentials that they think may give them access to the secure area. The bot then tries each one while the attacker sits back and waits. Once the correct credentials have been entered, the criminal gains access.</a:t>
            </a:r>
          </a:p>
          <a:p>
            <a:pPr algn="l"/>
            <a:r>
              <a:rPr lang="en-US" b="0" i="0" dirty="0">
                <a:solidFill>
                  <a:srgbClr val="000000"/>
                </a:solidFill>
                <a:effectLst/>
                <a:latin typeface="Inter"/>
              </a:rPr>
              <a:t>To prevent brute-force attacks, have lock-out policies in place as part of your authorization security architecture. After a certain number of attempts, the user attempting to enter the credentials gets locked out. This typically involves “freezing” the account so even if someone else tries from a different device with a different IP address, they cannot bypass the lockout.</a:t>
            </a:r>
          </a:p>
          <a:p>
            <a:pPr algn="l"/>
            <a:r>
              <a:rPr lang="en-US" b="0" i="0" dirty="0">
                <a:solidFill>
                  <a:srgbClr val="000000"/>
                </a:solidFill>
                <a:effectLst/>
                <a:latin typeface="Inter"/>
              </a:rPr>
              <a:t>It is also wise to use random passwords without regular words, dates, or sequences of numbers in them. This is effective because, for example, even if an attacker uses software to try to guess a 10-digit password, it will take many years of non-stop attempts to get it right.</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13. Web attacks</a:t>
            </a:r>
          </a:p>
          <a:p>
            <a:pPr algn="l"/>
            <a:r>
              <a:rPr lang="en-US" b="0" i="0" dirty="0">
                <a:solidFill>
                  <a:srgbClr val="000000"/>
                </a:solidFill>
                <a:effectLst/>
                <a:latin typeface="Inter"/>
              </a:rPr>
              <a:t>Web attacks refer to threats that target vulnerabilities in web-based applications. Every time you enter information into a web application, you are initiating a command that generates a response. For example, if you are sending money to someone using an online banking application, the data you enter instructs the application to go into your account, take money out, and send it to someone else’s account. Attackers work within the frameworks of these kinds of requests and use them to their advantage.</a:t>
            </a:r>
          </a:p>
          <a:p>
            <a:pPr algn="l"/>
            <a:r>
              <a:rPr lang="en-US" b="0" i="0" dirty="0">
                <a:solidFill>
                  <a:srgbClr val="000000"/>
                </a:solidFill>
                <a:effectLst/>
                <a:latin typeface="Inter"/>
              </a:rPr>
              <a:t>Some common web attacks include SQL injection and </a:t>
            </a:r>
            <a:r>
              <a:rPr lang="en-US" b="1" i="0" u="none" strike="noStrike" dirty="0">
                <a:solidFill>
                  <a:srgbClr val="333333"/>
                </a:solidFill>
                <a:effectLst/>
                <a:latin typeface="Inter"/>
                <a:hlinkClick r:id="rId17"/>
              </a:rPr>
              <a:t>cross-site scripting (XSS)</a:t>
            </a:r>
            <a:r>
              <a:rPr lang="en-US" b="0" i="0" dirty="0">
                <a:solidFill>
                  <a:srgbClr val="000000"/>
                </a:solidFill>
                <a:effectLst/>
                <a:latin typeface="Inter"/>
              </a:rPr>
              <a:t>, which will be discussed later in this article. Hackers also use cross-site request forgery </a:t>
            </a:r>
            <a:r>
              <a:rPr lang="en-US" b="1" i="0" u="none" strike="noStrike" dirty="0">
                <a:solidFill>
                  <a:srgbClr val="333333"/>
                </a:solidFill>
                <a:effectLst/>
                <a:latin typeface="Inter"/>
                <a:hlinkClick r:id="rId18"/>
              </a:rPr>
              <a:t>(CSRF) attacks</a:t>
            </a:r>
            <a:r>
              <a:rPr lang="en-US" b="0" i="0" dirty="0">
                <a:solidFill>
                  <a:srgbClr val="000000"/>
                </a:solidFill>
                <a:effectLst/>
                <a:latin typeface="Inter"/>
              </a:rPr>
              <a:t> and parameter tampering. In a CSRF attack, the victim is fooled into performing an action that benefits the attacker. For example, they may click on something that launches a script designed to change the login credentials to access a web application. The hacker, armed with the new login credentials, can then log in as if they are the legitimate user.</a:t>
            </a:r>
          </a:p>
          <a:p>
            <a:pPr algn="l"/>
            <a:r>
              <a:rPr lang="en-US" b="0" i="0" dirty="0">
                <a:solidFill>
                  <a:srgbClr val="000000"/>
                </a:solidFill>
                <a:effectLst/>
                <a:latin typeface="Inter"/>
              </a:rPr>
              <a:t>Parameter tampering involves adjusting the parameters that programmers implement as security measures designed to protect specific operations. The operation’s execution depends on what is entered in the parameter. The attacker simply changes the parameters, and this allows them to bypass the security measures that depended on those parameters.</a:t>
            </a:r>
          </a:p>
          <a:p>
            <a:pPr algn="l"/>
            <a:r>
              <a:rPr lang="en-US" b="0" i="0" dirty="0">
                <a:solidFill>
                  <a:srgbClr val="000000"/>
                </a:solidFill>
                <a:effectLst/>
                <a:latin typeface="Inter"/>
              </a:rPr>
              <a:t>To avoid web attacks, inspect your web applications to check for—and fix—vulnerabilities. One way to patch up vulnerabilities without impacting the performance of the web application is to use anti-CSRF tokens. A token is exchanged between the user’s browser and the web application. Before a command is executed, the token’s validity is checked. If it checks out, the command goes through—if not, it is blocked. You can also use </a:t>
            </a:r>
            <a:r>
              <a:rPr lang="en-US" b="0" i="0" dirty="0" err="1">
                <a:solidFill>
                  <a:srgbClr val="000000"/>
                </a:solidFill>
                <a:effectLst/>
                <a:latin typeface="Inter"/>
              </a:rPr>
              <a:t>SameSite</a:t>
            </a:r>
            <a:r>
              <a:rPr lang="en-US" b="0" i="0" dirty="0">
                <a:solidFill>
                  <a:srgbClr val="000000"/>
                </a:solidFill>
                <a:effectLst/>
                <a:latin typeface="Inter"/>
              </a:rPr>
              <a:t> flags, which only allow requests from the same site to be processed, rendering any site built by the attacker powerless.</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14. Insider threats</a:t>
            </a:r>
          </a:p>
          <a:p>
            <a:pPr algn="l"/>
            <a:r>
              <a:rPr lang="en-US" b="0" i="0" dirty="0">
                <a:solidFill>
                  <a:srgbClr val="000000"/>
                </a:solidFill>
                <a:effectLst/>
                <a:latin typeface="Inter"/>
              </a:rPr>
              <a:t>Sometimes, the most dangerous actors come from within an organization. People within a company’s own doors pose a special danger because they typically have access to a variety of systems, and in some cases, admin privileges that enable them to make critical changes to the system or its security policies.</a:t>
            </a:r>
          </a:p>
          <a:p>
            <a:pPr algn="l"/>
            <a:r>
              <a:rPr lang="en-US" b="0" i="0" dirty="0">
                <a:solidFill>
                  <a:srgbClr val="000000"/>
                </a:solidFill>
                <a:effectLst/>
                <a:latin typeface="Inter"/>
              </a:rPr>
              <a:t>In addition, people within the organization often have an in-depth understanding of its </a:t>
            </a:r>
            <a:r>
              <a:rPr lang="en-US" b="1" i="0" u="none" strike="noStrike" dirty="0">
                <a:solidFill>
                  <a:srgbClr val="333333"/>
                </a:solidFill>
                <a:effectLst/>
                <a:latin typeface="Inter"/>
                <a:hlinkClick r:id="rId19"/>
              </a:rPr>
              <a:t>cybersecurity architecture</a:t>
            </a:r>
            <a:r>
              <a:rPr lang="en-US" b="0" i="0" dirty="0">
                <a:solidFill>
                  <a:srgbClr val="000000"/>
                </a:solidFill>
                <a:effectLst/>
                <a:latin typeface="Inter"/>
              </a:rPr>
              <a:t>, as well as how the business reacts to threats. This knowledge can be used to gain access to restricted areas, make changes to security settings, or deduce the best possible time to conduct an attack.</a:t>
            </a:r>
          </a:p>
          <a:p>
            <a:pPr algn="l"/>
            <a:r>
              <a:rPr lang="en-US" b="0" i="0" dirty="0">
                <a:solidFill>
                  <a:srgbClr val="000000"/>
                </a:solidFill>
                <a:effectLst/>
                <a:latin typeface="Inter"/>
              </a:rPr>
              <a:t>One of the best ways to </a:t>
            </a:r>
            <a:r>
              <a:rPr lang="en-US" b="1" i="0" u="none" strike="noStrike" dirty="0">
                <a:solidFill>
                  <a:srgbClr val="333333"/>
                </a:solidFill>
                <a:effectLst/>
                <a:latin typeface="Inter"/>
                <a:hlinkClick r:id="rId20"/>
              </a:rPr>
              <a:t>prevent insider threats</a:t>
            </a:r>
            <a:r>
              <a:rPr lang="en-US" b="0" i="0" dirty="0">
                <a:solidFill>
                  <a:srgbClr val="000000"/>
                </a:solidFill>
                <a:effectLst/>
                <a:latin typeface="Inter"/>
              </a:rPr>
              <a:t> in organizations is to limit employees' access to sensitive systems to only those who need them to perform their duties. Also, for the select few who need access, use MFA, which will require them to use at least one thing they know in conjunction with a physical item they have to gain access to a sensitive system. For example, the user may have to enter a password and insert a USB device. In other configurations, an access number is generated on a handheld device that the user has to log in to. The user can only access the secure area if both the password and the number are correct.</a:t>
            </a:r>
          </a:p>
          <a:p>
            <a:pPr algn="l"/>
            <a:r>
              <a:rPr lang="en-US" b="0" i="0" dirty="0">
                <a:solidFill>
                  <a:srgbClr val="000000"/>
                </a:solidFill>
                <a:effectLst/>
                <a:latin typeface="Inter"/>
              </a:rPr>
              <a:t>While MFA may not prevent all attacks on its own, it makes it easier to ascertain who is behind an attack—or an attempted one—particularly because only relatively few people are granted access to sensitive areas in the first place. As a result, this limited access strategy can work as a deterrent. Cybercriminals within your organization will know it is easy to pinpoint who the perpetrator is because of the relatively small pool of potential suspects.</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15. Trojan horses</a:t>
            </a:r>
          </a:p>
          <a:p>
            <a:pPr algn="l"/>
            <a:r>
              <a:rPr lang="en-US" b="0" i="0" dirty="0">
                <a:solidFill>
                  <a:srgbClr val="000000"/>
                </a:solidFill>
                <a:effectLst/>
                <a:latin typeface="Inter"/>
              </a:rPr>
              <a:t>A </a:t>
            </a:r>
            <a:r>
              <a:rPr lang="en-US" b="1" i="0" u="none" strike="noStrike" dirty="0">
                <a:solidFill>
                  <a:srgbClr val="333333"/>
                </a:solidFill>
                <a:effectLst/>
                <a:latin typeface="Inter"/>
                <a:hlinkClick r:id="rId21"/>
              </a:rPr>
              <a:t>Trojan horse</a:t>
            </a:r>
            <a:r>
              <a:rPr lang="en-US" b="0" i="0" dirty="0">
                <a:solidFill>
                  <a:srgbClr val="000000"/>
                </a:solidFill>
                <a:effectLst/>
                <a:latin typeface="Inter"/>
              </a:rPr>
              <a:t> attack uses a malicious program that is hidden inside a seemingly legitimate one. When the user executes the presumably innocent program, the malware inside the Trojan can be used to open a backdoor into the system through which hackers can penetrate the computer or network. This threat gets its name from the story of the Greek soldiers who hid inside a horse to infiltrate the city of Troy and win the war. Once the “gift” was accepted and brought within the gates of Troy, the Greek soldiers jumped out and attacked. In a similar way, an unsuspecting user may welcome an innocent-looking application into their system only to usher in a hidden threat.</a:t>
            </a:r>
          </a:p>
          <a:p>
            <a:pPr algn="l"/>
            <a:r>
              <a:rPr lang="en-US" b="0" i="0" dirty="0">
                <a:solidFill>
                  <a:srgbClr val="000000"/>
                </a:solidFill>
                <a:effectLst/>
                <a:latin typeface="Inter"/>
              </a:rPr>
              <a:t>To prevent Trojan attacks, users should be instructed not to download or install anything unless its source can be verified. Also, NGFWs can be used to examine data packets for potential threats of Trojans.</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16. Drive-by attacks</a:t>
            </a:r>
          </a:p>
          <a:p>
            <a:pPr algn="l"/>
            <a:r>
              <a:rPr lang="en-US" b="0" i="0" dirty="0">
                <a:solidFill>
                  <a:srgbClr val="000000"/>
                </a:solidFill>
                <a:effectLst/>
                <a:latin typeface="Inter"/>
              </a:rPr>
              <a:t>In a drive-by attack, a hacker embeds malicious code into an insecure website. When a user visits the site, the script is automatically executed on their computer, infecting it. The designation “drive by” comes from the fact that the victim only has to “drive by” the site by visiting it to get infected. There is no need to click on anything on the site or enter any information.</a:t>
            </a:r>
          </a:p>
          <a:p>
            <a:pPr algn="l"/>
            <a:r>
              <a:rPr lang="en-US" b="0" i="0" dirty="0">
                <a:solidFill>
                  <a:srgbClr val="000000"/>
                </a:solidFill>
                <a:effectLst/>
                <a:latin typeface="Inter"/>
              </a:rPr>
              <a:t>To protect against drive-by attacks, users should make sure they are running the most recent software on all their computers, including applications like Adobe Acrobat and Flash, which may be used while browsing the internet. Also, you can use web-filtering software, which can detect if a site is unsafe before a user visits it.</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17. XSS attacks</a:t>
            </a:r>
          </a:p>
          <a:p>
            <a:pPr algn="l"/>
            <a:r>
              <a:rPr lang="en-US" b="0" i="0" dirty="0">
                <a:solidFill>
                  <a:srgbClr val="000000"/>
                </a:solidFill>
                <a:effectLst/>
                <a:latin typeface="Inter"/>
              </a:rPr>
              <a:t>With XSS, or </a:t>
            </a:r>
            <a:r>
              <a:rPr lang="en-US" b="1" i="0" u="none" strike="noStrike" dirty="0">
                <a:solidFill>
                  <a:srgbClr val="333333"/>
                </a:solidFill>
                <a:effectLst/>
                <a:latin typeface="Inter"/>
                <a:hlinkClick r:id="rId17"/>
              </a:rPr>
              <a:t>cross-site scripting</a:t>
            </a:r>
            <a:r>
              <a:rPr lang="en-US" b="0" i="0" dirty="0">
                <a:solidFill>
                  <a:srgbClr val="000000"/>
                </a:solidFill>
                <a:effectLst/>
                <a:latin typeface="Inter"/>
              </a:rPr>
              <a:t>, the attacker transmits malicious scripts using clickable content that gets sent to the target’s browser. When the victim clicks on the content, the script is executed. Because the user has already logged into a web application’s session, what they enter is seen as legitimate by the web application. However, the script executed has been altered by the attacker, resulting in an unintended action being taken by the “user.”</a:t>
            </a:r>
          </a:p>
          <a:p>
            <a:pPr algn="l"/>
            <a:r>
              <a:rPr lang="en-US" b="0" i="0" dirty="0">
                <a:solidFill>
                  <a:srgbClr val="000000"/>
                </a:solidFill>
                <a:effectLst/>
                <a:latin typeface="Inter"/>
              </a:rPr>
              <a:t>For example, an XSS attack may change the parameters of a transfer request sent through an online banking application. In the falsified request, the intended recipient of the transferred money has their name replaced with that of the attacker. The attacker may also change the amount being transferred, giving themselves even more money than the target initially intended to send.</a:t>
            </a:r>
          </a:p>
          <a:p>
            <a:pPr algn="l"/>
            <a:r>
              <a:rPr lang="en-US" b="0" i="0" dirty="0">
                <a:solidFill>
                  <a:srgbClr val="000000"/>
                </a:solidFill>
                <a:effectLst/>
                <a:latin typeface="Inter"/>
              </a:rPr>
              <a:t>One of the most straightforward ways of preventing XSS attacks is to use a whitelist of allowable entities. This way, anything other than approved entries will not be accepted by the web application. You can also use a technique called sanitizing, which examines the data being entered, checking to see if it contains anything that can be harmful.</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18. Eavesdropping attacks</a:t>
            </a:r>
          </a:p>
          <a:p>
            <a:pPr algn="l"/>
            <a:r>
              <a:rPr lang="en-US" b="0" i="0" dirty="0">
                <a:solidFill>
                  <a:srgbClr val="000000"/>
                </a:solidFill>
                <a:effectLst/>
                <a:latin typeface="Inter"/>
              </a:rPr>
              <a:t>Eavesdropping attacks involve the bad actor intercepting traffic as it is sent through the network. In this way, an attacker can collect usernames, passwords, and other confidential information like credit cards. Eavesdropping can be active or passive.</a:t>
            </a:r>
          </a:p>
          <a:p>
            <a:pPr algn="l"/>
            <a:r>
              <a:rPr lang="en-US" b="0" i="0" dirty="0">
                <a:solidFill>
                  <a:srgbClr val="000000"/>
                </a:solidFill>
                <a:effectLst/>
                <a:latin typeface="Inter"/>
              </a:rPr>
              <a:t>With active eavesdropping, the hacker inserts a piece of software within the network traffic path to collect information that the hacker analyzes for useful data. Passive eavesdropping attacks are different in that the hacker “listens in,” or eavesdrops, on the transmissions, looking for useful data they can steal.</a:t>
            </a:r>
          </a:p>
          <a:p>
            <a:pPr algn="l"/>
            <a:r>
              <a:rPr lang="en-US" b="0" i="0" dirty="0">
                <a:solidFill>
                  <a:srgbClr val="000000"/>
                </a:solidFill>
                <a:effectLst/>
                <a:latin typeface="Inter"/>
              </a:rPr>
              <a:t>Both active and passive eavesdropping are types of MITM attacks. One of the best ways of preventing them is by encrypting your data, which prevents it from being used by a hacker, regardless of whether they use active or passive eavesdropping.</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19. Birthday attack</a:t>
            </a:r>
          </a:p>
          <a:p>
            <a:pPr algn="l"/>
            <a:r>
              <a:rPr lang="en-US" b="0" i="0" dirty="0">
                <a:solidFill>
                  <a:srgbClr val="000000"/>
                </a:solidFill>
                <a:effectLst/>
                <a:latin typeface="Inter"/>
              </a:rPr>
              <a:t>In a birthday attack, an attacker abuses a security feature: hash algorithms, which are used to verify the authenticity of messages. The hash algorithm is a digital signature, and the receiver of the message checks it before accepting the message as authentic. If a hacker can create a hash that is identical to what the sender has appended to their message, the hacker can simply replace the sender’s message with their own. The receiving device will accept it because it has the right hash.</a:t>
            </a:r>
          </a:p>
          <a:p>
            <a:pPr algn="l"/>
            <a:r>
              <a:rPr lang="en-US" b="0" i="0" dirty="0">
                <a:solidFill>
                  <a:srgbClr val="000000"/>
                </a:solidFill>
                <a:effectLst/>
                <a:latin typeface="Inter"/>
              </a:rPr>
              <a:t>The name “birthday attack” refers to the birthday paradox, which is based on the fact that in a room of 23 people, there is more than a 50% chance that two of them have the same birthday. Hence, while people think their birthdays, like hashes, are unique, they are not as unique as many think.</a:t>
            </a:r>
          </a:p>
          <a:p>
            <a:pPr algn="l"/>
            <a:r>
              <a:rPr lang="en-US" b="0" i="0" dirty="0">
                <a:solidFill>
                  <a:srgbClr val="000000"/>
                </a:solidFill>
                <a:effectLst/>
                <a:latin typeface="Inter"/>
              </a:rPr>
              <a:t>To prevent birthday attacks, use longer hashes for verification. With each extra digit added to the hash, the odds of creating a matching one decrease significantly.</a:t>
            </a:r>
            <a:br>
              <a:rPr lang="en-US" b="0" i="0" dirty="0">
                <a:solidFill>
                  <a:srgbClr val="000000"/>
                </a:solidFill>
                <a:effectLst/>
                <a:latin typeface="Inter"/>
              </a:rPr>
            </a:br>
            <a:endParaRPr lang="en-US" b="0" i="0" dirty="0">
              <a:solidFill>
                <a:srgbClr val="000000"/>
              </a:solidFill>
              <a:effectLst/>
              <a:latin typeface="Inter"/>
            </a:endParaRPr>
          </a:p>
          <a:p>
            <a:pPr algn="l"/>
            <a:r>
              <a:rPr lang="en-US" b="1" i="0" dirty="0">
                <a:solidFill>
                  <a:srgbClr val="323E48"/>
                </a:solidFill>
                <a:effectLst/>
                <a:latin typeface="Inter"/>
              </a:rPr>
              <a:t>20. Malware attack</a:t>
            </a:r>
          </a:p>
          <a:p>
            <a:pPr algn="l"/>
            <a:r>
              <a:rPr lang="en-US" b="1" i="0" u="none" strike="noStrike" dirty="0">
                <a:solidFill>
                  <a:srgbClr val="333333"/>
                </a:solidFill>
                <a:effectLst/>
                <a:latin typeface="Inter"/>
                <a:hlinkClick r:id="rId22"/>
              </a:rPr>
              <a:t>Malware</a:t>
            </a:r>
            <a:r>
              <a:rPr lang="en-US" b="0" i="0" dirty="0">
                <a:solidFill>
                  <a:srgbClr val="000000"/>
                </a:solidFill>
                <a:effectLst/>
                <a:latin typeface="Inter"/>
              </a:rPr>
              <a:t> is a general term for malicious software, hence the “mal” at the start of the word. Malware infects a computer and changes how it functions, destroys data, or spies on the user or network traffic as it passes through. Malware can either spread from one device to another or remain in place, only impacting its host device.</a:t>
            </a:r>
          </a:p>
          <a:p>
            <a:pPr algn="l"/>
            <a:r>
              <a:rPr lang="en-US" b="0" i="0" dirty="0">
                <a:solidFill>
                  <a:srgbClr val="000000"/>
                </a:solidFill>
                <a:effectLst/>
                <a:latin typeface="Inter"/>
              </a:rPr>
              <a:t>Several of the attack methods described above can involve forms of malware, including MITM attacks, phishing, ransomware, SQL injection, Trojan horses, drive-by attacks, and XSS attacks.</a:t>
            </a:r>
          </a:p>
          <a:p>
            <a:pPr algn="l"/>
            <a:r>
              <a:rPr lang="en-US" b="0" i="0" dirty="0">
                <a:solidFill>
                  <a:srgbClr val="000000"/>
                </a:solidFill>
                <a:effectLst/>
                <a:latin typeface="Inter"/>
              </a:rPr>
              <a:t>In a malware attack, the software has to be installed on the target device. This requires an action on the part of the user. Therefore, in addition to using firewalls that can detect malware, users should be educated regarding which types of software to avoid, the kinds of links they should verify before clicking, and the emails and attachments they should not engage with.</a:t>
            </a:r>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333333"/>
                </a:solidFill>
                <a:effectLst/>
                <a:latin typeface="DIN"/>
              </a:rPr>
              <a:t>How to Protect Against Vulnerabilities</a:t>
            </a:r>
          </a:p>
          <a:p>
            <a:pPr algn="l"/>
            <a:r>
              <a:rPr lang="en-US" b="0" i="0" dirty="0">
                <a:solidFill>
                  <a:srgbClr val="333333"/>
                </a:solidFill>
                <a:effectLst/>
                <a:latin typeface="DIN"/>
              </a:rPr>
              <a:t>Some of the ways that companies can help protect themselves against attack include the following:</a:t>
            </a:r>
          </a:p>
          <a:p>
            <a:pPr algn="l">
              <a:buFont typeface="Arial" panose="020B0604020202020204" pitchFamily="34" charset="0"/>
              <a:buChar char="•"/>
            </a:pPr>
            <a:r>
              <a:rPr lang="en-US" b="1" i="0" dirty="0">
                <a:solidFill>
                  <a:srgbClr val="333333"/>
                </a:solidFill>
                <a:effectLst/>
                <a:latin typeface="DIN"/>
              </a:rPr>
              <a:t>Vulnerability Scanning:</a:t>
            </a:r>
            <a:r>
              <a:rPr lang="en-US" b="0" i="0" dirty="0">
                <a:solidFill>
                  <a:srgbClr val="333333"/>
                </a:solidFill>
                <a:effectLst/>
                <a:latin typeface="DIN"/>
              </a:rPr>
              <a:t> A </a:t>
            </a:r>
            <a:r>
              <a:rPr lang="en-US" b="0" i="0" u="none" strike="noStrike" dirty="0">
                <a:solidFill>
                  <a:srgbClr val="E40C5B"/>
                </a:solidFill>
                <a:effectLst/>
                <a:latin typeface="DIN"/>
                <a:hlinkClick r:id="rId3"/>
              </a:rPr>
              <a:t>vulnerability scanner</a:t>
            </a:r>
            <a:r>
              <a:rPr lang="en-US" b="0" i="0" dirty="0">
                <a:solidFill>
                  <a:srgbClr val="333333"/>
                </a:solidFill>
                <a:effectLst/>
                <a:latin typeface="DIN"/>
              </a:rPr>
              <a:t> can automatically identify many of the vulnerabilities in an organization’s systems. Performing a vulnerability scan provides insight into the issues that need correction and where the company is most likely to be attacked.</a:t>
            </a:r>
          </a:p>
          <a:p>
            <a:pPr algn="l">
              <a:buFont typeface="Arial" panose="020B0604020202020204" pitchFamily="34" charset="0"/>
              <a:buChar char="•"/>
            </a:pPr>
            <a:r>
              <a:rPr lang="en-US" b="1" i="0" dirty="0">
                <a:solidFill>
                  <a:srgbClr val="333333"/>
                </a:solidFill>
                <a:effectLst/>
                <a:latin typeface="DIN"/>
              </a:rPr>
              <a:t>Access Control:</a:t>
            </a:r>
            <a:r>
              <a:rPr lang="en-US" b="0" i="0" dirty="0">
                <a:solidFill>
                  <a:srgbClr val="333333"/>
                </a:solidFill>
                <a:effectLst/>
                <a:latin typeface="DIN"/>
              </a:rPr>
              <a:t> Many vulnerabilities arise from weak authentication and access control. Implementing </a:t>
            </a:r>
            <a:r>
              <a:rPr lang="en-US" b="0" i="0" u="none" strike="noStrike" dirty="0">
                <a:solidFill>
                  <a:srgbClr val="E40C5B"/>
                </a:solidFill>
                <a:effectLst/>
                <a:latin typeface="DIN"/>
                <a:hlinkClick r:id="rId4"/>
              </a:rPr>
              <a:t>least privilege</a:t>
            </a:r>
            <a:r>
              <a:rPr lang="en-US" b="0" i="0" dirty="0">
                <a:solidFill>
                  <a:srgbClr val="333333"/>
                </a:solidFill>
                <a:effectLst/>
                <a:latin typeface="DIN"/>
              </a:rPr>
              <a:t> and deploying multi-factor authentication (MFA) can help to limit the risk of account takeover attacks.</a:t>
            </a:r>
          </a:p>
          <a:p>
            <a:pPr algn="l">
              <a:buFont typeface="Arial" panose="020B0604020202020204" pitchFamily="34" charset="0"/>
              <a:buChar char="•"/>
            </a:pPr>
            <a:r>
              <a:rPr lang="en-US" b="1" i="0" dirty="0">
                <a:solidFill>
                  <a:srgbClr val="333333"/>
                </a:solidFill>
                <a:effectLst/>
                <a:latin typeface="DIN"/>
              </a:rPr>
              <a:t>Validate User Input:</a:t>
            </a:r>
            <a:r>
              <a:rPr lang="en-US" b="0" i="0" dirty="0">
                <a:solidFill>
                  <a:srgbClr val="333333"/>
                </a:solidFill>
                <a:effectLst/>
                <a:latin typeface="DIN"/>
              </a:rPr>
              <a:t> Many exploits take advantage of poor input validation. Applications should be designed to fully validate input before trusting and processing it.</a:t>
            </a:r>
          </a:p>
          <a:p>
            <a:pPr algn="l">
              <a:buFont typeface="Arial" panose="020B0604020202020204" pitchFamily="34" charset="0"/>
              <a:buChar char="•"/>
            </a:pPr>
            <a:r>
              <a:rPr lang="en-US" b="1" i="0" dirty="0">
                <a:solidFill>
                  <a:srgbClr val="333333"/>
                </a:solidFill>
                <a:effectLst/>
                <a:latin typeface="DIN"/>
              </a:rPr>
              <a:t>Automate Security Monitoring:</a:t>
            </a:r>
            <a:r>
              <a:rPr lang="en-US" b="0" i="0" dirty="0">
                <a:solidFill>
                  <a:srgbClr val="333333"/>
                </a:solidFill>
                <a:effectLst/>
                <a:latin typeface="DIN"/>
              </a:rPr>
              <a:t> Many companies have sprawling IT architectures, making it difficult or impossible to manually track configuration settings and cyber defenses. Automating security monitoring and management enables security teams to scale and quickly remediate issues.</a:t>
            </a:r>
          </a:p>
          <a:p>
            <a:pPr algn="l">
              <a:buFont typeface="Arial" panose="020B0604020202020204" pitchFamily="34" charset="0"/>
              <a:buChar char="•"/>
            </a:pPr>
            <a:r>
              <a:rPr lang="en-US" b="1" i="0" dirty="0">
                <a:solidFill>
                  <a:srgbClr val="333333"/>
                </a:solidFill>
                <a:effectLst/>
                <a:latin typeface="DIN"/>
              </a:rPr>
              <a:t>Deploy Security Solutions:</a:t>
            </a:r>
            <a:r>
              <a:rPr lang="en-US" b="0" i="0" dirty="0">
                <a:solidFill>
                  <a:srgbClr val="333333"/>
                </a:solidFill>
                <a:effectLst/>
                <a:latin typeface="DIN"/>
              </a:rPr>
              <a:t> Many common types of attacks can be identified and blocked by cybersecurity solutions such as firewalls or endpoint security tools. Deploying a comprehensive, integrated security architecture can reduce the risks posed by vulnerabilities.</a:t>
            </a:r>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333333"/>
                </a:solidFill>
                <a:effectLst/>
                <a:latin typeface="DIN"/>
              </a:rPr>
              <a:t>How to Protect Against Vulnerabilities</a:t>
            </a:r>
          </a:p>
          <a:p>
            <a:pPr algn="l"/>
            <a:r>
              <a:rPr lang="en-US" b="0" i="0" dirty="0">
                <a:solidFill>
                  <a:srgbClr val="333333"/>
                </a:solidFill>
                <a:effectLst/>
                <a:latin typeface="DIN"/>
              </a:rPr>
              <a:t>Some of the ways that companies can help protect themselves against attack include the following:</a:t>
            </a:r>
          </a:p>
          <a:p>
            <a:pPr algn="l">
              <a:buFont typeface="Arial" panose="020B0604020202020204" pitchFamily="34" charset="0"/>
              <a:buChar char="•"/>
            </a:pPr>
            <a:r>
              <a:rPr lang="en-US" b="1" i="0" dirty="0">
                <a:solidFill>
                  <a:srgbClr val="333333"/>
                </a:solidFill>
                <a:effectLst/>
                <a:latin typeface="DIN"/>
              </a:rPr>
              <a:t>Vulnerability Scanning:</a:t>
            </a:r>
            <a:r>
              <a:rPr lang="en-US" b="0" i="0" dirty="0">
                <a:solidFill>
                  <a:srgbClr val="333333"/>
                </a:solidFill>
                <a:effectLst/>
                <a:latin typeface="DIN"/>
              </a:rPr>
              <a:t> A </a:t>
            </a:r>
            <a:r>
              <a:rPr lang="en-US" b="0" i="0" u="none" strike="noStrike" dirty="0">
                <a:solidFill>
                  <a:srgbClr val="E40C5B"/>
                </a:solidFill>
                <a:effectLst/>
                <a:latin typeface="DIN"/>
                <a:hlinkClick r:id="rId3"/>
              </a:rPr>
              <a:t>vulnerability scanner</a:t>
            </a:r>
            <a:r>
              <a:rPr lang="en-US" b="0" i="0" dirty="0">
                <a:solidFill>
                  <a:srgbClr val="333333"/>
                </a:solidFill>
                <a:effectLst/>
                <a:latin typeface="DIN"/>
              </a:rPr>
              <a:t> can automatically identify many of the vulnerabilities in an organization’s systems. Performing a vulnerability scan provides insight into the issues that need correction and where the company is most likely to be attacked.</a:t>
            </a:r>
          </a:p>
          <a:p>
            <a:pPr algn="l">
              <a:buFont typeface="Arial" panose="020B0604020202020204" pitchFamily="34" charset="0"/>
              <a:buChar char="•"/>
            </a:pPr>
            <a:r>
              <a:rPr lang="en-US" b="1" i="0" dirty="0">
                <a:solidFill>
                  <a:srgbClr val="333333"/>
                </a:solidFill>
                <a:effectLst/>
                <a:latin typeface="DIN"/>
              </a:rPr>
              <a:t>Access Control:</a:t>
            </a:r>
            <a:r>
              <a:rPr lang="en-US" b="0" i="0" dirty="0">
                <a:solidFill>
                  <a:srgbClr val="333333"/>
                </a:solidFill>
                <a:effectLst/>
                <a:latin typeface="DIN"/>
              </a:rPr>
              <a:t> Many vulnerabilities arise from weak authentication and access control. Implementing </a:t>
            </a:r>
            <a:r>
              <a:rPr lang="en-US" b="0" i="0" u="none" strike="noStrike" dirty="0">
                <a:solidFill>
                  <a:srgbClr val="E40C5B"/>
                </a:solidFill>
                <a:effectLst/>
                <a:latin typeface="DIN"/>
                <a:hlinkClick r:id="rId4"/>
              </a:rPr>
              <a:t>least privilege</a:t>
            </a:r>
            <a:r>
              <a:rPr lang="en-US" b="0" i="0" dirty="0">
                <a:solidFill>
                  <a:srgbClr val="333333"/>
                </a:solidFill>
                <a:effectLst/>
                <a:latin typeface="DIN"/>
              </a:rPr>
              <a:t> and deploying multi-factor authentication (MFA) can help to limit the risk of account takeover attacks.</a:t>
            </a:r>
          </a:p>
          <a:p>
            <a:pPr algn="l">
              <a:buFont typeface="Arial" panose="020B0604020202020204" pitchFamily="34" charset="0"/>
              <a:buChar char="•"/>
            </a:pPr>
            <a:r>
              <a:rPr lang="en-US" b="1" i="0" dirty="0">
                <a:solidFill>
                  <a:srgbClr val="333333"/>
                </a:solidFill>
                <a:effectLst/>
                <a:latin typeface="DIN"/>
              </a:rPr>
              <a:t>Validate User Input:</a:t>
            </a:r>
            <a:r>
              <a:rPr lang="en-US" b="0" i="0" dirty="0">
                <a:solidFill>
                  <a:srgbClr val="333333"/>
                </a:solidFill>
                <a:effectLst/>
                <a:latin typeface="DIN"/>
              </a:rPr>
              <a:t> Many exploits take advantage of poor input validation. Applications should be designed to fully validate input before trusting and processing it.</a:t>
            </a:r>
          </a:p>
          <a:p>
            <a:pPr algn="l">
              <a:buFont typeface="Arial" panose="020B0604020202020204" pitchFamily="34" charset="0"/>
              <a:buChar char="•"/>
            </a:pPr>
            <a:r>
              <a:rPr lang="en-US" b="1" i="0" dirty="0">
                <a:solidFill>
                  <a:srgbClr val="333333"/>
                </a:solidFill>
                <a:effectLst/>
                <a:latin typeface="DIN"/>
              </a:rPr>
              <a:t>Automate Security Monitoring:</a:t>
            </a:r>
            <a:r>
              <a:rPr lang="en-US" b="0" i="0" dirty="0">
                <a:solidFill>
                  <a:srgbClr val="333333"/>
                </a:solidFill>
                <a:effectLst/>
                <a:latin typeface="DIN"/>
              </a:rPr>
              <a:t> Many companies have sprawling IT architectures, making it difficult or impossible to manually track configuration settings and cyber defenses. Automating security monitoring and management enables security teams to scale and quickly remediate issues.</a:t>
            </a:r>
          </a:p>
          <a:p>
            <a:pPr algn="l">
              <a:buFont typeface="Arial" panose="020B0604020202020204" pitchFamily="34" charset="0"/>
              <a:buChar char="•"/>
            </a:pPr>
            <a:r>
              <a:rPr lang="en-US" b="1" i="0" dirty="0">
                <a:solidFill>
                  <a:srgbClr val="333333"/>
                </a:solidFill>
                <a:effectLst/>
                <a:latin typeface="DIN"/>
              </a:rPr>
              <a:t>Deploy Security Solutions:</a:t>
            </a:r>
            <a:r>
              <a:rPr lang="en-US" b="0" i="0" dirty="0">
                <a:solidFill>
                  <a:srgbClr val="333333"/>
                </a:solidFill>
                <a:effectLst/>
                <a:latin typeface="DIN"/>
              </a:rPr>
              <a:t> Many common types of attacks can be identified and blocked by cybersecurity solutions such as firewalls or endpoint security tools. Deploying a comprehensive, integrated security architecture can reduce the risks posed by vulnerabilities.</a:t>
            </a:r>
          </a:p>
          <a:p>
            <a:pPr marL="0" lvl="0" indent="0" algn="l" rtl="0">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333333"/>
                </a:solidFill>
                <a:effectLst/>
                <a:latin typeface="DIN"/>
              </a:rPr>
              <a:t>How to Protect Against Vulnerabilities</a:t>
            </a:r>
          </a:p>
          <a:p>
            <a:pPr algn="l"/>
            <a:r>
              <a:rPr lang="en-US" b="0" i="0" dirty="0">
                <a:solidFill>
                  <a:srgbClr val="333333"/>
                </a:solidFill>
                <a:effectLst/>
                <a:latin typeface="DIN"/>
              </a:rPr>
              <a:t>Some of the ways that companies can help protect themselves against attack include the following:</a:t>
            </a:r>
          </a:p>
          <a:p>
            <a:pPr algn="l">
              <a:buFont typeface="Arial" panose="020B0604020202020204" pitchFamily="34" charset="0"/>
              <a:buChar char="•"/>
            </a:pPr>
            <a:r>
              <a:rPr lang="en-US" b="1" i="0" dirty="0">
                <a:solidFill>
                  <a:srgbClr val="333333"/>
                </a:solidFill>
                <a:effectLst/>
                <a:latin typeface="DIN"/>
              </a:rPr>
              <a:t>Vulnerability Scanning:</a:t>
            </a:r>
            <a:r>
              <a:rPr lang="en-US" b="0" i="0" dirty="0">
                <a:solidFill>
                  <a:srgbClr val="333333"/>
                </a:solidFill>
                <a:effectLst/>
                <a:latin typeface="DIN"/>
              </a:rPr>
              <a:t> A </a:t>
            </a:r>
            <a:r>
              <a:rPr lang="en-US" b="0" i="0" u="none" strike="noStrike" dirty="0">
                <a:solidFill>
                  <a:srgbClr val="E40C5B"/>
                </a:solidFill>
                <a:effectLst/>
                <a:latin typeface="DIN"/>
                <a:hlinkClick r:id="rId3"/>
              </a:rPr>
              <a:t>vulnerability scanner</a:t>
            </a:r>
            <a:r>
              <a:rPr lang="en-US" b="0" i="0" dirty="0">
                <a:solidFill>
                  <a:srgbClr val="333333"/>
                </a:solidFill>
                <a:effectLst/>
                <a:latin typeface="DIN"/>
              </a:rPr>
              <a:t> can automatically identify many of the vulnerabilities in an organization’s systems. Performing a vulnerability scan provides insight into the issues that need correction and where the company is most likely to be attacked.</a:t>
            </a:r>
          </a:p>
          <a:p>
            <a:pPr algn="l">
              <a:buFont typeface="Arial" panose="020B0604020202020204" pitchFamily="34" charset="0"/>
              <a:buChar char="•"/>
            </a:pPr>
            <a:r>
              <a:rPr lang="en-US" b="1" i="0" dirty="0">
                <a:solidFill>
                  <a:srgbClr val="333333"/>
                </a:solidFill>
                <a:effectLst/>
                <a:latin typeface="DIN"/>
              </a:rPr>
              <a:t>Access Control:</a:t>
            </a:r>
            <a:r>
              <a:rPr lang="en-US" b="0" i="0" dirty="0">
                <a:solidFill>
                  <a:srgbClr val="333333"/>
                </a:solidFill>
                <a:effectLst/>
                <a:latin typeface="DIN"/>
              </a:rPr>
              <a:t> Many vulnerabilities arise from weak authentication and access control. Implementing </a:t>
            </a:r>
            <a:r>
              <a:rPr lang="en-US" b="0" i="0" u="none" strike="noStrike" dirty="0">
                <a:solidFill>
                  <a:srgbClr val="E40C5B"/>
                </a:solidFill>
                <a:effectLst/>
                <a:latin typeface="DIN"/>
                <a:hlinkClick r:id="rId4"/>
              </a:rPr>
              <a:t>least privilege</a:t>
            </a:r>
            <a:r>
              <a:rPr lang="en-US" b="0" i="0" dirty="0">
                <a:solidFill>
                  <a:srgbClr val="333333"/>
                </a:solidFill>
                <a:effectLst/>
                <a:latin typeface="DIN"/>
              </a:rPr>
              <a:t> and deploying multi-factor authentication (MFA) can help to limit the risk of account takeover attacks.</a:t>
            </a:r>
          </a:p>
          <a:p>
            <a:pPr algn="l">
              <a:buFont typeface="Arial" panose="020B0604020202020204" pitchFamily="34" charset="0"/>
              <a:buChar char="•"/>
            </a:pPr>
            <a:r>
              <a:rPr lang="en-US" b="1" i="0" dirty="0">
                <a:solidFill>
                  <a:srgbClr val="333333"/>
                </a:solidFill>
                <a:effectLst/>
                <a:latin typeface="DIN"/>
              </a:rPr>
              <a:t>Validate User Input:</a:t>
            </a:r>
            <a:r>
              <a:rPr lang="en-US" b="0" i="0" dirty="0">
                <a:solidFill>
                  <a:srgbClr val="333333"/>
                </a:solidFill>
                <a:effectLst/>
                <a:latin typeface="DIN"/>
              </a:rPr>
              <a:t> Many exploits take advantage of poor input validation. Applications should be designed to fully validate input before trusting and processing it.</a:t>
            </a:r>
          </a:p>
          <a:p>
            <a:pPr algn="l">
              <a:buFont typeface="Arial" panose="020B0604020202020204" pitchFamily="34" charset="0"/>
              <a:buChar char="•"/>
            </a:pPr>
            <a:r>
              <a:rPr lang="en-US" b="1" i="0" dirty="0">
                <a:solidFill>
                  <a:srgbClr val="333333"/>
                </a:solidFill>
                <a:effectLst/>
                <a:latin typeface="DIN"/>
              </a:rPr>
              <a:t>Automate Security Monitoring:</a:t>
            </a:r>
            <a:r>
              <a:rPr lang="en-US" b="0" i="0" dirty="0">
                <a:solidFill>
                  <a:srgbClr val="333333"/>
                </a:solidFill>
                <a:effectLst/>
                <a:latin typeface="DIN"/>
              </a:rPr>
              <a:t> Many companies have sprawling IT architectures, making it difficult or impossible to manually track configuration settings and cyber defenses. Automating security monitoring and management enables security teams to scale and quickly remediate issues.</a:t>
            </a:r>
          </a:p>
          <a:p>
            <a:pPr algn="l">
              <a:buFont typeface="Arial" panose="020B0604020202020204" pitchFamily="34" charset="0"/>
              <a:buChar char="•"/>
            </a:pPr>
            <a:r>
              <a:rPr lang="en-US" b="1" i="0" dirty="0">
                <a:solidFill>
                  <a:srgbClr val="333333"/>
                </a:solidFill>
                <a:effectLst/>
                <a:latin typeface="DIN"/>
              </a:rPr>
              <a:t>Deploy Security Solutions:</a:t>
            </a:r>
            <a:r>
              <a:rPr lang="en-US" b="0" i="0" dirty="0">
                <a:solidFill>
                  <a:srgbClr val="333333"/>
                </a:solidFill>
                <a:effectLst/>
                <a:latin typeface="DIN"/>
              </a:rPr>
              <a:t> Many common types of attacks can be identified and blocked by cybersecurity solutions such as firewalls or endpoint security tools. Deploying a comprehensive, integrated security architecture can reduce the risks posed by vulnerabilities.</a:t>
            </a:r>
          </a:p>
          <a:p>
            <a:pPr algn="l">
              <a:buFont typeface="Arial" panose="020B0604020202020204" pitchFamily="34" charset="0"/>
              <a:buChar char="•"/>
            </a:pPr>
            <a:endParaRPr lang="en-US" b="0" i="0" dirty="0">
              <a:solidFill>
                <a:srgbClr val="333333"/>
              </a:solidFill>
              <a:effectLst/>
              <a:latin typeface="DIN"/>
            </a:endParaRPr>
          </a:p>
          <a:p>
            <a:pPr algn="l">
              <a:buFont typeface="Arial" panose="020B0604020202020204" pitchFamily="34" charset="0"/>
              <a:buChar char="•"/>
            </a:pPr>
            <a:endParaRPr lang="en-US" b="0" i="0" dirty="0">
              <a:solidFill>
                <a:srgbClr val="333333"/>
              </a:solidFill>
              <a:effectLst/>
              <a:latin typeface="DIN"/>
            </a:endParaRPr>
          </a:p>
          <a:p>
            <a:pPr algn="l">
              <a:buFont typeface="Arial" panose="020B0604020202020204" pitchFamily="34" charset="0"/>
              <a:buChar char="•"/>
            </a:pPr>
            <a:endParaRPr lang="en-US" b="0" i="0" dirty="0">
              <a:solidFill>
                <a:srgbClr val="333333"/>
              </a:solidFill>
              <a:effectLst/>
              <a:latin typeface="DIN"/>
            </a:endParaRPr>
          </a:p>
          <a:p>
            <a:pPr algn="l"/>
            <a:r>
              <a:rPr lang="en-US" b="1" i="0" dirty="0">
                <a:solidFill>
                  <a:srgbClr val="323E48"/>
                </a:solidFill>
                <a:effectLst/>
                <a:latin typeface="Inter"/>
              </a:rPr>
              <a:t>4. Whale-phishing attacks</a:t>
            </a:r>
          </a:p>
          <a:p>
            <a:pPr algn="l"/>
            <a:r>
              <a:rPr lang="en-US" b="0" i="0" dirty="0">
                <a:solidFill>
                  <a:srgbClr val="000000"/>
                </a:solidFill>
                <a:effectLst/>
                <a:latin typeface="Inter"/>
              </a:rPr>
              <a:t>A whale-phishing attack is so-named because it goes after the “big fish” or whales of an organization, which typically include those in the C-suite or others in charge of the organization. These individuals are likely to possess information that can be valuable to attackers, such as proprietary information about the business or its operations. </a:t>
            </a:r>
          </a:p>
          <a:p>
            <a:pPr algn="l"/>
            <a:r>
              <a:rPr lang="en-US" b="0" i="0" dirty="0">
                <a:solidFill>
                  <a:srgbClr val="000000"/>
                </a:solidFill>
                <a:effectLst/>
                <a:latin typeface="Inter"/>
              </a:rPr>
              <a:t>If a targeted “whale” downloads ransomware, they are more likely to pay the ransom to prevent news of the successful attack from getting out and damaging their reputation or that of the organization. Whale-phishing attacks can be prevented by taking the same kinds of precautions to avoid phishing attacks, such as carefully examining emails and the attachments and links that come with them, keeping an eye out for suspicious destinations or parameters.</a:t>
            </a:r>
          </a:p>
          <a:p>
            <a:pPr algn="l">
              <a:buFont typeface="Arial" panose="020B0604020202020204" pitchFamily="34" charset="0"/>
              <a:buChar char="•"/>
            </a:pPr>
            <a:endParaRPr lang="en-US" b="0" i="0" dirty="0">
              <a:solidFill>
                <a:srgbClr val="333333"/>
              </a:solidFill>
              <a:effectLst/>
              <a:latin typeface="DIN"/>
            </a:endParaRPr>
          </a:p>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323E48"/>
                </a:solidFill>
                <a:effectLst/>
                <a:latin typeface="Inter"/>
              </a:rPr>
              <a:t>5. Spear-phishing attacks</a:t>
            </a:r>
          </a:p>
          <a:p>
            <a:pPr algn="l"/>
            <a:r>
              <a:rPr lang="en-US" b="1" i="0" u="none" strike="noStrike" dirty="0">
                <a:solidFill>
                  <a:srgbClr val="333333"/>
                </a:solidFill>
                <a:effectLst/>
                <a:latin typeface="Inter"/>
                <a:hlinkClick r:id="rId3"/>
              </a:rPr>
              <a:t>Spear phishing</a:t>
            </a:r>
            <a:r>
              <a:rPr lang="en-US" b="0" i="0" dirty="0">
                <a:solidFill>
                  <a:srgbClr val="000000"/>
                </a:solidFill>
                <a:effectLst/>
                <a:latin typeface="Inter"/>
              </a:rPr>
              <a:t> refers to a specific type of targeted phishing attack. The attacker takes the time to research their intended targets and then write messages the target is likely to find personally relevant. These types of attacks are aptly called “spear” phishing because of the way the attacker hones in on one specific target. The message will seem legitimate, which is why it can be difficult to spot a spear-phishing attack.</a:t>
            </a:r>
          </a:p>
          <a:p>
            <a:pPr algn="l"/>
            <a:r>
              <a:rPr lang="en-US" b="0" i="0" dirty="0">
                <a:solidFill>
                  <a:srgbClr val="000000"/>
                </a:solidFill>
                <a:effectLst/>
                <a:latin typeface="Inter"/>
              </a:rPr>
              <a:t>Often, a spear-phishing attack uses email spoofing, where the information inside the “From” portion of the email is faked, making it look like the email is coming from a different sender. This can be someone the target trusts, like an individual within their social network, a close friend, or a business partner. Attackers may also use website cloning to make the communication seem legitimate. With website cloning, the attacker copies a legitimate website to lull the victim into a sense of comfort. The target, thinking the website is real, then feels comfortable entering their private information.</a:t>
            </a:r>
          </a:p>
          <a:p>
            <a:pPr algn="l"/>
            <a:r>
              <a:rPr lang="en-US" b="0" i="0" dirty="0">
                <a:solidFill>
                  <a:srgbClr val="000000"/>
                </a:solidFill>
                <a:effectLst/>
                <a:latin typeface="Inter"/>
              </a:rPr>
              <a:t>Similar to regular phishing attacks, spear-phishing-attacks can be prevented by carefully checking the details in all fields of an email and making sure users do not click on any link whose destination cannot be verified as legitimate.</a:t>
            </a:r>
          </a:p>
          <a:p>
            <a:pPr algn="l"/>
            <a:endParaRPr lang="en-US" b="0" i="0" dirty="0">
              <a:solidFill>
                <a:srgbClr val="000000"/>
              </a:solidFill>
              <a:effectLst/>
              <a:latin typeface="Inter"/>
            </a:endParaRPr>
          </a:p>
          <a:p>
            <a:pPr algn="l"/>
            <a:endParaRPr lang="en-US" b="0" i="0" dirty="0">
              <a:solidFill>
                <a:srgbClr val="000000"/>
              </a:solidFill>
              <a:effectLst/>
              <a:latin typeface="Inter"/>
            </a:endParaRPr>
          </a:p>
          <a:p>
            <a:pPr algn="l"/>
            <a:r>
              <a:rPr lang="en-US" b="1" i="0" dirty="0">
                <a:solidFill>
                  <a:srgbClr val="323E48"/>
                </a:solidFill>
                <a:effectLst/>
                <a:latin typeface="Inter"/>
              </a:rPr>
              <a:t>9. URL interpretation</a:t>
            </a:r>
          </a:p>
          <a:p>
            <a:pPr algn="l"/>
            <a:r>
              <a:rPr lang="en-US" b="0" i="0" dirty="0">
                <a:solidFill>
                  <a:srgbClr val="000000"/>
                </a:solidFill>
                <a:effectLst/>
                <a:latin typeface="Inter"/>
              </a:rPr>
              <a:t>With URL interpretation, attackers alter and fabricate certain URL addresses and use them to gain access to the target’s personal and professional data. This kind of attack is also referred to as URL poisoning. The name “URL interpretation” comes from the fact that the attacker knows the order in which a web-page’s URL information needs to be entered. The attacker then “interprets” this syntax, using it to figure out how to get into areas they do not have access to.</a:t>
            </a:r>
          </a:p>
          <a:p>
            <a:pPr algn="l"/>
            <a:r>
              <a:rPr lang="en-US" b="0" i="0" dirty="0">
                <a:solidFill>
                  <a:srgbClr val="000000"/>
                </a:solidFill>
                <a:effectLst/>
                <a:latin typeface="Inter"/>
              </a:rPr>
              <a:t>To execute a URL interpretation attack, a hacker may guess URLs they can use to gain administrator privileges to a site or to access the site’s back end to get into a user’s account. Once they get to the page they want, they can manipulate the site itself or gain access to sensitive information about the people who use it.</a:t>
            </a:r>
          </a:p>
          <a:p>
            <a:pPr algn="l"/>
            <a:r>
              <a:rPr lang="en-US" b="0" i="0" dirty="0">
                <a:solidFill>
                  <a:srgbClr val="000000"/>
                </a:solidFill>
                <a:effectLst/>
                <a:latin typeface="Inter"/>
              </a:rPr>
              <a:t>For example, if a hacker attempts to get into the admin section of a site called GetYourKnowledgeOn.com, they may type in http://getyourknowledgeon.com/admin, and this will bring them to an admin login page. In some cases, the admin username and password may be the default "admin" and "admin" or very easy to guess. An attacker may also have already figured out the admin’s password or narrowed it down to a few possibilities. The attacker then tries each one, gains access, and can manipulate, steal, or delete data at will.</a:t>
            </a:r>
          </a:p>
          <a:p>
            <a:pPr algn="l"/>
            <a:r>
              <a:rPr lang="en-US" b="0" i="0" dirty="0">
                <a:solidFill>
                  <a:srgbClr val="000000"/>
                </a:solidFill>
                <a:effectLst/>
                <a:latin typeface="Inter"/>
              </a:rPr>
              <a:t>To prevent URL interpretation attacks from succeeding, use secure authentication methods for any sensitive areas of your site. This may necessitate multi-factor authentication (MFA) or secure passwords consisting of seemingly random characters.</a:t>
            </a:r>
          </a:p>
          <a:p>
            <a:pPr algn="l"/>
            <a:endParaRPr lang="en-US" b="0" i="0" dirty="0">
              <a:solidFill>
                <a:srgbClr val="000000"/>
              </a:solidFill>
              <a:effectLst/>
              <a:latin typeface="Inter"/>
            </a:endParaRPr>
          </a:p>
          <a:p>
            <a:pPr marL="0" lvl="0" indent="0" algn="l" rtl="0">
              <a:spcBef>
                <a:spcPts val="0"/>
              </a:spcBef>
              <a:spcAft>
                <a:spcPts val="0"/>
              </a:spcAft>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323E48"/>
                </a:solidFill>
                <a:effectLst/>
                <a:latin typeface="Inter"/>
              </a:rPr>
              <a:t>10. DNS spoofing</a:t>
            </a:r>
          </a:p>
          <a:p>
            <a:pPr algn="l"/>
            <a:r>
              <a:rPr lang="en-US" b="0" i="0" dirty="0">
                <a:solidFill>
                  <a:srgbClr val="000000"/>
                </a:solidFill>
                <a:effectLst/>
                <a:latin typeface="Inter"/>
              </a:rPr>
              <a:t>With </a:t>
            </a:r>
            <a:r>
              <a:rPr lang="en-US" b="1" i="0" u="none" strike="noStrike" dirty="0">
                <a:solidFill>
                  <a:srgbClr val="333333"/>
                </a:solidFill>
                <a:effectLst/>
                <a:latin typeface="Inter"/>
                <a:hlinkClick r:id="rId3"/>
              </a:rPr>
              <a:t>Domain Name System (DNS)</a:t>
            </a:r>
            <a:r>
              <a:rPr lang="en-US" b="0" i="0" dirty="0">
                <a:solidFill>
                  <a:srgbClr val="000000"/>
                </a:solidFill>
                <a:effectLst/>
                <a:latin typeface="Inter"/>
              </a:rPr>
              <a:t> spoofing, a hacker alters DNS records to send traffic to a fake or “spoofed” website. Once on the fraudulent site, the victim may enter sensitive information that can be used or sold by the hacker. The hacker may also construct a poor-quality site with derogatory or inflammatory content to make a competitor company look bad.</a:t>
            </a:r>
          </a:p>
          <a:p>
            <a:pPr algn="l"/>
            <a:r>
              <a:rPr lang="en-US" b="0" i="0" dirty="0">
                <a:solidFill>
                  <a:srgbClr val="000000"/>
                </a:solidFill>
                <a:effectLst/>
                <a:latin typeface="Inter"/>
              </a:rPr>
              <a:t>In a DNS spoofing attack, the attacker takes advantage of the fact that the user thinks the site they are visiting is legitimate. This gives the attacker the ability to commit crimes in the name of an innocent company, at least from the perspective of the visitor.</a:t>
            </a:r>
          </a:p>
          <a:p>
            <a:pPr algn="l"/>
            <a:r>
              <a:rPr lang="en-US" b="0" i="0" dirty="0">
                <a:solidFill>
                  <a:srgbClr val="000000"/>
                </a:solidFill>
                <a:effectLst/>
                <a:latin typeface="Inter"/>
              </a:rPr>
              <a:t>To prevent DNS spoofing, make sure your DNS servers are kept up-to-date. Attackers aim to exploit vulnerabilities in DNS servers, and the most recent software versions often contain fixes that close known vulnerabilities.</a:t>
            </a:r>
          </a:p>
          <a:p>
            <a:pPr marL="0" lvl="0" indent="0" algn="l" rtl="0">
              <a:spcBef>
                <a:spcPts val="0"/>
              </a:spcBef>
              <a:spcAft>
                <a:spcPts val="0"/>
              </a:spcAft>
              <a:buNone/>
            </a:pPr>
            <a:endParaRPr lang="en-PH" dirty="0"/>
          </a:p>
          <a:p>
            <a:pPr marL="0" lvl="0" indent="0" algn="l" rtl="0">
              <a:spcBef>
                <a:spcPts val="0"/>
              </a:spcBef>
              <a:spcAft>
                <a:spcPts val="0"/>
              </a:spcAft>
              <a:buNone/>
            </a:pPr>
            <a:endParaRPr lang="en-PH" dirty="0"/>
          </a:p>
          <a:p>
            <a:pPr algn="l"/>
            <a:r>
              <a:rPr lang="en-US" b="1" i="0" dirty="0">
                <a:solidFill>
                  <a:srgbClr val="323E48"/>
                </a:solidFill>
                <a:effectLst/>
                <a:latin typeface="Inter"/>
              </a:rPr>
              <a:t>13. Web attacks</a:t>
            </a:r>
          </a:p>
          <a:p>
            <a:pPr algn="l"/>
            <a:r>
              <a:rPr lang="en-US" b="0" i="0" dirty="0">
                <a:solidFill>
                  <a:srgbClr val="000000"/>
                </a:solidFill>
                <a:effectLst/>
                <a:latin typeface="Inter"/>
              </a:rPr>
              <a:t>Web attacks refer to threats that target vulnerabilities in web-based applications. Every time you enter information into a web application, you are initiating a command that generates a response. For example, if you are sending money to someone using an online banking application, the data you enter instructs the application to go into your account, take money out, and send it to someone else’s account. Attackers work within the frameworks of these kinds of requests and use them to their advantage.</a:t>
            </a:r>
          </a:p>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6414771" y="4540255"/>
            <a:ext cx="2227588" cy="726522"/>
            <a:chOff x="5608450" y="1680311"/>
            <a:chExt cx="1039375" cy="338989"/>
          </a:xfrm>
        </p:grpSpPr>
        <p:sp>
          <p:nvSpPr>
            <p:cNvPr id="10" name="Google Shape;10;p2"/>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46;p2"/>
          <p:cNvGrpSpPr/>
          <p:nvPr/>
        </p:nvGrpSpPr>
        <p:grpSpPr>
          <a:xfrm>
            <a:off x="146930" y="167266"/>
            <a:ext cx="2227589" cy="1527191"/>
            <a:chOff x="5519300" y="372750"/>
            <a:chExt cx="1039375" cy="712575"/>
          </a:xfrm>
        </p:grpSpPr>
        <p:sp>
          <p:nvSpPr>
            <p:cNvPr id="47" name="Google Shape;47;p2"/>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 name="Google Shape;114;p2"/>
          <p:cNvSpPr/>
          <p:nvPr/>
        </p:nvSpPr>
        <p:spPr>
          <a:xfrm>
            <a:off x="3498074" y="-725725"/>
            <a:ext cx="1331400" cy="1331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818424" y="3693001"/>
            <a:ext cx="3129600" cy="3129600"/>
          </a:xfrm>
          <a:prstGeom prst="blockArc">
            <a:avLst>
              <a:gd name="adj1" fmla="val 10800000"/>
              <a:gd name="adj2" fmla="val 78601"/>
              <a:gd name="adj3" fmla="val 16284"/>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rot="8403633">
            <a:off x="-1694052" y="-1802996"/>
            <a:ext cx="4684741" cy="4684741"/>
          </a:xfrm>
          <a:prstGeom prst="blockArc">
            <a:avLst>
              <a:gd name="adj1" fmla="val 10800000"/>
              <a:gd name="adj2" fmla="val 21552055"/>
              <a:gd name="adj3" fmla="val 12224"/>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 name="Google Shape;117;p2"/>
          <p:cNvGrpSpPr/>
          <p:nvPr/>
        </p:nvGrpSpPr>
        <p:grpSpPr>
          <a:xfrm>
            <a:off x="7721255" y="539314"/>
            <a:ext cx="709249" cy="339196"/>
            <a:chOff x="5265975" y="1869575"/>
            <a:chExt cx="269400" cy="128825"/>
          </a:xfrm>
        </p:grpSpPr>
        <p:cxnSp>
          <p:nvCxnSpPr>
            <p:cNvPr id="118" name="Google Shape;118;p2"/>
            <p:cNvCxnSpPr/>
            <p:nvPr/>
          </p:nvCxnSpPr>
          <p:spPr>
            <a:xfrm>
              <a:off x="5265975" y="1869575"/>
              <a:ext cx="269400" cy="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2"/>
            <p:cNvCxnSpPr/>
            <p:nvPr/>
          </p:nvCxnSpPr>
          <p:spPr>
            <a:xfrm>
              <a:off x="5265975" y="1901781"/>
              <a:ext cx="269400" cy="0"/>
            </a:xfrm>
            <a:prstGeom prst="straightConnector1">
              <a:avLst/>
            </a:prstGeom>
            <a:noFill/>
            <a:ln w="9525" cap="flat" cmpd="sng">
              <a:solidFill>
                <a:schemeClr val="dk1"/>
              </a:solidFill>
              <a:prstDash val="solid"/>
              <a:round/>
              <a:headEnd type="none" w="med" len="med"/>
              <a:tailEnd type="none" w="med" len="med"/>
            </a:ln>
          </p:spPr>
        </p:cxnSp>
        <p:cxnSp>
          <p:nvCxnSpPr>
            <p:cNvPr id="120" name="Google Shape;120;p2"/>
            <p:cNvCxnSpPr/>
            <p:nvPr/>
          </p:nvCxnSpPr>
          <p:spPr>
            <a:xfrm>
              <a:off x="5265975" y="1933988"/>
              <a:ext cx="269400" cy="0"/>
            </a:xfrm>
            <a:prstGeom prst="straightConnector1">
              <a:avLst/>
            </a:prstGeom>
            <a:noFill/>
            <a:ln w="9525" cap="flat" cmpd="sng">
              <a:solidFill>
                <a:schemeClr val="dk1"/>
              </a:solidFill>
              <a:prstDash val="solid"/>
              <a:round/>
              <a:headEnd type="none" w="med" len="med"/>
              <a:tailEnd type="none" w="med" len="med"/>
            </a:ln>
          </p:spPr>
        </p:cxnSp>
        <p:cxnSp>
          <p:nvCxnSpPr>
            <p:cNvPr id="121" name="Google Shape;121;p2"/>
            <p:cNvCxnSpPr/>
            <p:nvPr/>
          </p:nvCxnSpPr>
          <p:spPr>
            <a:xfrm>
              <a:off x="5265975" y="1966194"/>
              <a:ext cx="269400" cy="0"/>
            </a:xfrm>
            <a:prstGeom prst="straightConnector1">
              <a:avLst/>
            </a:prstGeom>
            <a:noFill/>
            <a:ln w="9525" cap="flat" cmpd="sng">
              <a:solidFill>
                <a:schemeClr val="dk1"/>
              </a:solidFill>
              <a:prstDash val="solid"/>
              <a:round/>
              <a:headEnd type="none" w="med" len="med"/>
              <a:tailEnd type="none" w="med" len="med"/>
            </a:ln>
          </p:spPr>
        </p:cxnSp>
        <p:cxnSp>
          <p:nvCxnSpPr>
            <p:cNvPr id="122" name="Google Shape;122;p2"/>
            <p:cNvCxnSpPr/>
            <p:nvPr/>
          </p:nvCxnSpPr>
          <p:spPr>
            <a:xfrm>
              <a:off x="5265975" y="1998400"/>
              <a:ext cx="269400" cy="0"/>
            </a:xfrm>
            <a:prstGeom prst="straightConnector1">
              <a:avLst/>
            </a:prstGeom>
            <a:noFill/>
            <a:ln w="9525" cap="flat" cmpd="sng">
              <a:solidFill>
                <a:schemeClr val="dk1"/>
              </a:solidFill>
              <a:prstDash val="solid"/>
              <a:round/>
              <a:headEnd type="none" w="med" len="med"/>
              <a:tailEnd type="none" w="med" len="med"/>
            </a:ln>
          </p:spPr>
        </p:cxnSp>
      </p:grpSp>
      <p:sp>
        <p:nvSpPr>
          <p:cNvPr id="123" name="Google Shape;123;p2"/>
          <p:cNvSpPr/>
          <p:nvPr/>
        </p:nvSpPr>
        <p:spPr>
          <a:xfrm>
            <a:off x="1925875" y="4140975"/>
            <a:ext cx="2168100" cy="2168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rot="-1855996">
            <a:off x="8430736" y="1382619"/>
            <a:ext cx="1934093" cy="1934093"/>
          </a:xfrm>
          <a:prstGeom prst="blockArc">
            <a:avLst>
              <a:gd name="adj1" fmla="val 5958233"/>
              <a:gd name="adj2" fmla="val 17549793"/>
              <a:gd name="adj3" fmla="val 21039"/>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8581300" y="1240975"/>
            <a:ext cx="1278000" cy="1278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txBox="1">
            <a:spLocks noGrp="1"/>
          </p:cNvSpPr>
          <p:nvPr>
            <p:ph type="ctrTitle"/>
          </p:nvPr>
        </p:nvSpPr>
        <p:spPr>
          <a:xfrm>
            <a:off x="3817063" y="1228288"/>
            <a:ext cx="4499400" cy="1824000"/>
          </a:xfrm>
          <a:prstGeom prst="rect">
            <a:avLst/>
          </a:prstGeom>
        </p:spPr>
        <p:txBody>
          <a:bodyPr spcFirstLastPara="1" wrap="square" lIns="91425" tIns="91425" rIns="91425" bIns="91425" anchor="t" anchorCtr="0">
            <a:noAutofit/>
          </a:bodyPr>
          <a:lstStyle>
            <a:lvl1pPr lvl="0" algn="r">
              <a:lnSpc>
                <a:spcPct val="75000"/>
              </a:lnSpc>
              <a:spcBef>
                <a:spcPts val="0"/>
              </a:spcBef>
              <a:spcAft>
                <a:spcPts val="0"/>
              </a:spcAft>
              <a:buSzPts val="5200"/>
              <a:buNone/>
              <a:defRPr sz="71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7" name="Google Shape;127;p2"/>
          <p:cNvSpPr txBox="1">
            <a:spLocks noGrp="1"/>
          </p:cNvSpPr>
          <p:nvPr>
            <p:ph type="subTitle" idx="1"/>
          </p:nvPr>
        </p:nvSpPr>
        <p:spPr>
          <a:xfrm>
            <a:off x="6343500" y="3052300"/>
            <a:ext cx="1972800" cy="7389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8"/>
        <p:cNvGrpSpPr/>
        <p:nvPr/>
      </p:nvGrpSpPr>
      <p:grpSpPr>
        <a:xfrm>
          <a:off x="0" y="0"/>
          <a:ext cx="0" cy="0"/>
          <a:chOff x="0" y="0"/>
          <a:chExt cx="0" cy="0"/>
        </a:xfrm>
      </p:grpSpPr>
      <p:sp>
        <p:nvSpPr>
          <p:cNvPr id="129" name="Google Shape;129;p3"/>
          <p:cNvSpPr txBox="1">
            <a:spLocks noGrp="1"/>
          </p:cNvSpPr>
          <p:nvPr>
            <p:ph type="title"/>
          </p:nvPr>
        </p:nvSpPr>
        <p:spPr>
          <a:xfrm>
            <a:off x="4228090" y="2680725"/>
            <a:ext cx="2762100" cy="923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0" name="Google Shape;130;p3"/>
          <p:cNvSpPr txBox="1">
            <a:spLocks noGrp="1"/>
          </p:cNvSpPr>
          <p:nvPr>
            <p:ph type="title" idx="2" hasCustomPrompt="1"/>
          </p:nvPr>
        </p:nvSpPr>
        <p:spPr>
          <a:xfrm>
            <a:off x="2356910" y="3011350"/>
            <a:ext cx="1437600" cy="91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31" name="Google Shape;131;p3"/>
          <p:cNvSpPr txBox="1">
            <a:spLocks noGrp="1"/>
          </p:cNvSpPr>
          <p:nvPr>
            <p:ph type="subTitle" idx="1"/>
          </p:nvPr>
        </p:nvSpPr>
        <p:spPr>
          <a:xfrm>
            <a:off x="4228073" y="3530819"/>
            <a:ext cx="27621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2" name="Google Shape;132;p3"/>
          <p:cNvSpPr/>
          <p:nvPr/>
        </p:nvSpPr>
        <p:spPr>
          <a:xfrm rot="7304698">
            <a:off x="-784688" y="3074934"/>
            <a:ext cx="2252826" cy="2252826"/>
          </a:xfrm>
          <a:prstGeom prst="blockArc">
            <a:avLst>
              <a:gd name="adj1" fmla="val 6747610"/>
              <a:gd name="adj2" fmla="val 21450309"/>
              <a:gd name="adj3" fmla="val 1733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rot="-8399579">
            <a:off x="6604599" y="-1415011"/>
            <a:ext cx="3375739" cy="3375739"/>
          </a:xfrm>
          <a:prstGeom prst="blockArc">
            <a:avLst>
              <a:gd name="adj1" fmla="val 10800000"/>
              <a:gd name="adj2" fmla="val 21450309"/>
              <a:gd name="adj3" fmla="val 1733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 name="Google Shape;134;p3"/>
          <p:cNvGrpSpPr/>
          <p:nvPr/>
        </p:nvGrpSpPr>
        <p:grpSpPr>
          <a:xfrm>
            <a:off x="7261903" y="658823"/>
            <a:ext cx="2227589" cy="726958"/>
            <a:chOff x="6972150" y="711750"/>
            <a:chExt cx="1039375" cy="339193"/>
          </a:xfrm>
        </p:grpSpPr>
        <p:sp>
          <p:nvSpPr>
            <p:cNvPr id="135" name="Google Shape;135;p3"/>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6972150"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 name="Google Shape;167;p3"/>
          <p:cNvGrpSpPr/>
          <p:nvPr/>
        </p:nvGrpSpPr>
        <p:grpSpPr>
          <a:xfrm>
            <a:off x="-280170" y="-141409"/>
            <a:ext cx="2227589" cy="1527191"/>
            <a:chOff x="5519300" y="372750"/>
            <a:chExt cx="1039375" cy="712575"/>
          </a:xfrm>
        </p:grpSpPr>
        <p:sp>
          <p:nvSpPr>
            <p:cNvPr id="168" name="Google Shape;168;p3"/>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 name="Google Shape;235;p3"/>
          <p:cNvGrpSpPr/>
          <p:nvPr/>
        </p:nvGrpSpPr>
        <p:grpSpPr>
          <a:xfrm>
            <a:off x="-154771" y="4691203"/>
            <a:ext cx="2227588" cy="726522"/>
            <a:chOff x="3620725" y="372750"/>
            <a:chExt cx="1039375" cy="338989"/>
          </a:xfrm>
        </p:grpSpPr>
        <p:sp>
          <p:nvSpPr>
            <p:cNvPr id="236" name="Google Shape;236;p3"/>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1"/>
        <p:cNvGrpSpPr/>
        <p:nvPr/>
      </p:nvGrpSpPr>
      <p:grpSpPr>
        <a:xfrm>
          <a:off x="0" y="0"/>
          <a:ext cx="0" cy="0"/>
          <a:chOff x="0" y="0"/>
          <a:chExt cx="0" cy="0"/>
        </a:xfrm>
      </p:grpSpPr>
      <p:sp>
        <p:nvSpPr>
          <p:cNvPr id="502" name="Google Shape;502;p6"/>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grpSp>
        <p:nvGrpSpPr>
          <p:cNvPr id="503" name="Google Shape;503;p6"/>
          <p:cNvGrpSpPr/>
          <p:nvPr/>
        </p:nvGrpSpPr>
        <p:grpSpPr>
          <a:xfrm>
            <a:off x="8719456" y="513232"/>
            <a:ext cx="326167" cy="2227568"/>
            <a:chOff x="8577956" y="1596694"/>
            <a:chExt cx="326167" cy="2227568"/>
          </a:xfrm>
        </p:grpSpPr>
        <p:sp>
          <p:nvSpPr>
            <p:cNvPr id="504" name="Google Shape;504;p6"/>
            <p:cNvSpPr/>
            <p:nvPr/>
          </p:nvSpPr>
          <p:spPr>
            <a:xfrm rot="5400000">
              <a:off x="8778124" y="369826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6"/>
            <p:cNvSpPr/>
            <p:nvPr/>
          </p:nvSpPr>
          <p:spPr>
            <a:xfrm rot="5400000">
              <a:off x="8577956" y="369826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6"/>
            <p:cNvSpPr/>
            <p:nvPr/>
          </p:nvSpPr>
          <p:spPr>
            <a:xfrm rot="5400000">
              <a:off x="8778124" y="331615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6"/>
            <p:cNvSpPr/>
            <p:nvPr/>
          </p:nvSpPr>
          <p:spPr>
            <a:xfrm rot="5400000">
              <a:off x="8577956" y="331615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6"/>
            <p:cNvSpPr/>
            <p:nvPr/>
          </p:nvSpPr>
          <p:spPr>
            <a:xfrm rot="5400000">
              <a:off x="8778124" y="293405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6"/>
            <p:cNvSpPr/>
            <p:nvPr/>
          </p:nvSpPr>
          <p:spPr>
            <a:xfrm rot="5400000">
              <a:off x="8577956" y="293405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
            <p:cNvSpPr/>
            <p:nvPr/>
          </p:nvSpPr>
          <p:spPr>
            <a:xfrm rot="5400000">
              <a:off x="8778124" y="312510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6"/>
            <p:cNvSpPr/>
            <p:nvPr/>
          </p:nvSpPr>
          <p:spPr>
            <a:xfrm rot="5400000">
              <a:off x="8778124" y="2743004"/>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6"/>
            <p:cNvSpPr/>
            <p:nvPr/>
          </p:nvSpPr>
          <p:spPr>
            <a:xfrm rot="5400000">
              <a:off x="8577956" y="2743004"/>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6"/>
            <p:cNvSpPr/>
            <p:nvPr/>
          </p:nvSpPr>
          <p:spPr>
            <a:xfrm rot="5400000">
              <a:off x="8778124" y="255195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6"/>
            <p:cNvSpPr/>
            <p:nvPr/>
          </p:nvSpPr>
          <p:spPr>
            <a:xfrm rot="5400000">
              <a:off x="8778124" y="216984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6"/>
            <p:cNvSpPr/>
            <p:nvPr/>
          </p:nvSpPr>
          <p:spPr>
            <a:xfrm rot="5400000">
              <a:off x="8577956" y="178774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6"/>
            <p:cNvSpPr/>
            <p:nvPr/>
          </p:nvSpPr>
          <p:spPr>
            <a:xfrm rot="5400000">
              <a:off x="8778124" y="197879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6"/>
            <p:cNvSpPr/>
            <p:nvPr/>
          </p:nvSpPr>
          <p:spPr>
            <a:xfrm rot="5400000">
              <a:off x="8577956" y="197879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6"/>
            <p:cNvSpPr/>
            <p:nvPr/>
          </p:nvSpPr>
          <p:spPr>
            <a:xfrm rot="5400000">
              <a:off x="8778124" y="1596694"/>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6"/>
            <p:cNvSpPr/>
            <p:nvPr/>
          </p:nvSpPr>
          <p:spPr>
            <a:xfrm rot="5400000">
              <a:off x="8577956" y="1596694"/>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520;p6"/>
          <p:cNvGrpSpPr/>
          <p:nvPr/>
        </p:nvGrpSpPr>
        <p:grpSpPr>
          <a:xfrm rot="-5400000">
            <a:off x="-996100" y="4015385"/>
            <a:ext cx="2227588" cy="726522"/>
            <a:chOff x="3620725" y="372750"/>
            <a:chExt cx="1039375" cy="338989"/>
          </a:xfrm>
        </p:grpSpPr>
        <p:sp>
          <p:nvSpPr>
            <p:cNvPr id="521" name="Google Shape;521;p6"/>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6"/>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6"/>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6"/>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6"/>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6"/>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6"/>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6"/>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6"/>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6"/>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6"/>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6"/>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6"/>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6"/>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6"/>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6"/>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6"/>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6"/>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6"/>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6"/>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6"/>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6"/>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6"/>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6"/>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6"/>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6"/>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6"/>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6"/>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6"/>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6"/>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6"/>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6"/>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6"/>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6"/>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6"/>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6"/>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6"/>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8" name="Google Shape;558;p6"/>
          <p:cNvSpPr/>
          <p:nvPr/>
        </p:nvSpPr>
        <p:spPr>
          <a:xfrm rot="1856158" flipH="1">
            <a:off x="-1167632" y="617942"/>
            <a:ext cx="1697013" cy="1697013"/>
          </a:xfrm>
          <a:prstGeom prst="blockArc">
            <a:avLst>
              <a:gd name="adj1" fmla="val 5958233"/>
              <a:gd name="adj2" fmla="val 17549793"/>
              <a:gd name="adj3" fmla="val 21039"/>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6"/>
          <p:cNvSpPr/>
          <p:nvPr/>
        </p:nvSpPr>
        <p:spPr>
          <a:xfrm>
            <a:off x="-456125" y="958975"/>
            <a:ext cx="960900" cy="960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6"/>
          <p:cNvSpPr/>
          <p:nvPr/>
        </p:nvSpPr>
        <p:spPr>
          <a:xfrm rot="-5400000" flipH="1">
            <a:off x="5404994" y="4756332"/>
            <a:ext cx="1172100" cy="1172100"/>
          </a:xfrm>
          <a:prstGeom prst="blockArc">
            <a:avLst>
              <a:gd name="adj1" fmla="val 4205957"/>
              <a:gd name="adj2" fmla="val 17987083"/>
              <a:gd name="adj3" fmla="val 30235"/>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6"/>
          <p:cNvSpPr/>
          <p:nvPr/>
        </p:nvSpPr>
        <p:spPr>
          <a:xfrm>
            <a:off x="5451975" y="4826875"/>
            <a:ext cx="837300" cy="837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2"/>
        <p:cNvGrpSpPr/>
        <p:nvPr/>
      </p:nvGrpSpPr>
      <p:grpSpPr>
        <a:xfrm>
          <a:off x="0" y="0"/>
          <a:ext cx="0" cy="0"/>
          <a:chOff x="0" y="0"/>
          <a:chExt cx="0" cy="0"/>
        </a:xfrm>
      </p:grpSpPr>
      <p:sp>
        <p:nvSpPr>
          <p:cNvPr id="563" name="Google Shape;563;p7"/>
          <p:cNvSpPr txBox="1">
            <a:spLocks noGrp="1"/>
          </p:cNvSpPr>
          <p:nvPr>
            <p:ph type="title"/>
          </p:nvPr>
        </p:nvSpPr>
        <p:spPr>
          <a:xfrm>
            <a:off x="1121150" y="1116775"/>
            <a:ext cx="3807900" cy="738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64" name="Google Shape;564;p7"/>
          <p:cNvSpPr txBox="1">
            <a:spLocks noGrp="1"/>
          </p:cNvSpPr>
          <p:nvPr>
            <p:ph type="body" idx="1"/>
          </p:nvPr>
        </p:nvSpPr>
        <p:spPr>
          <a:xfrm>
            <a:off x="1121150" y="1923119"/>
            <a:ext cx="3807900" cy="21036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Font typeface="Open Sans Medium"/>
              <a:buChar char="●"/>
              <a:defRPr/>
            </a:lvl1pPr>
            <a:lvl2pPr marL="914400" lvl="1" indent="-317500" rtl="0">
              <a:spcBef>
                <a:spcPts val="0"/>
              </a:spcBef>
              <a:spcAft>
                <a:spcPts val="0"/>
              </a:spcAft>
              <a:buSzPts val="1400"/>
              <a:buFont typeface="Open Sans Medium"/>
              <a:buChar char="○"/>
              <a:defRPr/>
            </a:lvl2pPr>
            <a:lvl3pPr marL="1371600" lvl="2" indent="-317500" rtl="0">
              <a:spcBef>
                <a:spcPts val="0"/>
              </a:spcBef>
              <a:spcAft>
                <a:spcPts val="0"/>
              </a:spcAft>
              <a:buSzPts val="1400"/>
              <a:buFont typeface="Open Sans Medium"/>
              <a:buChar char="■"/>
              <a:defRPr/>
            </a:lvl3pPr>
            <a:lvl4pPr marL="1828800" lvl="3" indent="-317500" rtl="0">
              <a:spcBef>
                <a:spcPts val="0"/>
              </a:spcBef>
              <a:spcAft>
                <a:spcPts val="0"/>
              </a:spcAft>
              <a:buSzPts val="1400"/>
              <a:buFont typeface="Open Sans Medium"/>
              <a:buChar char="●"/>
              <a:defRPr/>
            </a:lvl4pPr>
            <a:lvl5pPr marL="2286000" lvl="4" indent="-317500" rtl="0">
              <a:spcBef>
                <a:spcPts val="0"/>
              </a:spcBef>
              <a:spcAft>
                <a:spcPts val="0"/>
              </a:spcAft>
              <a:buSzPts val="1400"/>
              <a:buFont typeface="Open Sans Medium"/>
              <a:buChar char="○"/>
              <a:defRPr/>
            </a:lvl5pPr>
            <a:lvl6pPr marL="2743200" lvl="5" indent="-317500" rtl="0">
              <a:spcBef>
                <a:spcPts val="0"/>
              </a:spcBef>
              <a:spcAft>
                <a:spcPts val="0"/>
              </a:spcAft>
              <a:buSzPts val="1400"/>
              <a:buFont typeface="Open Sans Medium"/>
              <a:buChar char="■"/>
              <a:defRPr/>
            </a:lvl6pPr>
            <a:lvl7pPr marL="3200400" lvl="6" indent="-317500" rtl="0">
              <a:spcBef>
                <a:spcPts val="0"/>
              </a:spcBef>
              <a:spcAft>
                <a:spcPts val="0"/>
              </a:spcAft>
              <a:buSzPts val="1400"/>
              <a:buFont typeface="Open Sans Medium"/>
              <a:buChar char="●"/>
              <a:defRPr/>
            </a:lvl7pPr>
            <a:lvl8pPr marL="3657600" lvl="7" indent="-317500" rtl="0">
              <a:spcBef>
                <a:spcPts val="0"/>
              </a:spcBef>
              <a:spcAft>
                <a:spcPts val="0"/>
              </a:spcAft>
              <a:buSzPts val="1400"/>
              <a:buFont typeface="Open Sans Medium"/>
              <a:buChar char="○"/>
              <a:defRPr/>
            </a:lvl8pPr>
            <a:lvl9pPr marL="4114800" lvl="8" indent="-317500" rtl="0">
              <a:spcBef>
                <a:spcPts val="0"/>
              </a:spcBef>
              <a:spcAft>
                <a:spcPts val="0"/>
              </a:spcAft>
              <a:buSzPts val="1400"/>
              <a:buFont typeface="Open Sans Medium"/>
              <a:buChar char="■"/>
              <a:defRPr/>
            </a:lvl9pPr>
          </a:lstStyle>
          <a:p>
            <a:endParaRPr/>
          </a:p>
        </p:txBody>
      </p:sp>
      <p:sp>
        <p:nvSpPr>
          <p:cNvPr id="565" name="Google Shape;565;p7"/>
          <p:cNvSpPr/>
          <p:nvPr/>
        </p:nvSpPr>
        <p:spPr>
          <a:xfrm rot="-8909883">
            <a:off x="7380555" y="-922593"/>
            <a:ext cx="2453841" cy="2453841"/>
          </a:xfrm>
          <a:prstGeom prst="blockArc">
            <a:avLst>
              <a:gd name="adj1" fmla="val 10800000"/>
              <a:gd name="adj2" fmla="val 567723"/>
              <a:gd name="adj3" fmla="val 11413"/>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7"/>
          <p:cNvSpPr/>
          <p:nvPr/>
        </p:nvSpPr>
        <p:spPr>
          <a:xfrm>
            <a:off x="7130050" y="-541850"/>
            <a:ext cx="1759500" cy="1759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7" name="Google Shape;567;p7"/>
          <p:cNvGrpSpPr/>
          <p:nvPr/>
        </p:nvGrpSpPr>
        <p:grpSpPr>
          <a:xfrm flipH="1">
            <a:off x="6696355" y="334491"/>
            <a:ext cx="2227589" cy="1527191"/>
            <a:chOff x="5519300" y="372750"/>
            <a:chExt cx="1039375" cy="712575"/>
          </a:xfrm>
        </p:grpSpPr>
        <p:sp>
          <p:nvSpPr>
            <p:cNvPr id="568" name="Google Shape;568;p7"/>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7"/>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7"/>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7"/>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7"/>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7"/>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7"/>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7"/>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7"/>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7"/>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7"/>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7"/>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7"/>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7"/>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7"/>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7"/>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7"/>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7"/>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7"/>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7"/>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7"/>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7"/>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7"/>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7"/>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7"/>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7"/>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7"/>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7"/>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7"/>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7"/>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7"/>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7"/>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7"/>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7"/>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7"/>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7"/>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7"/>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7"/>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7"/>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7"/>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7"/>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7"/>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7"/>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7"/>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7"/>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7"/>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7"/>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7"/>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7"/>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7"/>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7"/>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7"/>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7"/>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7"/>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7"/>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7"/>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7"/>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7"/>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7"/>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7"/>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7"/>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7"/>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7"/>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7"/>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7"/>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7"/>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7"/>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 name="Google Shape;635;p7"/>
          <p:cNvGrpSpPr/>
          <p:nvPr/>
        </p:nvGrpSpPr>
        <p:grpSpPr>
          <a:xfrm>
            <a:off x="107678" y="-187590"/>
            <a:ext cx="2227589" cy="726958"/>
            <a:chOff x="6972150" y="711750"/>
            <a:chExt cx="1039375" cy="339193"/>
          </a:xfrm>
        </p:grpSpPr>
        <p:sp>
          <p:nvSpPr>
            <p:cNvPr id="636" name="Google Shape;636;p7"/>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7"/>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7"/>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7"/>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7"/>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7"/>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7"/>
            <p:cNvSpPr/>
            <p:nvPr/>
          </p:nvSpPr>
          <p:spPr>
            <a:xfrm>
              <a:off x="6972150"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7"/>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7"/>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7"/>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7"/>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7"/>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7"/>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7"/>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7"/>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7"/>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7"/>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7"/>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7"/>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7"/>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7"/>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7"/>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7"/>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7"/>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7"/>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7"/>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7"/>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7"/>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7"/>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7"/>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7"/>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7"/>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7"/>
          <p:cNvSpPr/>
          <p:nvPr/>
        </p:nvSpPr>
        <p:spPr>
          <a:xfrm>
            <a:off x="-624140" y="-419150"/>
            <a:ext cx="1527000" cy="1527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7"/>
          <p:cNvSpPr/>
          <p:nvPr/>
        </p:nvSpPr>
        <p:spPr>
          <a:xfrm rot="372611">
            <a:off x="5475589" y="4165080"/>
            <a:ext cx="2204738" cy="2204738"/>
          </a:xfrm>
          <a:prstGeom prst="blockArc">
            <a:avLst>
              <a:gd name="adj1" fmla="val 9398892"/>
              <a:gd name="adj2" fmla="val 534609"/>
              <a:gd name="adj3" fmla="val 19679"/>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0" name="Google Shape;670;p7"/>
          <p:cNvGrpSpPr/>
          <p:nvPr/>
        </p:nvGrpSpPr>
        <p:grpSpPr>
          <a:xfrm>
            <a:off x="5832004" y="3999491"/>
            <a:ext cx="2227588" cy="726522"/>
            <a:chOff x="3620725" y="372750"/>
            <a:chExt cx="1039375" cy="338989"/>
          </a:xfrm>
        </p:grpSpPr>
        <p:sp>
          <p:nvSpPr>
            <p:cNvPr id="671" name="Google Shape;671;p7"/>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7"/>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7"/>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7"/>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7"/>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7"/>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7"/>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7"/>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7"/>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7"/>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7"/>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7"/>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7"/>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7"/>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7"/>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7"/>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7"/>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7"/>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7"/>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7"/>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7"/>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7"/>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7"/>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7"/>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7"/>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7"/>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7"/>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7"/>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7"/>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7"/>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7"/>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7"/>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7"/>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7"/>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7"/>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7"/>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7"/>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82"/>
        <p:cNvGrpSpPr/>
        <p:nvPr/>
      </p:nvGrpSpPr>
      <p:grpSpPr>
        <a:xfrm>
          <a:off x="0" y="0"/>
          <a:ext cx="0" cy="0"/>
          <a:chOff x="0" y="0"/>
          <a:chExt cx="0" cy="0"/>
        </a:xfrm>
      </p:grpSpPr>
      <p:sp>
        <p:nvSpPr>
          <p:cNvPr id="783" name="Google Shape;783;p9"/>
          <p:cNvSpPr txBox="1">
            <a:spLocks noGrp="1"/>
          </p:cNvSpPr>
          <p:nvPr>
            <p:ph type="title"/>
          </p:nvPr>
        </p:nvSpPr>
        <p:spPr>
          <a:xfrm>
            <a:off x="2029075" y="2490350"/>
            <a:ext cx="5085900" cy="831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84" name="Google Shape;784;p9"/>
          <p:cNvSpPr txBox="1">
            <a:spLocks noGrp="1"/>
          </p:cNvSpPr>
          <p:nvPr>
            <p:ph type="subTitle" idx="1"/>
          </p:nvPr>
        </p:nvSpPr>
        <p:spPr>
          <a:xfrm>
            <a:off x="2029075" y="3269253"/>
            <a:ext cx="5085900" cy="1287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85" name="Google Shape;785;p9"/>
          <p:cNvSpPr/>
          <p:nvPr/>
        </p:nvSpPr>
        <p:spPr>
          <a:xfrm rot="-4819752">
            <a:off x="8205757" y="1265550"/>
            <a:ext cx="1585836" cy="1585836"/>
          </a:xfrm>
          <a:prstGeom prst="blockArc">
            <a:avLst>
              <a:gd name="adj1" fmla="val 5958233"/>
              <a:gd name="adj2" fmla="val 2559931"/>
              <a:gd name="adj3" fmla="val 22508"/>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9"/>
          <p:cNvSpPr/>
          <p:nvPr/>
        </p:nvSpPr>
        <p:spPr>
          <a:xfrm rot="-7433688">
            <a:off x="-962871" y="-1484464"/>
            <a:ext cx="3935124" cy="3935124"/>
          </a:xfrm>
          <a:prstGeom prst="blockArc">
            <a:avLst>
              <a:gd name="adj1" fmla="val 5958233"/>
              <a:gd name="adj2" fmla="val 20136020"/>
              <a:gd name="adj3" fmla="val 16801"/>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9"/>
          <p:cNvSpPr/>
          <p:nvPr/>
        </p:nvSpPr>
        <p:spPr>
          <a:xfrm rot="-6824316">
            <a:off x="5408227" y="4758274"/>
            <a:ext cx="1270604" cy="1271153"/>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91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916"/>
        <p:cNvGrpSpPr/>
        <p:nvPr/>
      </p:nvGrpSpPr>
      <p:grpSpPr>
        <a:xfrm>
          <a:off x="0" y="0"/>
          <a:ext cx="0" cy="0"/>
          <a:chOff x="0" y="0"/>
          <a:chExt cx="0" cy="0"/>
        </a:xfrm>
      </p:grpSpPr>
      <p:sp>
        <p:nvSpPr>
          <p:cNvPr id="917" name="Google Shape;917;p13"/>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918" name="Google Shape;918;p13"/>
          <p:cNvSpPr txBox="1">
            <a:spLocks noGrp="1"/>
          </p:cNvSpPr>
          <p:nvPr>
            <p:ph type="title" idx="2"/>
          </p:nvPr>
        </p:nvSpPr>
        <p:spPr>
          <a:xfrm>
            <a:off x="2131850" y="1707300"/>
            <a:ext cx="2109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19" name="Google Shape;919;p13"/>
          <p:cNvSpPr txBox="1">
            <a:spLocks noGrp="1"/>
          </p:cNvSpPr>
          <p:nvPr>
            <p:ph type="subTitle" idx="1"/>
          </p:nvPr>
        </p:nvSpPr>
        <p:spPr>
          <a:xfrm>
            <a:off x="2131850" y="2129781"/>
            <a:ext cx="21096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0" name="Google Shape;920;p13"/>
          <p:cNvSpPr txBox="1">
            <a:spLocks noGrp="1"/>
          </p:cNvSpPr>
          <p:nvPr>
            <p:ph type="title" idx="3"/>
          </p:nvPr>
        </p:nvSpPr>
        <p:spPr>
          <a:xfrm>
            <a:off x="5792350" y="1707300"/>
            <a:ext cx="2109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21" name="Google Shape;921;p13"/>
          <p:cNvSpPr txBox="1">
            <a:spLocks noGrp="1"/>
          </p:cNvSpPr>
          <p:nvPr>
            <p:ph type="subTitle" idx="4"/>
          </p:nvPr>
        </p:nvSpPr>
        <p:spPr>
          <a:xfrm>
            <a:off x="5792350" y="2129781"/>
            <a:ext cx="21096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2" name="Google Shape;922;p13"/>
          <p:cNvSpPr txBox="1">
            <a:spLocks noGrp="1"/>
          </p:cNvSpPr>
          <p:nvPr>
            <p:ph type="title" idx="5"/>
          </p:nvPr>
        </p:nvSpPr>
        <p:spPr>
          <a:xfrm>
            <a:off x="2131850" y="2954144"/>
            <a:ext cx="2109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23" name="Google Shape;923;p13"/>
          <p:cNvSpPr txBox="1">
            <a:spLocks noGrp="1"/>
          </p:cNvSpPr>
          <p:nvPr>
            <p:ph type="subTitle" idx="6"/>
          </p:nvPr>
        </p:nvSpPr>
        <p:spPr>
          <a:xfrm>
            <a:off x="2131850" y="3376625"/>
            <a:ext cx="21096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4" name="Google Shape;924;p13"/>
          <p:cNvSpPr txBox="1">
            <a:spLocks noGrp="1"/>
          </p:cNvSpPr>
          <p:nvPr>
            <p:ph type="title" idx="7"/>
          </p:nvPr>
        </p:nvSpPr>
        <p:spPr>
          <a:xfrm>
            <a:off x="5792350" y="2954144"/>
            <a:ext cx="2109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25" name="Google Shape;925;p13"/>
          <p:cNvSpPr txBox="1">
            <a:spLocks noGrp="1"/>
          </p:cNvSpPr>
          <p:nvPr>
            <p:ph type="subTitle" idx="8"/>
          </p:nvPr>
        </p:nvSpPr>
        <p:spPr>
          <a:xfrm>
            <a:off x="5792350" y="3376626"/>
            <a:ext cx="21096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6" name="Google Shape;926;p13"/>
          <p:cNvSpPr txBox="1">
            <a:spLocks noGrp="1"/>
          </p:cNvSpPr>
          <p:nvPr>
            <p:ph type="title" idx="9" hasCustomPrompt="1"/>
          </p:nvPr>
        </p:nvSpPr>
        <p:spPr>
          <a:xfrm>
            <a:off x="1242350" y="1951588"/>
            <a:ext cx="813300" cy="48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30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927" name="Google Shape;927;p13"/>
          <p:cNvSpPr txBox="1">
            <a:spLocks noGrp="1"/>
          </p:cNvSpPr>
          <p:nvPr>
            <p:ph type="title" idx="13" hasCustomPrompt="1"/>
          </p:nvPr>
        </p:nvSpPr>
        <p:spPr>
          <a:xfrm>
            <a:off x="1242050" y="3235750"/>
            <a:ext cx="813900" cy="484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30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928" name="Google Shape;928;p13"/>
          <p:cNvSpPr txBox="1">
            <a:spLocks noGrp="1"/>
          </p:cNvSpPr>
          <p:nvPr>
            <p:ph type="title" idx="14" hasCustomPrompt="1"/>
          </p:nvPr>
        </p:nvSpPr>
        <p:spPr>
          <a:xfrm>
            <a:off x="4902258" y="1949763"/>
            <a:ext cx="813900" cy="484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30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929" name="Google Shape;929;p13"/>
          <p:cNvSpPr txBox="1">
            <a:spLocks noGrp="1"/>
          </p:cNvSpPr>
          <p:nvPr>
            <p:ph type="title" idx="15" hasCustomPrompt="1"/>
          </p:nvPr>
        </p:nvSpPr>
        <p:spPr>
          <a:xfrm>
            <a:off x="4902258" y="3238663"/>
            <a:ext cx="813900" cy="484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30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pic>
        <p:nvPicPr>
          <p:cNvPr id="930" name="Google Shape;930;p13"/>
          <p:cNvPicPr preferRelativeResize="0"/>
          <p:nvPr/>
        </p:nvPicPr>
        <p:blipFill>
          <a:blip r:embed="rId2"/>
          <a:stretch>
            <a:fillRect/>
          </a:stretch>
        </p:blipFill>
        <p:spPr>
          <a:xfrm flipH="1">
            <a:off x="-1537325" y="3653261"/>
            <a:ext cx="2885125" cy="1921485"/>
          </a:xfrm>
          <a:prstGeom prst="rect">
            <a:avLst/>
          </a:prstGeom>
          <a:noFill/>
          <a:ln>
            <a:noFill/>
          </a:ln>
        </p:spPr>
      </p:pic>
      <p:grpSp>
        <p:nvGrpSpPr>
          <p:cNvPr id="931" name="Google Shape;931;p13"/>
          <p:cNvGrpSpPr/>
          <p:nvPr/>
        </p:nvGrpSpPr>
        <p:grpSpPr>
          <a:xfrm rot="5400000">
            <a:off x="-1082747" y="1310115"/>
            <a:ext cx="2227588" cy="726522"/>
            <a:chOff x="3857800" y="1143286"/>
            <a:chExt cx="1039375" cy="338989"/>
          </a:xfrm>
        </p:grpSpPr>
        <p:sp>
          <p:nvSpPr>
            <p:cNvPr id="932" name="Google Shape;932;p13"/>
            <p:cNvSpPr/>
            <p:nvPr/>
          </p:nvSpPr>
          <p:spPr>
            <a:xfrm>
              <a:off x="474923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3"/>
            <p:cNvSpPr/>
            <p:nvPr/>
          </p:nvSpPr>
          <p:spPr>
            <a:xfrm>
              <a:off x="483837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3"/>
            <p:cNvSpPr/>
            <p:nvPr/>
          </p:nvSpPr>
          <p:spPr>
            <a:xfrm>
              <a:off x="483837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3"/>
            <p:cNvSpPr/>
            <p:nvPr/>
          </p:nvSpPr>
          <p:spPr>
            <a:xfrm>
              <a:off x="4838375"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3"/>
            <p:cNvSpPr/>
            <p:nvPr/>
          </p:nvSpPr>
          <p:spPr>
            <a:xfrm>
              <a:off x="4660088"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3"/>
            <p:cNvSpPr/>
            <p:nvPr/>
          </p:nvSpPr>
          <p:spPr>
            <a:xfrm>
              <a:off x="4660088"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3"/>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3"/>
            <p:cNvSpPr/>
            <p:nvPr/>
          </p:nvSpPr>
          <p:spPr>
            <a:xfrm>
              <a:off x="4481802"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3"/>
            <p:cNvSpPr/>
            <p:nvPr/>
          </p:nvSpPr>
          <p:spPr>
            <a:xfrm>
              <a:off x="4481802"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3"/>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3"/>
            <p:cNvSpPr/>
            <p:nvPr/>
          </p:nvSpPr>
          <p:spPr>
            <a:xfrm>
              <a:off x="457094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3"/>
            <p:cNvSpPr/>
            <p:nvPr/>
          </p:nvSpPr>
          <p:spPr>
            <a:xfrm>
              <a:off x="439265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3"/>
            <p:cNvSpPr/>
            <p:nvPr/>
          </p:nvSpPr>
          <p:spPr>
            <a:xfrm>
              <a:off x="439265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3"/>
            <p:cNvSpPr/>
            <p:nvPr/>
          </p:nvSpPr>
          <p:spPr>
            <a:xfrm>
              <a:off x="4392659"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3"/>
            <p:cNvSpPr/>
            <p:nvPr/>
          </p:nvSpPr>
          <p:spPr>
            <a:xfrm>
              <a:off x="421437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3"/>
            <p:cNvSpPr/>
            <p:nvPr/>
          </p:nvSpPr>
          <p:spPr>
            <a:xfrm>
              <a:off x="430351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3"/>
            <p:cNvSpPr/>
            <p:nvPr/>
          </p:nvSpPr>
          <p:spPr>
            <a:xfrm>
              <a:off x="430351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3"/>
            <p:cNvSpPr/>
            <p:nvPr/>
          </p:nvSpPr>
          <p:spPr>
            <a:xfrm>
              <a:off x="412522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3"/>
            <p:cNvSpPr/>
            <p:nvPr/>
          </p:nvSpPr>
          <p:spPr>
            <a:xfrm>
              <a:off x="4125229"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3"/>
            <p:cNvSpPr/>
            <p:nvPr/>
          </p:nvSpPr>
          <p:spPr>
            <a:xfrm>
              <a:off x="412522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3"/>
            <p:cNvSpPr/>
            <p:nvPr/>
          </p:nvSpPr>
          <p:spPr>
            <a:xfrm>
              <a:off x="3946943"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3"/>
            <p:cNvSpPr/>
            <p:nvPr/>
          </p:nvSpPr>
          <p:spPr>
            <a:xfrm>
              <a:off x="3946943"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3"/>
            <p:cNvSpPr/>
            <p:nvPr/>
          </p:nvSpPr>
          <p:spPr>
            <a:xfrm>
              <a:off x="3946943"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3"/>
            <p:cNvSpPr/>
            <p:nvPr/>
          </p:nvSpPr>
          <p:spPr>
            <a:xfrm>
              <a:off x="403608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3"/>
            <p:cNvSpPr/>
            <p:nvPr/>
          </p:nvSpPr>
          <p:spPr>
            <a:xfrm>
              <a:off x="403608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3"/>
            <p:cNvSpPr/>
            <p:nvPr/>
          </p:nvSpPr>
          <p:spPr>
            <a:xfrm>
              <a:off x="4036086"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3"/>
            <p:cNvSpPr/>
            <p:nvPr/>
          </p:nvSpPr>
          <p:spPr>
            <a:xfrm>
              <a:off x="3857800"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3"/>
            <p:cNvSpPr/>
            <p:nvPr/>
          </p:nvSpPr>
          <p:spPr>
            <a:xfrm>
              <a:off x="3857800"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3"/>
            <p:cNvSpPr/>
            <p:nvPr/>
          </p:nvSpPr>
          <p:spPr>
            <a:xfrm>
              <a:off x="3857800"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3"/>
            <p:cNvSpPr/>
            <p:nvPr/>
          </p:nvSpPr>
          <p:spPr>
            <a:xfrm>
              <a:off x="3857800"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3"/>
          <p:cNvGrpSpPr/>
          <p:nvPr/>
        </p:nvGrpSpPr>
        <p:grpSpPr>
          <a:xfrm flipH="1">
            <a:off x="8430779" y="791666"/>
            <a:ext cx="2227588" cy="726522"/>
            <a:chOff x="3620725" y="372750"/>
            <a:chExt cx="1039375" cy="338989"/>
          </a:xfrm>
        </p:grpSpPr>
        <p:sp>
          <p:nvSpPr>
            <p:cNvPr id="963" name="Google Shape;963;p13"/>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3"/>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3"/>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3"/>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3"/>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3"/>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3"/>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3"/>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3"/>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3"/>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3"/>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3"/>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3"/>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3"/>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3"/>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3"/>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3"/>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3"/>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3"/>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3"/>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3"/>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3"/>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3"/>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3"/>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3"/>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3"/>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3"/>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3"/>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3"/>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3"/>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3"/>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3"/>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3"/>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6" name="Google Shape;996;p13"/>
          <p:cNvSpPr/>
          <p:nvPr/>
        </p:nvSpPr>
        <p:spPr>
          <a:xfrm rot="8403335">
            <a:off x="-394847" y="-476389"/>
            <a:ext cx="1410650" cy="1410650"/>
          </a:xfrm>
          <a:prstGeom prst="blockArc">
            <a:avLst>
              <a:gd name="adj1" fmla="val 10800000"/>
              <a:gd name="adj2" fmla="val 138617"/>
              <a:gd name="adj3" fmla="val 21120"/>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3"/>
          <p:cNvSpPr/>
          <p:nvPr/>
        </p:nvSpPr>
        <p:spPr>
          <a:xfrm>
            <a:off x="-395376" y="-217925"/>
            <a:ext cx="1331400" cy="1331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8" name="Google Shape;998;p13"/>
          <p:cNvGrpSpPr/>
          <p:nvPr/>
        </p:nvGrpSpPr>
        <p:grpSpPr>
          <a:xfrm>
            <a:off x="7753454" y="-41534"/>
            <a:ext cx="2227588" cy="726522"/>
            <a:chOff x="3620725" y="372750"/>
            <a:chExt cx="1039375" cy="338989"/>
          </a:xfrm>
        </p:grpSpPr>
        <p:sp>
          <p:nvSpPr>
            <p:cNvPr id="999" name="Google Shape;999;p13"/>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3"/>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3"/>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3"/>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3"/>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3"/>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3"/>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3"/>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3"/>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3"/>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3"/>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3"/>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3"/>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3"/>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3"/>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3"/>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3"/>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3"/>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3"/>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3"/>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3"/>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3"/>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3"/>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3"/>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3"/>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3"/>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3"/>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3"/>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3"/>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3"/>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3"/>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3"/>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3"/>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3"/>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3"/>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3"/>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3"/>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36" name="Google Shape;1036;p13"/>
          <p:cNvPicPr preferRelativeResize="0"/>
          <p:nvPr/>
        </p:nvPicPr>
        <p:blipFill>
          <a:blip r:embed="rId3"/>
          <a:stretch>
            <a:fillRect/>
          </a:stretch>
        </p:blipFill>
        <p:spPr>
          <a:xfrm>
            <a:off x="118850" y="3899975"/>
            <a:ext cx="1041075" cy="1090000"/>
          </a:xfrm>
          <a:prstGeom prst="rect">
            <a:avLst/>
          </a:prstGeom>
          <a:noFill/>
          <a:ln>
            <a:noFill/>
          </a:ln>
        </p:spPr>
      </p:pic>
      <p:grpSp>
        <p:nvGrpSpPr>
          <p:cNvPr id="1037" name="Google Shape;1037;p13"/>
          <p:cNvGrpSpPr/>
          <p:nvPr/>
        </p:nvGrpSpPr>
        <p:grpSpPr>
          <a:xfrm>
            <a:off x="782362" y="4049869"/>
            <a:ext cx="317072" cy="126020"/>
            <a:chOff x="4481802" y="1143286"/>
            <a:chExt cx="147943" cy="58800"/>
          </a:xfrm>
        </p:grpSpPr>
        <p:sp>
          <p:nvSpPr>
            <p:cNvPr id="1038" name="Google Shape;1038;p13"/>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3"/>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 name="Google Shape;1040;p13"/>
          <p:cNvGrpSpPr/>
          <p:nvPr/>
        </p:nvGrpSpPr>
        <p:grpSpPr>
          <a:xfrm>
            <a:off x="4850553" y="4656385"/>
            <a:ext cx="2227589" cy="726958"/>
            <a:chOff x="6972150" y="711750"/>
            <a:chExt cx="1039375" cy="339193"/>
          </a:xfrm>
        </p:grpSpPr>
        <p:sp>
          <p:nvSpPr>
            <p:cNvPr id="1041" name="Google Shape;1041;p13"/>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3"/>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3"/>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3"/>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3"/>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3"/>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3"/>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3"/>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3"/>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3"/>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3"/>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3"/>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3"/>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3"/>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3"/>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3"/>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3"/>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3"/>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3"/>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3"/>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3"/>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3"/>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3"/>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3"/>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3"/>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3"/>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3"/>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3"/>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3"/>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3"/>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3"/>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72" name="Google Shape;1072;p13"/>
          <p:cNvPicPr preferRelativeResize="0"/>
          <p:nvPr/>
        </p:nvPicPr>
        <p:blipFill>
          <a:blip r:embed="rId4"/>
          <a:stretch>
            <a:fillRect/>
          </a:stretch>
        </p:blipFill>
        <p:spPr>
          <a:xfrm>
            <a:off x="7871775" y="280525"/>
            <a:ext cx="923250" cy="1217750"/>
          </a:xfrm>
          <a:prstGeom prst="rect">
            <a:avLst/>
          </a:prstGeom>
          <a:noFill/>
          <a:ln>
            <a:noFill/>
          </a:ln>
        </p:spPr>
      </p:pic>
      <p:sp>
        <p:nvSpPr>
          <p:cNvPr id="1073" name="Google Shape;1073;p13"/>
          <p:cNvSpPr/>
          <p:nvPr/>
        </p:nvSpPr>
        <p:spPr>
          <a:xfrm rot="999904">
            <a:off x="3358951" y="4439227"/>
            <a:ext cx="2408148" cy="2408148"/>
          </a:xfrm>
          <a:prstGeom prst="blockArc">
            <a:avLst>
              <a:gd name="adj1" fmla="val 10800000"/>
              <a:gd name="adj2" fmla="val 122097"/>
              <a:gd name="adj3" fmla="val 15519"/>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1323"/>
        <p:cNvGrpSpPr/>
        <p:nvPr/>
      </p:nvGrpSpPr>
      <p:grpSpPr>
        <a:xfrm>
          <a:off x="0" y="0"/>
          <a:ext cx="0" cy="0"/>
          <a:chOff x="0" y="0"/>
          <a:chExt cx="0" cy="0"/>
        </a:xfrm>
      </p:grpSpPr>
      <p:sp>
        <p:nvSpPr>
          <p:cNvPr id="1324" name="Google Shape;1324;p17"/>
          <p:cNvSpPr txBox="1">
            <a:spLocks noGrp="1"/>
          </p:cNvSpPr>
          <p:nvPr>
            <p:ph type="title"/>
          </p:nvPr>
        </p:nvSpPr>
        <p:spPr>
          <a:xfrm>
            <a:off x="4450946" y="1493550"/>
            <a:ext cx="3493200" cy="1293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72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325" name="Google Shape;1325;p17"/>
          <p:cNvSpPr txBox="1">
            <a:spLocks noGrp="1"/>
          </p:cNvSpPr>
          <p:nvPr>
            <p:ph type="subTitle" idx="1"/>
          </p:nvPr>
        </p:nvSpPr>
        <p:spPr>
          <a:xfrm>
            <a:off x="4450925" y="2634150"/>
            <a:ext cx="3493200" cy="101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26" name="Google Shape;1326;p17"/>
          <p:cNvSpPr/>
          <p:nvPr/>
        </p:nvSpPr>
        <p:spPr>
          <a:xfrm rot="-5400000">
            <a:off x="3094299" y="4025425"/>
            <a:ext cx="2102100" cy="2102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7" name="Google Shape;1327;p17"/>
          <p:cNvGrpSpPr/>
          <p:nvPr/>
        </p:nvGrpSpPr>
        <p:grpSpPr>
          <a:xfrm>
            <a:off x="7342730" y="-239484"/>
            <a:ext cx="2227589" cy="1527191"/>
            <a:chOff x="5519300" y="372750"/>
            <a:chExt cx="1039375" cy="712575"/>
          </a:xfrm>
        </p:grpSpPr>
        <p:sp>
          <p:nvSpPr>
            <p:cNvPr id="1328" name="Google Shape;1328;p17"/>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7"/>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7"/>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7"/>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7"/>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7"/>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7"/>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7"/>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7"/>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7"/>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7"/>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7"/>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7"/>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7"/>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7"/>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7"/>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7"/>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7"/>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7"/>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7"/>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7"/>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7"/>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7"/>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7"/>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7"/>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7"/>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7"/>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7"/>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7"/>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7"/>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7"/>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7"/>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7"/>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7"/>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7"/>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7"/>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7"/>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7"/>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7"/>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7"/>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7"/>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7"/>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7"/>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7"/>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7"/>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7"/>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7"/>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7"/>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7"/>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7"/>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7"/>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7"/>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7"/>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7"/>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7"/>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7"/>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7"/>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7"/>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7"/>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7"/>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7"/>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7"/>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7"/>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7"/>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7"/>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7"/>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7"/>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5" name="Google Shape;1395;p17"/>
          <p:cNvSpPr/>
          <p:nvPr/>
        </p:nvSpPr>
        <p:spPr>
          <a:xfrm rot="-1856039">
            <a:off x="8454804" y="1900412"/>
            <a:ext cx="2574846" cy="2574846"/>
          </a:xfrm>
          <a:prstGeom prst="blockArc">
            <a:avLst>
              <a:gd name="adj1" fmla="val 5958233"/>
              <a:gd name="adj2" fmla="val 17463104"/>
              <a:gd name="adj3" fmla="val 1506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7"/>
          <p:cNvSpPr/>
          <p:nvPr/>
        </p:nvSpPr>
        <p:spPr>
          <a:xfrm>
            <a:off x="8472788" y="1832675"/>
            <a:ext cx="1812300" cy="1812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17"/>
          <p:cNvSpPr/>
          <p:nvPr/>
        </p:nvSpPr>
        <p:spPr>
          <a:xfrm rot="-6009249">
            <a:off x="4503832" y="-1121226"/>
            <a:ext cx="2030097" cy="2030097"/>
          </a:xfrm>
          <a:prstGeom prst="blockArc">
            <a:avLst>
              <a:gd name="adj1" fmla="val 5958233"/>
              <a:gd name="adj2" fmla="val 17663173"/>
              <a:gd name="adj3" fmla="val 24970"/>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17"/>
          <p:cNvSpPr/>
          <p:nvPr/>
        </p:nvSpPr>
        <p:spPr>
          <a:xfrm rot="-8814536">
            <a:off x="-1455112" y="-720135"/>
            <a:ext cx="3302921" cy="3302921"/>
          </a:xfrm>
          <a:prstGeom prst="blockArc">
            <a:avLst>
              <a:gd name="adj1" fmla="val 5958233"/>
              <a:gd name="adj2" fmla="val 15340052"/>
              <a:gd name="adj3" fmla="val 8595"/>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3">
  <p:cSld name="CUSTOM_3_1_1_2">
    <p:spTree>
      <p:nvGrpSpPr>
        <p:cNvPr id="1" name="Shape 2109"/>
        <p:cNvGrpSpPr/>
        <p:nvPr/>
      </p:nvGrpSpPr>
      <p:grpSpPr>
        <a:xfrm>
          <a:off x="0" y="0"/>
          <a:ext cx="0" cy="0"/>
          <a:chOff x="0" y="0"/>
          <a:chExt cx="0" cy="0"/>
        </a:xfrm>
      </p:grpSpPr>
      <p:sp>
        <p:nvSpPr>
          <p:cNvPr id="2110" name="Google Shape;2110;p25"/>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111" name="Google Shape;2111;p25"/>
          <p:cNvSpPr txBox="1">
            <a:spLocks noGrp="1"/>
          </p:cNvSpPr>
          <p:nvPr>
            <p:ph type="subTitle" idx="1"/>
          </p:nvPr>
        </p:nvSpPr>
        <p:spPr>
          <a:xfrm>
            <a:off x="1237236" y="1649888"/>
            <a:ext cx="3136200" cy="234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2" name="Google Shape;2112;p25"/>
          <p:cNvSpPr txBox="1">
            <a:spLocks noGrp="1"/>
          </p:cNvSpPr>
          <p:nvPr>
            <p:ph type="subTitle" idx="2"/>
          </p:nvPr>
        </p:nvSpPr>
        <p:spPr>
          <a:xfrm>
            <a:off x="4770564" y="1649888"/>
            <a:ext cx="3136200" cy="234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113" name="Google Shape;2113;p25"/>
          <p:cNvGrpSpPr/>
          <p:nvPr/>
        </p:nvGrpSpPr>
        <p:grpSpPr>
          <a:xfrm rot="5400000">
            <a:off x="-716077" y="3282010"/>
            <a:ext cx="2227568" cy="326604"/>
            <a:chOff x="5911703" y="-1770615"/>
            <a:chExt cx="2227568" cy="326604"/>
          </a:xfrm>
        </p:grpSpPr>
        <p:sp>
          <p:nvSpPr>
            <p:cNvPr id="2114" name="Google Shape;2114;p25"/>
            <p:cNvSpPr/>
            <p:nvPr/>
          </p:nvSpPr>
          <p:spPr>
            <a:xfrm>
              <a:off x="8013271"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5"/>
            <p:cNvSpPr/>
            <p:nvPr/>
          </p:nvSpPr>
          <p:spPr>
            <a:xfrm>
              <a:off x="7631168"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5"/>
            <p:cNvSpPr/>
            <p:nvPr/>
          </p:nvSpPr>
          <p:spPr>
            <a:xfrm>
              <a:off x="7249064"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5"/>
            <p:cNvSpPr/>
            <p:nvPr/>
          </p:nvSpPr>
          <p:spPr>
            <a:xfrm>
              <a:off x="7058013"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5"/>
            <p:cNvSpPr/>
            <p:nvPr/>
          </p:nvSpPr>
          <p:spPr>
            <a:xfrm>
              <a:off x="6102754"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5"/>
            <p:cNvSpPr/>
            <p:nvPr/>
          </p:nvSpPr>
          <p:spPr>
            <a:xfrm>
              <a:off x="6293806"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5"/>
            <p:cNvSpPr/>
            <p:nvPr/>
          </p:nvSpPr>
          <p:spPr>
            <a:xfrm>
              <a:off x="5911703"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5"/>
            <p:cNvSpPr/>
            <p:nvPr/>
          </p:nvSpPr>
          <p:spPr>
            <a:xfrm>
              <a:off x="7822219"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25"/>
            <p:cNvSpPr/>
            <p:nvPr/>
          </p:nvSpPr>
          <p:spPr>
            <a:xfrm>
              <a:off x="8013271"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25"/>
            <p:cNvSpPr/>
            <p:nvPr/>
          </p:nvSpPr>
          <p:spPr>
            <a:xfrm>
              <a:off x="7249064"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5"/>
            <p:cNvSpPr/>
            <p:nvPr/>
          </p:nvSpPr>
          <p:spPr>
            <a:xfrm>
              <a:off x="7440116"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5"/>
            <p:cNvSpPr/>
            <p:nvPr/>
          </p:nvSpPr>
          <p:spPr>
            <a:xfrm>
              <a:off x="7058013"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5"/>
            <p:cNvSpPr/>
            <p:nvPr/>
          </p:nvSpPr>
          <p:spPr>
            <a:xfrm>
              <a:off x="6675909"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5"/>
            <p:cNvSpPr/>
            <p:nvPr/>
          </p:nvSpPr>
          <p:spPr>
            <a:xfrm>
              <a:off x="6866961"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5"/>
            <p:cNvSpPr/>
            <p:nvPr/>
          </p:nvSpPr>
          <p:spPr>
            <a:xfrm>
              <a:off x="6484858"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25"/>
            <p:cNvSpPr/>
            <p:nvPr/>
          </p:nvSpPr>
          <p:spPr>
            <a:xfrm>
              <a:off x="6293806"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25"/>
            <p:cNvSpPr/>
            <p:nvPr/>
          </p:nvSpPr>
          <p:spPr>
            <a:xfrm>
              <a:off x="5911703"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1" name="Google Shape;2131;p25"/>
          <p:cNvSpPr/>
          <p:nvPr/>
        </p:nvSpPr>
        <p:spPr>
          <a:xfrm rot="8223760" flipH="1">
            <a:off x="8066614" y="3302903"/>
            <a:ext cx="1986206" cy="1986646"/>
          </a:xfrm>
          <a:prstGeom prst="blockArc">
            <a:avLst>
              <a:gd name="adj1" fmla="val 5100224"/>
              <a:gd name="adj2" fmla="val 16890590"/>
              <a:gd name="adj3" fmla="val 25861"/>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25"/>
          <p:cNvSpPr/>
          <p:nvPr/>
        </p:nvSpPr>
        <p:spPr>
          <a:xfrm rot="8223572" flipH="1">
            <a:off x="8098025" y="3495149"/>
            <a:ext cx="1534706" cy="1534721"/>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5"/>
          <p:cNvSpPr/>
          <p:nvPr/>
        </p:nvSpPr>
        <p:spPr>
          <a:xfrm rot="656896" flipH="1">
            <a:off x="-1466385" y="950324"/>
            <a:ext cx="2255655" cy="2255712"/>
          </a:xfrm>
          <a:prstGeom prst="blockArc">
            <a:avLst>
              <a:gd name="adj1" fmla="val 5100224"/>
              <a:gd name="adj2" fmla="val 17105252"/>
              <a:gd name="adj3" fmla="val 22959"/>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5"/>
          <p:cNvSpPr/>
          <p:nvPr/>
        </p:nvSpPr>
        <p:spPr>
          <a:xfrm rot="656663" flipH="1">
            <a:off x="-951810" y="1473801"/>
            <a:ext cx="1742900" cy="174295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5" name="Google Shape;2135;p25"/>
          <p:cNvGrpSpPr/>
          <p:nvPr/>
        </p:nvGrpSpPr>
        <p:grpSpPr>
          <a:xfrm rot="-5400000" flipH="1">
            <a:off x="7876900" y="1636706"/>
            <a:ext cx="2036537" cy="726522"/>
            <a:chOff x="5697593" y="1680311"/>
            <a:chExt cx="950232" cy="338989"/>
          </a:xfrm>
        </p:grpSpPr>
        <p:sp>
          <p:nvSpPr>
            <p:cNvPr id="2136" name="Google Shape;2136;p25"/>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25"/>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25"/>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25"/>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5"/>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5"/>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5"/>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5"/>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5"/>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5"/>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5"/>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5"/>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5"/>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25"/>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25"/>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25"/>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25"/>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25"/>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25"/>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25"/>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25"/>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25"/>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25"/>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25"/>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25"/>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25"/>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25"/>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25"/>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25"/>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25"/>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6" name="Google Shape;2166;p25"/>
          <p:cNvGrpSpPr/>
          <p:nvPr/>
        </p:nvGrpSpPr>
        <p:grpSpPr>
          <a:xfrm flipH="1">
            <a:off x="-381821" y="-103359"/>
            <a:ext cx="2227588" cy="726522"/>
            <a:chOff x="3620725" y="372750"/>
            <a:chExt cx="1039375" cy="338989"/>
          </a:xfrm>
        </p:grpSpPr>
        <p:sp>
          <p:nvSpPr>
            <p:cNvPr id="2167" name="Google Shape;2167;p25"/>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25"/>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25"/>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25"/>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25"/>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25"/>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25"/>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25"/>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25"/>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25"/>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25"/>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25"/>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25"/>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25"/>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25"/>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25"/>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25"/>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25"/>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25"/>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25"/>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25"/>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25"/>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25"/>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25"/>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25"/>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25"/>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25"/>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25"/>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25"/>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25"/>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25"/>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5"/>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5"/>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25"/>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5"/>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25"/>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25"/>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04" name="Google Shape;2204;p25"/>
          <p:cNvPicPr preferRelativeResize="0"/>
          <p:nvPr/>
        </p:nvPicPr>
        <p:blipFill>
          <a:blip r:embed="rId2"/>
          <a:stretch>
            <a:fillRect/>
          </a:stretch>
        </p:blipFill>
        <p:spPr>
          <a:xfrm>
            <a:off x="8634597" y="3947683"/>
            <a:ext cx="665700" cy="1111385"/>
          </a:xfrm>
          <a:prstGeom prst="rect">
            <a:avLst/>
          </a:prstGeom>
          <a:noFill/>
          <a:ln>
            <a:noFill/>
          </a:ln>
        </p:spPr>
      </p:pic>
      <p:sp>
        <p:nvSpPr>
          <p:cNvPr id="2205" name="Google Shape;2205;p25"/>
          <p:cNvSpPr/>
          <p:nvPr/>
        </p:nvSpPr>
        <p:spPr>
          <a:xfrm rot="-4743008" flipH="1">
            <a:off x="936100" y="4678764"/>
            <a:ext cx="2593314" cy="2593371"/>
          </a:xfrm>
          <a:prstGeom prst="blockArc">
            <a:avLst>
              <a:gd name="adj1" fmla="val 5100224"/>
              <a:gd name="adj2" fmla="val 16747037"/>
              <a:gd name="adj3" fmla="val 11247"/>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25"/>
          <p:cNvSpPr/>
          <p:nvPr/>
        </p:nvSpPr>
        <p:spPr>
          <a:xfrm rot="-4743408" flipH="1">
            <a:off x="1537977" y="4676626"/>
            <a:ext cx="2003838" cy="2003895"/>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2860"/>
        <p:cNvGrpSpPr/>
        <p:nvPr/>
      </p:nvGrpSpPr>
      <p:grpSpPr>
        <a:xfrm>
          <a:off x="0" y="0"/>
          <a:ext cx="0" cy="0"/>
          <a:chOff x="0" y="0"/>
          <a:chExt cx="0" cy="0"/>
        </a:xfrm>
      </p:grpSpPr>
      <p:grpSp>
        <p:nvGrpSpPr>
          <p:cNvPr id="2861" name="Google Shape;2861;p33"/>
          <p:cNvGrpSpPr/>
          <p:nvPr/>
        </p:nvGrpSpPr>
        <p:grpSpPr>
          <a:xfrm rot="5400000">
            <a:off x="-616035" y="1407528"/>
            <a:ext cx="2227588" cy="726522"/>
            <a:chOff x="3857800" y="1143286"/>
            <a:chExt cx="1039375" cy="338989"/>
          </a:xfrm>
        </p:grpSpPr>
        <p:sp>
          <p:nvSpPr>
            <p:cNvPr id="2862" name="Google Shape;2862;p33"/>
            <p:cNvSpPr/>
            <p:nvPr/>
          </p:nvSpPr>
          <p:spPr>
            <a:xfrm>
              <a:off x="474923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33"/>
            <p:cNvSpPr/>
            <p:nvPr/>
          </p:nvSpPr>
          <p:spPr>
            <a:xfrm>
              <a:off x="483837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33"/>
            <p:cNvSpPr/>
            <p:nvPr/>
          </p:nvSpPr>
          <p:spPr>
            <a:xfrm>
              <a:off x="483837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33"/>
            <p:cNvSpPr/>
            <p:nvPr/>
          </p:nvSpPr>
          <p:spPr>
            <a:xfrm>
              <a:off x="4838375"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33"/>
            <p:cNvSpPr/>
            <p:nvPr/>
          </p:nvSpPr>
          <p:spPr>
            <a:xfrm>
              <a:off x="4660088"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33"/>
            <p:cNvSpPr/>
            <p:nvPr/>
          </p:nvSpPr>
          <p:spPr>
            <a:xfrm>
              <a:off x="4660088"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33"/>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33"/>
            <p:cNvSpPr/>
            <p:nvPr/>
          </p:nvSpPr>
          <p:spPr>
            <a:xfrm>
              <a:off x="4481802"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33"/>
            <p:cNvSpPr/>
            <p:nvPr/>
          </p:nvSpPr>
          <p:spPr>
            <a:xfrm>
              <a:off x="4481802"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33"/>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33"/>
            <p:cNvSpPr/>
            <p:nvPr/>
          </p:nvSpPr>
          <p:spPr>
            <a:xfrm>
              <a:off x="457094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33"/>
            <p:cNvSpPr/>
            <p:nvPr/>
          </p:nvSpPr>
          <p:spPr>
            <a:xfrm>
              <a:off x="439265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33"/>
            <p:cNvSpPr/>
            <p:nvPr/>
          </p:nvSpPr>
          <p:spPr>
            <a:xfrm>
              <a:off x="439265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33"/>
            <p:cNvSpPr/>
            <p:nvPr/>
          </p:nvSpPr>
          <p:spPr>
            <a:xfrm>
              <a:off x="4392659"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33"/>
            <p:cNvSpPr/>
            <p:nvPr/>
          </p:nvSpPr>
          <p:spPr>
            <a:xfrm>
              <a:off x="421437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33"/>
            <p:cNvSpPr/>
            <p:nvPr/>
          </p:nvSpPr>
          <p:spPr>
            <a:xfrm>
              <a:off x="430351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33"/>
            <p:cNvSpPr/>
            <p:nvPr/>
          </p:nvSpPr>
          <p:spPr>
            <a:xfrm>
              <a:off x="430351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33"/>
            <p:cNvSpPr/>
            <p:nvPr/>
          </p:nvSpPr>
          <p:spPr>
            <a:xfrm>
              <a:off x="412522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33"/>
            <p:cNvSpPr/>
            <p:nvPr/>
          </p:nvSpPr>
          <p:spPr>
            <a:xfrm>
              <a:off x="4125229"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33"/>
            <p:cNvSpPr/>
            <p:nvPr/>
          </p:nvSpPr>
          <p:spPr>
            <a:xfrm>
              <a:off x="412522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33"/>
            <p:cNvSpPr/>
            <p:nvPr/>
          </p:nvSpPr>
          <p:spPr>
            <a:xfrm>
              <a:off x="3946943"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33"/>
            <p:cNvSpPr/>
            <p:nvPr/>
          </p:nvSpPr>
          <p:spPr>
            <a:xfrm>
              <a:off x="3946943"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33"/>
            <p:cNvSpPr/>
            <p:nvPr/>
          </p:nvSpPr>
          <p:spPr>
            <a:xfrm>
              <a:off x="3946943"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33"/>
            <p:cNvSpPr/>
            <p:nvPr/>
          </p:nvSpPr>
          <p:spPr>
            <a:xfrm>
              <a:off x="403608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33"/>
            <p:cNvSpPr/>
            <p:nvPr/>
          </p:nvSpPr>
          <p:spPr>
            <a:xfrm>
              <a:off x="403608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33"/>
            <p:cNvSpPr/>
            <p:nvPr/>
          </p:nvSpPr>
          <p:spPr>
            <a:xfrm>
              <a:off x="4036086"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33"/>
            <p:cNvSpPr/>
            <p:nvPr/>
          </p:nvSpPr>
          <p:spPr>
            <a:xfrm>
              <a:off x="3857800"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33"/>
            <p:cNvSpPr/>
            <p:nvPr/>
          </p:nvSpPr>
          <p:spPr>
            <a:xfrm>
              <a:off x="3857800"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33"/>
            <p:cNvSpPr/>
            <p:nvPr/>
          </p:nvSpPr>
          <p:spPr>
            <a:xfrm>
              <a:off x="3857800"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33"/>
            <p:cNvSpPr/>
            <p:nvPr/>
          </p:nvSpPr>
          <p:spPr>
            <a:xfrm>
              <a:off x="3857800"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2" name="Google Shape;2892;p33"/>
          <p:cNvGrpSpPr/>
          <p:nvPr/>
        </p:nvGrpSpPr>
        <p:grpSpPr>
          <a:xfrm>
            <a:off x="8066680" y="3468728"/>
            <a:ext cx="2227589" cy="1527191"/>
            <a:chOff x="5519300" y="372750"/>
            <a:chExt cx="1039375" cy="712575"/>
          </a:xfrm>
        </p:grpSpPr>
        <p:sp>
          <p:nvSpPr>
            <p:cNvPr id="2893" name="Google Shape;2893;p33"/>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33"/>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33"/>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33"/>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33"/>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33"/>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33"/>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33"/>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33"/>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33"/>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33"/>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33"/>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33"/>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33"/>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33"/>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33"/>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33"/>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33"/>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33"/>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33"/>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33"/>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33"/>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33"/>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33"/>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33"/>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33"/>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33"/>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33"/>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33"/>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33"/>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33"/>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33"/>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33"/>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33"/>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33"/>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33"/>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33"/>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33"/>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33"/>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33"/>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33"/>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33"/>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33"/>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33"/>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33"/>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33"/>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33"/>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33"/>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33"/>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33"/>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33"/>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33"/>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33"/>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33"/>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33"/>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33"/>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33"/>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33"/>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33"/>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33"/>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33"/>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33"/>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33"/>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33"/>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33"/>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33"/>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33"/>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0" name="Google Shape;2960;p33"/>
          <p:cNvSpPr/>
          <p:nvPr/>
        </p:nvSpPr>
        <p:spPr>
          <a:xfrm rot="-5400000">
            <a:off x="-581151" y="-712325"/>
            <a:ext cx="1657800" cy="1657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33"/>
          <p:cNvSpPr/>
          <p:nvPr/>
        </p:nvSpPr>
        <p:spPr>
          <a:xfrm rot="-2158994">
            <a:off x="8445880" y="2488287"/>
            <a:ext cx="3063067" cy="3063067"/>
          </a:xfrm>
          <a:prstGeom prst="blockArc">
            <a:avLst>
              <a:gd name="adj1" fmla="val 5958233"/>
              <a:gd name="adj2" fmla="val 17463104"/>
              <a:gd name="adj3" fmla="val 1506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2962"/>
        <p:cNvGrpSpPr/>
        <p:nvPr/>
      </p:nvGrpSpPr>
      <p:grpSpPr>
        <a:xfrm>
          <a:off x="0" y="0"/>
          <a:ext cx="0" cy="0"/>
          <a:chOff x="0" y="0"/>
          <a:chExt cx="0" cy="0"/>
        </a:xfrm>
      </p:grpSpPr>
      <p:sp>
        <p:nvSpPr>
          <p:cNvPr id="2963" name="Google Shape;2963;p34"/>
          <p:cNvSpPr/>
          <p:nvPr/>
        </p:nvSpPr>
        <p:spPr>
          <a:xfrm flipH="1">
            <a:off x="8270391" y="2279600"/>
            <a:ext cx="1812300" cy="1812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4" name="Google Shape;2964;p34"/>
          <p:cNvGrpSpPr/>
          <p:nvPr/>
        </p:nvGrpSpPr>
        <p:grpSpPr>
          <a:xfrm rot="5400000">
            <a:off x="7651004" y="3368691"/>
            <a:ext cx="2227589" cy="1527191"/>
            <a:chOff x="5519300" y="372750"/>
            <a:chExt cx="1039375" cy="712575"/>
          </a:xfrm>
        </p:grpSpPr>
        <p:sp>
          <p:nvSpPr>
            <p:cNvPr id="2965" name="Google Shape;2965;p34"/>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34"/>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34"/>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34"/>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34"/>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34"/>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34"/>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34"/>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34"/>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34"/>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34"/>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34"/>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34"/>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34"/>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34"/>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34"/>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34"/>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34"/>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34"/>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34"/>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34"/>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34"/>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34"/>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34"/>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34"/>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34"/>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34"/>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34"/>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34"/>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34"/>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34"/>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34"/>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34"/>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34"/>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34"/>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34"/>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34"/>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34"/>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34"/>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34"/>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34"/>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34"/>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34"/>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34"/>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34"/>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34"/>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34"/>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34"/>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34"/>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34"/>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34"/>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34"/>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34"/>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34"/>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34"/>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34"/>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34"/>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34"/>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34"/>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34"/>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34"/>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34"/>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34"/>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34"/>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34"/>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34"/>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34"/>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2" name="Google Shape;3032;p34"/>
          <p:cNvGrpSpPr/>
          <p:nvPr/>
        </p:nvGrpSpPr>
        <p:grpSpPr>
          <a:xfrm rot="-5400000">
            <a:off x="-818942" y="1077257"/>
            <a:ext cx="2227588" cy="726522"/>
            <a:chOff x="3799000" y="1820400"/>
            <a:chExt cx="1039375" cy="338989"/>
          </a:xfrm>
        </p:grpSpPr>
        <p:sp>
          <p:nvSpPr>
            <p:cNvPr id="3033" name="Google Shape;3033;p34"/>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34"/>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34"/>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34"/>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34"/>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34"/>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34"/>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34"/>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34"/>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34"/>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34"/>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34"/>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34"/>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34"/>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34"/>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34"/>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34"/>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34"/>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34"/>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34"/>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34"/>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34"/>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34"/>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34"/>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34"/>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34"/>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34"/>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34"/>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34"/>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34"/>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34"/>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34"/>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34"/>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34"/>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34"/>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34"/>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69" name="Google Shape;3069;p34"/>
          <p:cNvSpPr/>
          <p:nvPr/>
        </p:nvSpPr>
        <p:spPr>
          <a:xfrm flipH="1">
            <a:off x="-1058342" y="3902385"/>
            <a:ext cx="2574600" cy="2574600"/>
          </a:xfrm>
          <a:prstGeom prst="blockArc">
            <a:avLst>
              <a:gd name="adj1" fmla="val 5958233"/>
              <a:gd name="adj2" fmla="val 17463104"/>
              <a:gd name="adj3" fmla="val 1506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0" name="Google Shape;3070;p34"/>
          <p:cNvPicPr preferRelativeResize="0"/>
          <p:nvPr/>
        </p:nvPicPr>
        <p:blipFill>
          <a:blip r:embed="rId2"/>
          <a:stretch>
            <a:fillRect/>
          </a:stretch>
        </p:blipFill>
        <p:spPr>
          <a:xfrm>
            <a:off x="100850" y="3694589"/>
            <a:ext cx="1306575" cy="1368000"/>
          </a:xfrm>
          <a:prstGeom prst="rect">
            <a:avLst/>
          </a:prstGeom>
          <a:noFill/>
          <a:ln>
            <a:noFill/>
          </a:ln>
        </p:spPr>
      </p:pic>
      <p:sp>
        <p:nvSpPr>
          <p:cNvPr id="3071" name="Google Shape;3071;p34"/>
          <p:cNvSpPr/>
          <p:nvPr/>
        </p:nvSpPr>
        <p:spPr>
          <a:xfrm rot="5400000" flipH="1">
            <a:off x="-383111" y="-1285175"/>
            <a:ext cx="2033700" cy="2033700"/>
          </a:xfrm>
          <a:prstGeom prst="blockArc">
            <a:avLst>
              <a:gd name="adj1" fmla="val 5958233"/>
              <a:gd name="adj2" fmla="val 16931427"/>
              <a:gd name="adj3" fmla="val 19901"/>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34"/>
          <p:cNvSpPr/>
          <p:nvPr/>
        </p:nvSpPr>
        <p:spPr>
          <a:xfrm flipH="1">
            <a:off x="-87012" y="-979068"/>
            <a:ext cx="1654500" cy="1655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3" name="Google Shape;3073;p34"/>
          <p:cNvPicPr preferRelativeResize="0"/>
          <p:nvPr/>
        </p:nvPicPr>
        <p:blipFill>
          <a:blip r:embed="rId3"/>
          <a:stretch>
            <a:fillRect/>
          </a:stretch>
        </p:blipFill>
        <p:spPr>
          <a:xfrm>
            <a:off x="8514494" y="748521"/>
            <a:ext cx="1013918" cy="726975"/>
          </a:xfrm>
          <a:prstGeom prst="rect">
            <a:avLst/>
          </a:prstGeom>
          <a:noFill/>
          <a:ln>
            <a:noFill/>
          </a:ln>
        </p:spPr>
      </p:pic>
      <p:sp>
        <p:nvSpPr>
          <p:cNvPr id="3074" name="Google Shape;3074;p34"/>
          <p:cNvSpPr/>
          <p:nvPr/>
        </p:nvSpPr>
        <p:spPr>
          <a:xfrm rot="-5400000" flipH="1">
            <a:off x="6829239" y="4604100"/>
            <a:ext cx="2033700" cy="2033700"/>
          </a:xfrm>
          <a:prstGeom prst="blockArc">
            <a:avLst>
              <a:gd name="adj1" fmla="val 5958233"/>
              <a:gd name="adj2" fmla="val 16931427"/>
              <a:gd name="adj3" fmla="val 19901"/>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34"/>
          <p:cNvSpPr/>
          <p:nvPr/>
        </p:nvSpPr>
        <p:spPr>
          <a:xfrm rot="10800000" flipH="1">
            <a:off x="6912341" y="4676592"/>
            <a:ext cx="1654500" cy="1655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6" name="Google Shape;3076;p34"/>
          <p:cNvPicPr preferRelativeResize="0"/>
          <p:nvPr/>
        </p:nvPicPr>
        <p:blipFill>
          <a:blip r:embed="rId3"/>
          <a:stretch>
            <a:fillRect/>
          </a:stretch>
        </p:blipFill>
        <p:spPr>
          <a:xfrm>
            <a:off x="1567494" y="4676596"/>
            <a:ext cx="1013918" cy="726975"/>
          </a:xfrm>
          <a:prstGeom prst="rect">
            <a:avLst/>
          </a:prstGeom>
          <a:noFill/>
          <a:ln>
            <a:noFill/>
          </a:ln>
        </p:spPr>
      </p:pic>
      <p:pic>
        <p:nvPicPr>
          <p:cNvPr id="3077" name="Google Shape;3077;p34"/>
          <p:cNvPicPr preferRelativeResize="0"/>
          <p:nvPr/>
        </p:nvPicPr>
        <p:blipFill>
          <a:blip r:embed="rId3"/>
          <a:stretch>
            <a:fillRect/>
          </a:stretch>
        </p:blipFill>
        <p:spPr>
          <a:xfrm>
            <a:off x="-508956" y="2685121"/>
            <a:ext cx="1013918" cy="726975"/>
          </a:xfrm>
          <a:prstGeom prst="rect">
            <a:avLst/>
          </a:prstGeom>
          <a:noFill/>
          <a:ln>
            <a:noFill/>
          </a:ln>
        </p:spPr>
      </p:pic>
      <p:pic>
        <p:nvPicPr>
          <p:cNvPr id="3078" name="Google Shape;3078;p34"/>
          <p:cNvPicPr preferRelativeResize="0"/>
          <p:nvPr/>
        </p:nvPicPr>
        <p:blipFill>
          <a:blip r:embed="rId3"/>
          <a:stretch>
            <a:fillRect/>
          </a:stretch>
        </p:blipFill>
        <p:spPr>
          <a:xfrm>
            <a:off x="7722166" y="-427950"/>
            <a:ext cx="1217532" cy="87297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100000">
              <a:schemeClr val="dk2"/>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75" y="445025"/>
            <a:ext cx="7717500" cy="740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1pPr>
            <a:lvl2pPr lvl="1">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2pPr>
            <a:lvl3pPr lvl="2">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3pPr>
            <a:lvl4pPr lvl="3">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4pPr>
            <a:lvl5pPr lvl="4">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5pPr>
            <a:lvl6pPr lvl="5">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6pPr>
            <a:lvl7pPr lvl="6">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7pPr>
            <a:lvl8pPr lvl="7">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8pPr>
            <a:lvl9pPr lvl="8">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9pPr>
          </a:lstStyle>
          <a:p>
            <a:endParaRPr/>
          </a:p>
        </p:txBody>
      </p:sp>
      <p:sp>
        <p:nvSpPr>
          <p:cNvPr id="7" name="Google Shape;7;p1"/>
          <p:cNvSpPr txBox="1">
            <a:spLocks noGrp="1"/>
          </p:cNvSpPr>
          <p:nvPr>
            <p:ph type="body" idx="1"/>
          </p:nvPr>
        </p:nvSpPr>
        <p:spPr>
          <a:xfrm>
            <a:off x="71327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1pPr>
            <a:lvl2pPr marL="914400" lvl="1"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2pPr>
            <a:lvl3pPr marL="1371600" lvl="2"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3pPr>
            <a:lvl4pPr marL="1828800" lvl="3"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4pPr>
            <a:lvl5pPr marL="2286000" lvl="4"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5pPr>
            <a:lvl6pPr marL="2743200" lvl="5"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6pPr>
            <a:lvl7pPr marL="3200400" lvl="6"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7pPr>
            <a:lvl8pPr marL="3657600" lvl="7"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8pPr>
            <a:lvl9pPr marL="4114800" lvl="8"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www.imperva.com/learn/application-security/man-in-the-middle-attack-mitm/"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hyperlink" Target="https://www.imperva.com/learn/ddos/denial-of-service/"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hyperlink" Target="https://www.checkpoint.com/cyber-hub/threat-prevention/what-is-zero-day-attack/" TargetMode="External"/><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hyperlink" Target="https://www.checkpoint.com/cyber-hub/cyber-security/what-is-remote-code-execution-rc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checkpoint.com/cyber-hub/cyber-security/what-is-cyber-attack/what-is-sql-injection-sqli/" TargetMode="External"/><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www.checkpoint.com/cyber-hub/cloud-security/what-is-cloud-security/what-is-a-cloud-security-misconfiguration/" TargetMode="External"/><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www.checkpoint.com/cyber-hub/threat-prevention/what-is-credential-stuffing/" TargetMode="External"/><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hyperlink" Target="https://www.checkpoint.com/cyber-hub/network-security/what-is-vulnerability-scanning/" TargetMode="External"/><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hyperlink" Target="https://www.checkpoint.com/cyber-hub/network-security/what-is-the-principle-of-least-privilege-polp/"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hyperlink" Target="https://www.fortinet.com/resources/cyberglossary/what-is-cyber-attack" TargetMode="External"/><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hyperlink" Target="https://www.fortinet.com/resources/cyberglossary/spear-phishing" TargetMode="External"/><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88"/>
        <p:cNvGrpSpPr/>
        <p:nvPr/>
      </p:nvGrpSpPr>
      <p:grpSpPr>
        <a:xfrm>
          <a:off x="0" y="0"/>
          <a:ext cx="0" cy="0"/>
          <a:chOff x="0" y="0"/>
          <a:chExt cx="0" cy="0"/>
        </a:xfrm>
      </p:grpSpPr>
      <p:pic>
        <p:nvPicPr>
          <p:cNvPr id="3089" name="Google Shape;3089;p38"/>
          <p:cNvPicPr preferRelativeResize="0"/>
          <p:nvPr/>
        </p:nvPicPr>
        <p:blipFill>
          <a:blip r:embed="rId3"/>
          <a:stretch>
            <a:fillRect/>
          </a:stretch>
        </p:blipFill>
        <p:spPr>
          <a:xfrm>
            <a:off x="183425" y="1946150"/>
            <a:ext cx="3633650" cy="2419999"/>
          </a:xfrm>
          <a:prstGeom prst="rect">
            <a:avLst/>
          </a:prstGeom>
          <a:noFill/>
          <a:ln>
            <a:noFill/>
          </a:ln>
        </p:spPr>
      </p:pic>
      <p:grpSp>
        <p:nvGrpSpPr>
          <p:cNvPr id="3090" name="Google Shape;3090;p38"/>
          <p:cNvGrpSpPr/>
          <p:nvPr/>
        </p:nvGrpSpPr>
        <p:grpSpPr>
          <a:xfrm>
            <a:off x="251783" y="4096069"/>
            <a:ext cx="2227588" cy="726522"/>
            <a:chOff x="3799000" y="1820400"/>
            <a:chExt cx="1039375" cy="338989"/>
          </a:xfrm>
        </p:grpSpPr>
        <p:sp>
          <p:nvSpPr>
            <p:cNvPr id="3091" name="Google Shape;3091;p38"/>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38"/>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38"/>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38"/>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38"/>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38"/>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38"/>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8"/>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8"/>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8"/>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38"/>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38"/>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38"/>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38"/>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38"/>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38"/>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38"/>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38"/>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38"/>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38"/>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38"/>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38"/>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38"/>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38"/>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38"/>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38"/>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38"/>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38"/>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38"/>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38"/>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38"/>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38"/>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38"/>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38"/>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38"/>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38"/>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7" name="Google Shape;3127;p38"/>
          <p:cNvGrpSpPr/>
          <p:nvPr/>
        </p:nvGrpSpPr>
        <p:grpSpPr>
          <a:xfrm>
            <a:off x="2374531" y="-1877848"/>
            <a:ext cx="745392" cy="771458"/>
            <a:chOff x="3962987" y="1472625"/>
            <a:chExt cx="316663" cy="327750"/>
          </a:xfrm>
        </p:grpSpPr>
        <p:grpSp>
          <p:nvGrpSpPr>
            <p:cNvPr id="3128" name="Google Shape;3128;p38"/>
            <p:cNvGrpSpPr/>
            <p:nvPr/>
          </p:nvGrpSpPr>
          <p:grpSpPr>
            <a:xfrm>
              <a:off x="3962987" y="1472625"/>
              <a:ext cx="316663" cy="58800"/>
              <a:chOff x="3962987" y="1472625"/>
              <a:chExt cx="316663" cy="58800"/>
            </a:xfrm>
          </p:grpSpPr>
          <p:sp>
            <p:nvSpPr>
              <p:cNvPr id="3129" name="Google Shape;3129;p38"/>
              <p:cNvSpPr/>
              <p:nvPr/>
            </p:nvSpPr>
            <p:spPr>
              <a:xfrm>
                <a:off x="4220850"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38"/>
              <p:cNvSpPr/>
              <p:nvPr/>
            </p:nvSpPr>
            <p:spPr>
              <a:xfrm>
                <a:off x="4134896"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38"/>
              <p:cNvSpPr/>
              <p:nvPr/>
            </p:nvSpPr>
            <p:spPr>
              <a:xfrm>
                <a:off x="4048941"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38"/>
              <p:cNvSpPr/>
              <p:nvPr/>
            </p:nvSpPr>
            <p:spPr>
              <a:xfrm>
                <a:off x="3962987"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3" name="Google Shape;3133;p38"/>
            <p:cNvGrpSpPr/>
            <p:nvPr/>
          </p:nvGrpSpPr>
          <p:grpSpPr>
            <a:xfrm>
              <a:off x="3962987" y="1562275"/>
              <a:ext cx="316663" cy="58800"/>
              <a:chOff x="3962987" y="1472625"/>
              <a:chExt cx="316663" cy="58800"/>
            </a:xfrm>
          </p:grpSpPr>
          <p:sp>
            <p:nvSpPr>
              <p:cNvPr id="3134" name="Google Shape;3134;p38"/>
              <p:cNvSpPr/>
              <p:nvPr/>
            </p:nvSpPr>
            <p:spPr>
              <a:xfrm>
                <a:off x="4220850"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38"/>
              <p:cNvSpPr/>
              <p:nvPr/>
            </p:nvSpPr>
            <p:spPr>
              <a:xfrm>
                <a:off x="4134896"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38"/>
              <p:cNvSpPr/>
              <p:nvPr/>
            </p:nvSpPr>
            <p:spPr>
              <a:xfrm>
                <a:off x="4048941"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38"/>
              <p:cNvSpPr/>
              <p:nvPr/>
            </p:nvSpPr>
            <p:spPr>
              <a:xfrm>
                <a:off x="3962987"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8" name="Google Shape;3138;p38"/>
            <p:cNvGrpSpPr/>
            <p:nvPr/>
          </p:nvGrpSpPr>
          <p:grpSpPr>
            <a:xfrm>
              <a:off x="3962987" y="1651925"/>
              <a:ext cx="316663" cy="58800"/>
              <a:chOff x="3962987" y="1472625"/>
              <a:chExt cx="316663" cy="58800"/>
            </a:xfrm>
          </p:grpSpPr>
          <p:sp>
            <p:nvSpPr>
              <p:cNvPr id="3139" name="Google Shape;3139;p38"/>
              <p:cNvSpPr/>
              <p:nvPr/>
            </p:nvSpPr>
            <p:spPr>
              <a:xfrm>
                <a:off x="4220850"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38"/>
              <p:cNvSpPr/>
              <p:nvPr/>
            </p:nvSpPr>
            <p:spPr>
              <a:xfrm>
                <a:off x="4134896"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38"/>
              <p:cNvSpPr/>
              <p:nvPr/>
            </p:nvSpPr>
            <p:spPr>
              <a:xfrm>
                <a:off x="4048941"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38"/>
              <p:cNvSpPr/>
              <p:nvPr/>
            </p:nvSpPr>
            <p:spPr>
              <a:xfrm>
                <a:off x="3962987"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3" name="Google Shape;3143;p38"/>
            <p:cNvGrpSpPr/>
            <p:nvPr/>
          </p:nvGrpSpPr>
          <p:grpSpPr>
            <a:xfrm>
              <a:off x="3962987" y="1741575"/>
              <a:ext cx="316663" cy="58800"/>
              <a:chOff x="3962987" y="1472625"/>
              <a:chExt cx="316663" cy="58800"/>
            </a:xfrm>
          </p:grpSpPr>
          <p:sp>
            <p:nvSpPr>
              <p:cNvPr id="3144" name="Google Shape;3144;p38"/>
              <p:cNvSpPr/>
              <p:nvPr/>
            </p:nvSpPr>
            <p:spPr>
              <a:xfrm>
                <a:off x="4220850"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38"/>
              <p:cNvSpPr/>
              <p:nvPr/>
            </p:nvSpPr>
            <p:spPr>
              <a:xfrm>
                <a:off x="4134896"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38"/>
              <p:cNvSpPr/>
              <p:nvPr/>
            </p:nvSpPr>
            <p:spPr>
              <a:xfrm>
                <a:off x="4048941"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38"/>
              <p:cNvSpPr/>
              <p:nvPr/>
            </p:nvSpPr>
            <p:spPr>
              <a:xfrm>
                <a:off x="3962987"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148" name="Google Shape;3148;p38"/>
          <p:cNvSpPr txBox="1">
            <a:spLocks noGrp="1"/>
          </p:cNvSpPr>
          <p:nvPr>
            <p:ph type="ctrTitle"/>
          </p:nvPr>
        </p:nvSpPr>
        <p:spPr>
          <a:xfrm>
            <a:off x="3498075" y="902398"/>
            <a:ext cx="5398867" cy="18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6000" dirty="0"/>
              <a:t>Threats, vulnerabilities and types of attacks</a:t>
            </a:r>
            <a:endParaRPr sz="6000" dirty="0"/>
          </a:p>
        </p:txBody>
      </p:sp>
      <p:pic>
        <p:nvPicPr>
          <p:cNvPr id="3150" name="Google Shape;3150;p38"/>
          <p:cNvPicPr preferRelativeResize="0"/>
          <p:nvPr/>
        </p:nvPicPr>
        <p:blipFill>
          <a:blip r:embed="rId4"/>
          <a:stretch>
            <a:fillRect/>
          </a:stretch>
        </p:blipFill>
        <p:spPr>
          <a:xfrm>
            <a:off x="2693924" y="1376709"/>
            <a:ext cx="1039375" cy="745235"/>
          </a:xfrm>
          <a:prstGeom prst="rect">
            <a:avLst/>
          </a:prstGeom>
          <a:noFill/>
          <a:ln>
            <a:noFill/>
          </a:ln>
        </p:spPr>
      </p:pic>
      <p:pic>
        <p:nvPicPr>
          <p:cNvPr id="3151" name="Google Shape;3151;p38"/>
          <p:cNvPicPr preferRelativeResize="0"/>
          <p:nvPr/>
        </p:nvPicPr>
        <p:blipFill>
          <a:blip r:embed="rId5"/>
          <a:stretch>
            <a:fillRect/>
          </a:stretch>
        </p:blipFill>
        <p:spPr>
          <a:xfrm>
            <a:off x="1795468" y="918625"/>
            <a:ext cx="1796913" cy="2844548"/>
          </a:xfrm>
          <a:prstGeom prst="rect">
            <a:avLst/>
          </a:prstGeom>
          <a:noFill/>
          <a:ln>
            <a:noFill/>
          </a:ln>
        </p:spPr>
      </p:pic>
      <p:pic>
        <p:nvPicPr>
          <p:cNvPr id="3152" name="Google Shape;3152;p38"/>
          <p:cNvPicPr preferRelativeResize="0"/>
          <p:nvPr/>
        </p:nvPicPr>
        <p:blipFill>
          <a:blip r:embed="rId6"/>
          <a:stretch>
            <a:fillRect/>
          </a:stretch>
        </p:blipFill>
        <p:spPr>
          <a:xfrm>
            <a:off x="799100" y="1780150"/>
            <a:ext cx="923250" cy="1217750"/>
          </a:xfrm>
          <a:prstGeom prst="rect">
            <a:avLst/>
          </a:prstGeom>
          <a:noFill/>
          <a:ln>
            <a:noFill/>
          </a:ln>
        </p:spPr>
      </p:pic>
      <p:pic>
        <p:nvPicPr>
          <p:cNvPr id="2" name="Picture 1"/>
          <p:cNvPicPr>
            <a:picLocks noChangeAspect="1"/>
          </p:cNvPicPr>
          <p:nvPr/>
        </p:nvPicPr>
        <p:blipFill>
          <a:blip r:embed="rId7">
            <a:alphaModFix amt="76000"/>
            <a:clrChange>
              <a:clrFrom>
                <a:srgbClr val="39C0B8"/>
              </a:clrFrom>
              <a:clrTo>
                <a:srgbClr val="39C0B8">
                  <a:alpha val="0"/>
                </a:srgbClr>
              </a:clrTo>
            </a:clrChange>
            <a:extLst>
              <a:ext uri="{BEBA8EAE-BF5A-486C-A8C5-ECC9F3942E4B}">
                <a14:imgProps xmlns:a14="http://schemas.microsoft.com/office/drawing/2010/main">
                  <a14:imgLayer r:embed="rId8">
                    <a14:imgEffect>
                      <a14:colorTemperature colorTemp="3029"/>
                    </a14:imgEffect>
                    <a14:imgEffect>
                      <a14:saturation sat="0"/>
                    </a14:imgEffect>
                  </a14:imgLayer>
                </a14:imgProps>
              </a:ext>
            </a:extLst>
          </a:blip>
          <a:stretch>
            <a:fillRect/>
          </a:stretch>
        </p:blipFill>
        <p:spPr>
          <a:xfrm>
            <a:off x="2146073" y="2377725"/>
            <a:ext cx="771744" cy="771744"/>
          </a:xfrm>
          <a:prstGeom prst="rect">
            <a:avLst/>
          </a:prstGeom>
          <a:ln>
            <a:noFill/>
          </a:ln>
        </p:spPr>
      </p:pic>
      <p:pic>
        <p:nvPicPr>
          <p:cNvPr id="3153" name="Google Shape;3153;p38"/>
          <p:cNvPicPr preferRelativeResize="0"/>
          <p:nvPr/>
        </p:nvPicPr>
        <p:blipFill>
          <a:blip r:embed="rId9"/>
          <a:stretch>
            <a:fillRect/>
          </a:stretch>
        </p:blipFill>
        <p:spPr>
          <a:xfrm>
            <a:off x="764201" y="2718530"/>
            <a:ext cx="1662625" cy="1740800"/>
          </a:xfrm>
          <a:prstGeom prst="rect">
            <a:avLst/>
          </a:prstGeom>
          <a:noFill/>
          <a:ln>
            <a:noFill/>
          </a:ln>
        </p:spPr>
      </p:pic>
      <p:pic>
        <p:nvPicPr>
          <p:cNvPr id="3154" name="Google Shape;3154;p38"/>
          <p:cNvPicPr preferRelativeResize="0"/>
          <p:nvPr/>
        </p:nvPicPr>
        <p:blipFill>
          <a:blip r:embed="rId10"/>
          <a:stretch>
            <a:fillRect/>
          </a:stretch>
        </p:blipFill>
        <p:spPr>
          <a:xfrm>
            <a:off x="3498075" y="2867343"/>
            <a:ext cx="923250" cy="1167940"/>
          </a:xfrm>
          <a:prstGeom prst="rect">
            <a:avLst/>
          </a:prstGeom>
          <a:noFill/>
          <a:ln>
            <a:noFill/>
          </a:ln>
        </p:spPr>
      </p:pic>
      <p:sp>
        <p:nvSpPr>
          <p:cNvPr id="4" name="Subtitle 3">
            <a:extLst>
              <a:ext uri="{FF2B5EF4-FFF2-40B4-BE49-F238E27FC236}">
                <a16:creationId xmlns:a16="http://schemas.microsoft.com/office/drawing/2014/main" id="{9979816B-AAB6-4FF6-8ADE-5E21017E22D0}"/>
              </a:ext>
            </a:extLst>
          </p:cNvPr>
          <p:cNvSpPr>
            <a:spLocks noGrp="1"/>
          </p:cNvSpPr>
          <p:nvPr>
            <p:ph type="subTitle" idx="1"/>
          </p:nvPr>
        </p:nvSpPr>
        <p:spPr/>
        <p:txBody>
          <a:bodyPr/>
          <a:lstStyle/>
          <a:p>
            <a:endParaRPr lang="en-PH"/>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58"/>
        <p:cNvGrpSpPr/>
        <p:nvPr/>
      </p:nvGrpSpPr>
      <p:grpSpPr>
        <a:xfrm>
          <a:off x="0" y="0"/>
          <a:ext cx="0" cy="0"/>
          <a:chOff x="0" y="0"/>
          <a:chExt cx="0" cy="0"/>
        </a:xfrm>
      </p:grpSpPr>
      <p:sp>
        <p:nvSpPr>
          <p:cNvPr id="3159" name="Google Shape;3159;p39"/>
          <p:cNvSpPr txBox="1">
            <a:spLocks noGrp="1"/>
          </p:cNvSpPr>
          <p:nvPr>
            <p:ph type="title"/>
          </p:nvPr>
        </p:nvSpPr>
        <p:spPr>
          <a:xfrm>
            <a:off x="602064" y="618020"/>
            <a:ext cx="7717500" cy="738900"/>
          </a:xfrm>
          <a:prstGeom prst="rect">
            <a:avLst/>
          </a:prstGeom>
        </p:spPr>
        <p:txBody>
          <a:bodyPr spcFirstLastPara="1" wrap="square" lIns="91425" tIns="91425" rIns="91425" bIns="91425" anchor="t" anchorCtr="0">
            <a:noAutofit/>
          </a:bodyPr>
          <a:lstStyle/>
          <a:p>
            <a:pPr algn="l"/>
            <a:r>
              <a:rPr lang="en-PH" b="0" i="0" dirty="0">
                <a:effectLst/>
                <a:latin typeface="neo-sans"/>
              </a:rPr>
              <a:t>What are cyber threats?</a:t>
            </a:r>
          </a:p>
        </p:txBody>
      </p:sp>
      <p:grpSp>
        <p:nvGrpSpPr>
          <p:cNvPr id="3164" name="Google Shape;3164;p39"/>
          <p:cNvGrpSpPr/>
          <p:nvPr/>
        </p:nvGrpSpPr>
        <p:grpSpPr>
          <a:xfrm>
            <a:off x="2139558" y="81885"/>
            <a:ext cx="1654433" cy="326624"/>
            <a:chOff x="7549958" y="-1584240"/>
            <a:chExt cx="1654433" cy="326624"/>
          </a:xfrm>
        </p:grpSpPr>
        <p:sp>
          <p:nvSpPr>
            <p:cNvPr id="3165" name="Google Shape;3165;p39"/>
            <p:cNvSpPr/>
            <p:nvPr/>
          </p:nvSpPr>
          <p:spPr>
            <a:xfrm>
              <a:off x="9078371" y="-1584240"/>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39"/>
            <p:cNvSpPr/>
            <p:nvPr/>
          </p:nvSpPr>
          <p:spPr>
            <a:xfrm>
              <a:off x="8696268" y="-1584240"/>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39"/>
            <p:cNvSpPr/>
            <p:nvPr/>
          </p:nvSpPr>
          <p:spPr>
            <a:xfrm>
              <a:off x="8314164" y="-1584240"/>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39"/>
            <p:cNvSpPr/>
            <p:nvPr/>
          </p:nvSpPr>
          <p:spPr>
            <a:xfrm>
              <a:off x="8123113" y="-1584240"/>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39"/>
            <p:cNvSpPr/>
            <p:nvPr/>
          </p:nvSpPr>
          <p:spPr>
            <a:xfrm>
              <a:off x="8887319" y="-138363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39"/>
            <p:cNvSpPr/>
            <p:nvPr/>
          </p:nvSpPr>
          <p:spPr>
            <a:xfrm>
              <a:off x="9078371" y="-138363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39"/>
            <p:cNvSpPr/>
            <p:nvPr/>
          </p:nvSpPr>
          <p:spPr>
            <a:xfrm>
              <a:off x="8314164" y="-138363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39"/>
            <p:cNvSpPr/>
            <p:nvPr/>
          </p:nvSpPr>
          <p:spPr>
            <a:xfrm>
              <a:off x="8505216" y="-138363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39"/>
            <p:cNvSpPr/>
            <p:nvPr/>
          </p:nvSpPr>
          <p:spPr>
            <a:xfrm>
              <a:off x="8123113" y="-138363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39"/>
            <p:cNvSpPr/>
            <p:nvPr/>
          </p:nvSpPr>
          <p:spPr>
            <a:xfrm>
              <a:off x="7741009" y="-138363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39"/>
            <p:cNvSpPr/>
            <p:nvPr/>
          </p:nvSpPr>
          <p:spPr>
            <a:xfrm>
              <a:off x="7932061" y="-138363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39"/>
            <p:cNvSpPr/>
            <p:nvPr/>
          </p:nvSpPr>
          <p:spPr>
            <a:xfrm>
              <a:off x="7549958" y="-138363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3412;p42"/>
          <p:cNvSpPr txBox="1"/>
          <p:nvPr/>
        </p:nvSpPr>
        <p:spPr>
          <a:xfrm>
            <a:off x="835365" y="1566431"/>
            <a:ext cx="7819260" cy="12873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US" sz="3200" b="0" i="0" dirty="0">
                <a:solidFill>
                  <a:srgbClr val="FF0000"/>
                </a:solidFill>
                <a:effectLst/>
                <a:latin typeface="Open Sans" panose="020B0606030504020204" pitchFamily="34" charset="0"/>
              </a:rPr>
              <a:t>Cyber threats </a:t>
            </a:r>
            <a:r>
              <a:rPr lang="en-US" sz="3200" b="0" i="0" dirty="0">
                <a:solidFill>
                  <a:schemeClr val="tx1"/>
                </a:solidFill>
                <a:effectLst/>
                <a:latin typeface="Open Sans" panose="020B0606030504020204" pitchFamily="34" charset="0"/>
              </a:rPr>
              <a:t>are harmful activities, which aim to destroy, steal, or disrupt data, or exploit computer systems, networks, and harm digital systems in general. </a:t>
            </a:r>
            <a:endParaRPr lang="en-US" sz="32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80"/>
        <p:cNvGrpSpPr/>
        <p:nvPr/>
      </p:nvGrpSpPr>
      <p:grpSpPr>
        <a:xfrm>
          <a:off x="0" y="0"/>
          <a:ext cx="0" cy="0"/>
          <a:chOff x="0" y="0"/>
          <a:chExt cx="0" cy="0"/>
        </a:xfrm>
      </p:grpSpPr>
      <p:sp>
        <p:nvSpPr>
          <p:cNvPr id="3185" name="Google Shape;3185;p40"/>
          <p:cNvSpPr txBox="1">
            <a:spLocks noGrp="1"/>
          </p:cNvSpPr>
          <p:nvPr>
            <p:ph type="title"/>
          </p:nvPr>
        </p:nvSpPr>
        <p:spPr>
          <a:xfrm>
            <a:off x="1426500" y="428952"/>
            <a:ext cx="7717500" cy="738900"/>
          </a:xfrm>
          <a:prstGeom prst="rect">
            <a:avLst/>
          </a:prstGeom>
        </p:spPr>
        <p:txBody>
          <a:bodyPr spcFirstLastPara="1" wrap="square" lIns="91425" tIns="91425" rIns="91425" bIns="91425" anchor="t" anchorCtr="0">
            <a:noAutofit/>
          </a:bodyPr>
          <a:lstStyle/>
          <a:p>
            <a:pPr algn="l"/>
            <a:r>
              <a:rPr lang="en-US" sz="2800" b="0" i="0" dirty="0">
                <a:solidFill>
                  <a:schemeClr val="tx1"/>
                </a:solidFill>
                <a:effectLst/>
                <a:latin typeface="Inter"/>
              </a:rPr>
              <a:t>Common Sources of Cyber Threats</a:t>
            </a:r>
          </a:p>
        </p:txBody>
      </p:sp>
      <p:sp>
        <p:nvSpPr>
          <p:cNvPr id="26" name="TextBox 25"/>
          <p:cNvSpPr txBox="1"/>
          <p:nvPr/>
        </p:nvSpPr>
        <p:spPr>
          <a:xfrm>
            <a:off x="651819" y="1463902"/>
            <a:ext cx="5078627" cy="523220"/>
          </a:xfrm>
          <a:prstGeom prst="rect">
            <a:avLst/>
          </a:prstGeom>
          <a:noFill/>
        </p:spPr>
        <p:txBody>
          <a:bodyPr wrap="square" rtlCol="0">
            <a:spAutoFit/>
          </a:bodyPr>
          <a:lstStyle/>
          <a:p>
            <a:r>
              <a:rPr lang="en-PH" sz="2800" b="1" i="0" dirty="0">
                <a:solidFill>
                  <a:schemeClr val="tx1"/>
                </a:solidFill>
                <a:effectLst/>
                <a:latin typeface="Inter"/>
              </a:rPr>
              <a:t>Nation states</a:t>
            </a:r>
            <a:endParaRPr lang="en-PH" sz="2800" dirty="0">
              <a:solidFill>
                <a:schemeClr val="tx1"/>
              </a:solidFill>
            </a:endParaRPr>
          </a:p>
        </p:txBody>
      </p:sp>
      <p:sp>
        <p:nvSpPr>
          <p:cNvPr id="27" name="Rectangle 26"/>
          <p:cNvSpPr/>
          <p:nvPr/>
        </p:nvSpPr>
        <p:spPr>
          <a:xfrm>
            <a:off x="5952868" y="1612183"/>
            <a:ext cx="2947086" cy="2482163"/>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TextBox 27"/>
          <p:cNvSpPr txBox="1"/>
          <p:nvPr/>
        </p:nvSpPr>
        <p:spPr>
          <a:xfrm>
            <a:off x="651819" y="2048530"/>
            <a:ext cx="5078627" cy="1938992"/>
          </a:xfrm>
          <a:prstGeom prst="rect">
            <a:avLst/>
          </a:prstGeom>
          <a:noFill/>
        </p:spPr>
        <p:txBody>
          <a:bodyPr wrap="square" rtlCol="0">
            <a:spAutoFit/>
          </a:bodyPr>
          <a:lstStyle/>
          <a:p>
            <a:r>
              <a:rPr lang="en-US" sz="2400" i="0" dirty="0">
                <a:solidFill>
                  <a:schemeClr val="tx1"/>
                </a:solidFill>
                <a:effectLst/>
                <a:latin typeface="+mj-lt"/>
              </a:rPr>
              <a:t>- hostile countries can launch cyber attacks against local companies and institutions, aiming to interfere with communications, cause disorder, and inflict damage.</a:t>
            </a:r>
            <a:endParaRPr lang="en-PH" sz="1800" dirty="0">
              <a:solidFill>
                <a:schemeClr val="tx1"/>
              </a:solidFill>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80"/>
        <p:cNvGrpSpPr/>
        <p:nvPr/>
      </p:nvGrpSpPr>
      <p:grpSpPr>
        <a:xfrm>
          <a:off x="0" y="0"/>
          <a:ext cx="0" cy="0"/>
          <a:chOff x="0" y="0"/>
          <a:chExt cx="0" cy="0"/>
        </a:xfrm>
      </p:grpSpPr>
      <p:sp>
        <p:nvSpPr>
          <p:cNvPr id="3185" name="Google Shape;3185;p40"/>
          <p:cNvSpPr txBox="1">
            <a:spLocks noGrp="1"/>
          </p:cNvSpPr>
          <p:nvPr>
            <p:ph type="title"/>
          </p:nvPr>
        </p:nvSpPr>
        <p:spPr>
          <a:xfrm>
            <a:off x="1426500" y="428952"/>
            <a:ext cx="7717500" cy="738900"/>
          </a:xfrm>
          <a:prstGeom prst="rect">
            <a:avLst/>
          </a:prstGeom>
        </p:spPr>
        <p:txBody>
          <a:bodyPr spcFirstLastPara="1" wrap="square" lIns="91425" tIns="91425" rIns="91425" bIns="91425" anchor="t" anchorCtr="0">
            <a:noAutofit/>
          </a:bodyPr>
          <a:lstStyle/>
          <a:p>
            <a:pPr algn="l"/>
            <a:r>
              <a:rPr lang="en-US" sz="2800" b="0" i="0" dirty="0">
                <a:solidFill>
                  <a:schemeClr val="tx1"/>
                </a:solidFill>
                <a:effectLst/>
                <a:latin typeface="Inter"/>
              </a:rPr>
              <a:t>Common Sources of Cyber Threats</a:t>
            </a:r>
          </a:p>
        </p:txBody>
      </p:sp>
      <p:sp>
        <p:nvSpPr>
          <p:cNvPr id="27" name="Rectangle 26"/>
          <p:cNvSpPr/>
          <p:nvPr/>
        </p:nvSpPr>
        <p:spPr>
          <a:xfrm>
            <a:off x="5952868" y="1612183"/>
            <a:ext cx="2947086" cy="2482163"/>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TextBox 27"/>
          <p:cNvSpPr txBox="1"/>
          <p:nvPr/>
        </p:nvSpPr>
        <p:spPr>
          <a:xfrm>
            <a:off x="874241" y="1492476"/>
            <a:ext cx="5078627" cy="2954655"/>
          </a:xfrm>
          <a:prstGeom prst="rect">
            <a:avLst/>
          </a:prstGeom>
          <a:noFill/>
        </p:spPr>
        <p:txBody>
          <a:bodyPr wrap="square" rtlCol="0">
            <a:spAutoFit/>
          </a:bodyPr>
          <a:lstStyle/>
          <a:p>
            <a:r>
              <a:rPr lang="en-US" sz="2400" i="0" dirty="0">
                <a:solidFill>
                  <a:schemeClr val="tx1"/>
                </a:solidFill>
                <a:effectLst/>
                <a:latin typeface="+mj-lt"/>
              </a:rPr>
              <a:t> </a:t>
            </a:r>
            <a:r>
              <a:rPr lang="en-US" sz="2400" b="1" i="0" dirty="0">
                <a:solidFill>
                  <a:schemeClr val="tx1"/>
                </a:solidFill>
                <a:effectLst/>
                <a:latin typeface="+mj-lt"/>
              </a:rPr>
              <a:t>Terrorist organizations</a:t>
            </a:r>
          </a:p>
          <a:p>
            <a:r>
              <a:rPr lang="en-US" sz="2400" b="0" i="0" dirty="0">
                <a:solidFill>
                  <a:schemeClr val="tx1"/>
                </a:solidFill>
                <a:effectLst/>
                <a:latin typeface="+mj-lt"/>
              </a:rPr>
              <a:t>— terrorists conduct cyber attacks aimed at destroying or abusing critical infrastructure, threaten national security, disrupt economies, and cause bodily harm to citizens.</a:t>
            </a:r>
          </a:p>
          <a:p>
            <a:endParaRPr lang="en-PH" sz="1800" dirty="0">
              <a:solidFill>
                <a:schemeClr val="tx1"/>
              </a:solidFill>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80"/>
        <p:cNvGrpSpPr/>
        <p:nvPr/>
      </p:nvGrpSpPr>
      <p:grpSpPr>
        <a:xfrm>
          <a:off x="0" y="0"/>
          <a:ext cx="0" cy="0"/>
          <a:chOff x="0" y="0"/>
          <a:chExt cx="0" cy="0"/>
        </a:xfrm>
      </p:grpSpPr>
      <p:sp>
        <p:nvSpPr>
          <p:cNvPr id="3185" name="Google Shape;3185;p40"/>
          <p:cNvSpPr txBox="1">
            <a:spLocks noGrp="1"/>
          </p:cNvSpPr>
          <p:nvPr>
            <p:ph type="title"/>
          </p:nvPr>
        </p:nvSpPr>
        <p:spPr>
          <a:xfrm>
            <a:off x="1426500" y="428952"/>
            <a:ext cx="7717500" cy="738900"/>
          </a:xfrm>
          <a:prstGeom prst="rect">
            <a:avLst/>
          </a:prstGeom>
        </p:spPr>
        <p:txBody>
          <a:bodyPr spcFirstLastPara="1" wrap="square" lIns="91425" tIns="91425" rIns="91425" bIns="91425" anchor="t" anchorCtr="0">
            <a:noAutofit/>
          </a:bodyPr>
          <a:lstStyle/>
          <a:p>
            <a:pPr algn="l"/>
            <a:r>
              <a:rPr lang="en-US" sz="2800" b="0" i="0" dirty="0">
                <a:solidFill>
                  <a:schemeClr val="tx1"/>
                </a:solidFill>
                <a:effectLst/>
                <a:latin typeface="Inter"/>
              </a:rPr>
              <a:t>Common Sources of Cyber Threats</a:t>
            </a:r>
          </a:p>
        </p:txBody>
      </p:sp>
      <p:sp>
        <p:nvSpPr>
          <p:cNvPr id="27" name="Rectangle 26"/>
          <p:cNvSpPr/>
          <p:nvPr/>
        </p:nvSpPr>
        <p:spPr>
          <a:xfrm>
            <a:off x="5952868" y="1612183"/>
            <a:ext cx="2947086" cy="2482163"/>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TextBox 27"/>
          <p:cNvSpPr txBox="1"/>
          <p:nvPr/>
        </p:nvSpPr>
        <p:spPr>
          <a:xfrm>
            <a:off x="874241" y="1492476"/>
            <a:ext cx="5078627" cy="3416320"/>
          </a:xfrm>
          <a:prstGeom prst="rect">
            <a:avLst/>
          </a:prstGeom>
          <a:noFill/>
        </p:spPr>
        <p:txBody>
          <a:bodyPr wrap="square" rtlCol="0">
            <a:spAutoFit/>
          </a:bodyPr>
          <a:lstStyle/>
          <a:p>
            <a:pPr algn="l"/>
            <a:r>
              <a:rPr lang="en-US" sz="2400" i="0" dirty="0">
                <a:solidFill>
                  <a:schemeClr val="tx1"/>
                </a:solidFill>
                <a:effectLst/>
                <a:latin typeface="+mj-lt"/>
              </a:rPr>
              <a:t> </a:t>
            </a:r>
            <a:r>
              <a:rPr lang="en-US" sz="2400" b="1" i="0" dirty="0">
                <a:solidFill>
                  <a:schemeClr val="tx1"/>
                </a:solidFill>
                <a:effectLst/>
                <a:latin typeface="+mj-lt"/>
              </a:rPr>
              <a:t>Criminal groups</a:t>
            </a:r>
          </a:p>
          <a:p>
            <a:pPr algn="l"/>
            <a:r>
              <a:rPr lang="en-US" sz="2400" b="0" i="0" dirty="0">
                <a:solidFill>
                  <a:schemeClr val="tx1"/>
                </a:solidFill>
                <a:effectLst/>
                <a:latin typeface="+mj-lt"/>
              </a:rPr>
              <a:t>— organized groups of hackers aim to break into computing systems for economic benefit. These groups use phishing, spam, spyware and malware for extortion, theft of private information, and online scams.</a:t>
            </a:r>
          </a:p>
          <a:p>
            <a:endParaRPr lang="en-PH" sz="2400" dirty="0">
              <a:solidFill>
                <a:schemeClr val="tx1"/>
              </a:solidFill>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80"/>
        <p:cNvGrpSpPr/>
        <p:nvPr/>
      </p:nvGrpSpPr>
      <p:grpSpPr>
        <a:xfrm>
          <a:off x="0" y="0"/>
          <a:ext cx="0" cy="0"/>
          <a:chOff x="0" y="0"/>
          <a:chExt cx="0" cy="0"/>
        </a:xfrm>
      </p:grpSpPr>
      <p:sp>
        <p:nvSpPr>
          <p:cNvPr id="3185" name="Google Shape;3185;p40"/>
          <p:cNvSpPr txBox="1">
            <a:spLocks noGrp="1"/>
          </p:cNvSpPr>
          <p:nvPr>
            <p:ph type="title"/>
          </p:nvPr>
        </p:nvSpPr>
        <p:spPr>
          <a:xfrm>
            <a:off x="1055797" y="14243"/>
            <a:ext cx="7717500" cy="738900"/>
          </a:xfrm>
          <a:prstGeom prst="rect">
            <a:avLst/>
          </a:prstGeom>
        </p:spPr>
        <p:txBody>
          <a:bodyPr spcFirstLastPara="1" wrap="square" lIns="91425" tIns="91425" rIns="91425" bIns="91425" anchor="t" anchorCtr="0">
            <a:noAutofit/>
          </a:bodyPr>
          <a:lstStyle/>
          <a:p>
            <a:pPr algn="l"/>
            <a:r>
              <a:rPr lang="en-US" sz="2800" b="0" i="0" dirty="0">
                <a:solidFill>
                  <a:schemeClr val="tx1"/>
                </a:solidFill>
                <a:effectLst/>
                <a:latin typeface="Inter"/>
              </a:rPr>
              <a:t>Common Sources of Cyber Threats</a:t>
            </a:r>
          </a:p>
        </p:txBody>
      </p:sp>
      <p:sp>
        <p:nvSpPr>
          <p:cNvPr id="28" name="TextBox 27"/>
          <p:cNvSpPr txBox="1"/>
          <p:nvPr/>
        </p:nvSpPr>
        <p:spPr>
          <a:xfrm>
            <a:off x="1272747" y="777237"/>
            <a:ext cx="5582165" cy="4154984"/>
          </a:xfrm>
          <a:prstGeom prst="rect">
            <a:avLst/>
          </a:prstGeom>
          <a:noFill/>
        </p:spPr>
        <p:txBody>
          <a:bodyPr wrap="square" rtlCol="0">
            <a:spAutoFit/>
          </a:bodyPr>
          <a:lstStyle/>
          <a:p>
            <a:pPr algn="l"/>
            <a:r>
              <a:rPr lang="en-US" sz="2400" b="1" i="0" dirty="0">
                <a:solidFill>
                  <a:schemeClr val="tx1"/>
                </a:solidFill>
                <a:effectLst/>
                <a:latin typeface="+mj-lt"/>
              </a:rPr>
              <a:t>Hackers</a:t>
            </a:r>
          </a:p>
          <a:p>
            <a:pPr algn="l"/>
            <a:r>
              <a:rPr lang="en-US" sz="2400" b="0" i="0" dirty="0">
                <a:solidFill>
                  <a:schemeClr val="tx1"/>
                </a:solidFill>
                <a:effectLst/>
                <a:latin typeface="+mj-lt"/>
              </a:rPr>
              <a:t>—individual hackers target organizations using a variety of attack techniques. They are usually motivated by personal gain, revenge, financial gain, or political activity. Hackers often develop new threats, to advance their criminal ability and improve their personal standing in the hacker community.</a:t>
            </a:r>
          </a:p>
          <a:p>
            <a:endParaRPr lang="en-PH" sz="2400" dirty="0">
              <a:solidFill>
                <a:schemeClr val="tx1"/>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80"/>
        <p:cNvGrpSpPr/>
        <p:nvPr/>
      </p:nvGrpSpPr>
      <p:grpSpPr>
        <a:xfrm>
          <a:off x="0" y="0"/>
          <a:ext cx="0" cy="0"/>
          <a:chOff x="0" y="0"/>
          <a:chExt cx="0" cy="0"/>
        </a:xfrm>
      </p:grpSpPr>
      <p:sp>
        <p:nvSpPr>
          <p:cNvPr id="3185" name="Google Shape;3185;p40"/>
          <p:cNvSpPr txBox="1">
            <a:spLocks noGrp="1"/>
          </p:cNvSpPr>
          <p:nvPr>
            <p:ph type="title"/>
          </p:nvPr>
        </p:nvSpPr>
        <p:spPr>
          <a:xfrm>
            <a:off x="1055797" y="14243"/>
            <a:ext cx="7717500" cy="738900"/>
          </a:xfrm>
          <a:prstGeom prst="rect">
            <a:avLst/>
          </a:prstGeom>
        </p:spPr>
        <p:txBody>
          <a:bodyPr spcFirstLastPara="1" wrap="square" lIns="91425" tIns="91425" rIns="91425" bIns="91425" anchor="t" anchorCtr="0">
            <a:noAutofit/>
          </a:bodyPr>
          <a:lstStyle/>
          <a:p>
            <a:pPr algn="l"/>
            <a:r>
              <a:rPr lang="en-US" sz="2800" b="0" i="0" dirty="0">
                <a:solidFill>
                  <a:schemeClr val="tx1"/>
                </a:solidFill>
                <a:effectLst/>
                <a:latin typeface="Inter"/>
              </a:rPr>
              <a:t>Common Sources of Cyber Threats</a:t>
            </a:r>
          </a:p>
        </p:txBody>
      </p:sp>
      <p:sp>
        <p:nvSpPr>
          <p:cNvPr id="28" name="TextBox 27"/>
          <p:cNvSpPr txBox="1"/>
          <p:nvPr/>
        </p:nvSpPr>
        <p:spPr>
          <a:xfrm>
            <a:off x="1210963" y="1147939"/>
            <a:ext cx="5582165" cy="2308324"/>
          </a:xfrm>
          <a:prstGeom prst="rect">
            <a:avLst/>
          </a:prstGeom>
          <a:noFill/>
        </p:spPr>
        <p:txBody>
          <a:bodyPr wrap="square" rtlCol="0">
            <a:spAutoFit/>
          </a:bodyPr>
          <a:lstStyle/>
          <a:p>
            <a:pPr algn="l"/>
            <a:r>
              <a:rPr lang="en-US" sz="2400" b="1" i="0" dirty="0">
                <a:solidFill>
                  <a:schemeClr val="tx1"/>
                </a:solidFill>
                <a:effectLst/>
                <a:latin typeface="+mj-lt"/>
              </a:rPr>
              <a:t>Malicious insiders</a:t>
            </a:r>
          </a:p>
          <a:p>
            <a:pPr algn="just"/>
            <a:r>
              <a:rPr lang="en-US" sz="2400" b="0" i="0" dirty="0">
                <a:solidFill>
                  <a:schemeClr val="tx1"/>
                </a:solidFill>
                <a:effectLst/>
                <a:latin typeface="+mj-lt"/>
              </a:rPr>
              <a:t>— an employee who has legitimate access to company assets, and abuses their privileges to steal information or damage computing systems for economic or personal gain.</a:t>
            </a:r>
            <a:endParaRPr lang="en-PH" sz="2400" dirty="0">
              <a:solidFill>
                <a:schemeClr val="tx1"/>
              </a:solidFill>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01"/>
        <p:cNvGrpSpPr/>
        <p:nvPr/>
      </p:nvGrpSpPr>
      <p:grpSpPr>
        <a:xfrm>
          <a:off x="0" y="0"/>
          <a:ext cx="0" cy="0"/>
          <a:chOff x="0" y="0"/>
          <a:chExt cx="0" cy="0"/>
        </a:xfrm>
      </p:grpSpPr>
      <p:pic>
        <p:nvPicPr>
          <p:cNvPr id="3202" name="Google Shape;3202;p41"/>
          <p:cNvPicPr preferRelativeResize="0"/>
          <p:nvPr/>
        </p:nvPicPr>
        <p:blipFill>
          <a:blip r:embed="rId3"/>
          <a:stretch>
            <a:fillRect/>
          </a:stretch>
        </p:blipFill>
        <p:spPr>
          <a:xfrm rot="10800000">
            <a:off x="-654775" y="758100"/>
            <a:ext cx="4502198" cy="2998450"/>
          </a:xfrm>
          <a:prstGeom prst="rect">
            <a:avLst/>
          </a:prstGeom>
          <a:noFill/>
          <a:ln>
            <a:noFill/>
          </a:ln>
        </p:spPr>
      </p:pic>
      <p:pic>
        <p:nvPicPr>
          <p:cNvPr id="3203" name="Google Shape;3203;p41"/>
          <p:cNvPicPr preferRelativeResize="0"/>
          <p:nvPr/>
        </p:nvPicPr>
        <p:blipFill>
          <a:blip r:embed="rId4"/>
          <a:stretch>
            <a:fillRect/>
          </a:stretch>
        </p:blipFill>
        <p:spPr>
          <a:xfrm>
            <a:off x="7043196" y="421425"/>
            <a:ext cx="1602225" cy="1148801"/>
          </a:xfrm>
          <a:prstGeom prst="rect">
            <a:avLst/>
          </a:prstGeom>
          <a:noFill/>
          <a:ln>
            <a:noFill/>
          </a:ln>
        </p:spPr>
      </p:pic>
      <p:grpSp>
        <p:nvGrpSpPr>
          <p:cNvPr id="3204" name="Google Shape;3204;p41"/>
          <p:cNvGrpSpPr/>
          <p:nvPr/>
        </p:nvGrpSpPr>
        <p:grpSpPr>
          <a:xfrm>
            <a:off x="642904" y="1367691"/>
            <a:ext cx="2227588" cy="726522"/>
            <a:chOff x="3620725" y="372750"/>
            <a:chExt cx="1039375" cy="338989"/>
          </a:xfrm>
        </p:grpSpPr>
        <p:sp>
          <p:nvSpPr>
            <p:cNvPr id="3205" name="Google Shape;3205;p41"/>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41"/>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41"/>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41"/>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41"/>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41"/>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41"/>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41"/>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41"/>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41"/>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41"/>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41"/>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41"/>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41"/>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41"/>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41"/>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41"/>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41"/>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41"/>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41"/>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41"/>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41"/>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41"/>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41"/>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41"/>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41"/>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41"/>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41"/>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41"/>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41"/>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41"/>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41"/>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41"/>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41"/>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41"/>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41"/>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41"/>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2" name="Google Shape;3242;p41"/>
          <p:cNvGrpSpPr/>
          <p:nvPr/>
        </p:nvGrpSpPr>
        <p:grpSpPr>
          <a:xfrm>
            <a:off x="3968933" y="4349219"/>
            <a:ext cx="2227588" cy="326187"/>
            <a:chOff x="2978333" y="5720819"/>
            <a:chExt cx="2227588" cy="326187"/>
          </a:xfrm>
        </p:grpSpPr>
        <p:sp>
          <p:nvSpPr>
            <p:cNvPr id="3243" name="Google Shape;3243;p41"/>
            <p:cNvSpPr/>
            <p:nvPr/>
          </p:nvSpPr>
          <p:spPr>
            <a:xfrm>
              <a:off x="4888849"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41"/>
            <p:cNvSpPr/>
            <p:nvPr/>
          </p:nvSpPr>
          <p:spPr>
            <a:xfrm>
              <a:off x="5079901"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41"/>
            <p:cNvSpPr/>
            <p:nvPr/>
          </p:nvSpPr>
          <p:spPr>
            <a:xfrm>
              <a:off x="4315694"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41"/>
            <p:cNvSpPr/>
            <p:nvPr/>
          </p:nvSpPr>
          <p:spPr>
            <a:xfrm>
              <a:off x="4506746"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41"/>
            <p:cNvSpPr/>
            <p:nvPr/>
          </p:nvSpPr>
          <p:spPr>
            <a:xfrm>
              <a:off x="4124643"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41"/>
            <p:cNvSpPr/>
            <p:nvPr/>
          </p:nvSpPr>
          <p:spPr>
            <a:xfrm>
              <a:off x="4124643" y="592098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41"/>
            <p:cNvSpPr/>
            <p:nvPr/>
          </p:nvSpPr>
          <p:spPr>
            <a:xfrm>
              <a:off x="3742539"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41"/>
            <p:cNvSpPr/>
            <p:nvPr/>
          </p:nvSpPr>
          <p:spPr>
            <a:xfrm>
              <a:off x="3742539" y="592098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41"/>
            <p:cNvSpPr/>
            <p:nvPr/>
          </p:nvSpPr>
          <p:spPr>
            <a:xfrm>
              <a:off x="3933591"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41"/>
            <p:cNvSpPr/>
            <p:nvPr/>
          </p:nvSpPr>
          <p:spPr>
            <a:xfrm>
              <a:off x="3933591" y="592098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41"/>
            <p:cNvSpPr/>
            <p:nvPr/>
          </p:nvSpPr>
          <p:spPr>
            <a:xfrm>
              <a:off x="3551488"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41"/>
            <p:cNvSpPr/>
            <p:nvPr/>
          </p:nvSpPr>
          <p:spPr>
            <a:xfrm>
              <a:off x="3169384" y="592098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41"/>
            <p:cNvSpPr/>
            <p:nvPr/>
          </p:nvSpPr>
          <p:spPr>
            <a:xfrm>
              <a:off x="3360436"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41"/>
            <p:cNvSpPr/>
            <p:nvPr/>
          </p:nvSpPr>
          <p:spPr>
            <a:xfrm>
              <a:off x="3360436" y="592098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41"/>
            <p:cNvSpPr/>
            <p:nvPr/>
          </p:nvSpPr>
          <p:spPr>
            <a:xfrm>
              <a:off x="2978333" y="572081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8" name="Google Shape;3258;p41"/>
          <p:cNvGrpSpPr/>
          <p:nvPr/>
        </p:nvGrpSpPr>
        <p:grpSpPr>
          <a:xfrm>
            <a:off x="1326703" y="3305460"/>
            <a:ext cx="2227589" cy="726958"/>
            <a:chOff x="6972150" y="711750"/>
            <a:chExt cx="1039375" cy="339193"/>
          </a:xfrm>
        </p:grpSpPr>
        <p:sp>
          <p:nvSpPr>
            <p:cNvPr id="3259" name="Google Shape;3259;p41"/>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41"/>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41"/>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41"/>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41"/>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41"/>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41"/>
            <p:cNvSpPr/>
            <p:nvPr/>
          </p:nvSpPr>
          <p:spPr>
            <a:xfrm>
              <a:off x="6972150"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41"/>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41"/>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41"/>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41"/>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41"/>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41"/>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41"/>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41"/>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41"/>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41"/>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41"/>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41"/>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41"/>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41"/>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41"/>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41"/>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41"/>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41"/>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41"/>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41"/>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41"/>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41"/>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41"/>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41"/>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92" name="Google Shape;3292;p41"/>
          <p:cNvPicPr preferRelativeResize="0"/>
          <p:nvPr/>
        </p:nvPicPr>
        <p:blipFill>
          <a:blip r:embed="rId5"/>
          <a:stretch>
            <a:fillRect/>
          </a:stretch>
        </p:blipFill>
        <p:spPr>
          <a:xfrm>
            <a:off x="727561" y="1879010"/>
            <a:ext cx="981245" cy="1241319"/>
          </a:xfrm>
          <a:prstGeom prst="rect">
            <a:avLst/>
          </a:prstGeom>
          <a:noFill/>
          <a:ln>
            <a:noFill/>
          </a:ln>
        </p:spPr>
      </p:pic>
      <p:sp>
        <p:nvSpPr>
          <p:cNvPr id="3293" name="Google Shape;3293;p41"/>
          <p:cNvSpPr/>
          <p:nvPr/>
        </p:nvSpPr>
        <p:spPr>
          <a:xfrm>
            <a:off x="2839762" y="77326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94" name="Google Shape;3294;p41"/>
          <p:cNvGrpSpPr/>
          <p:nvPr/>
        </p:nvGrpSpPr>
        <p:grpSpPr>
          <a:xfrm>
            <a:off x="7459562" y="3973669"/>
            <a:ext cx="317072" cy="126020"/>
            <a:chOff x="4481802" y="1143286"/>
            <a:chExt cx="147943" cy="58800"/>
          </a:xfrm>
        </p:grpSpPr>
        <p:sp>
          <p:nvSpPr>
            <p:cNvPr id="3295" name="Google Shape;3295;p41"/>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41"/>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97" name="Google Shape;3297;p41"/>
          <p:cNvPicPr preferRelativeResize="0"/>
          <p:nvPr/>
        </p:nvPicPr>
        <p:blipFill>
          <a:blip r:embed="rId6"/>
          <a:stretch>
            <a:fillRect/>
          </a:stretch>
        </p:blipFill>
        <p:spPr>
          <a:xfrm>
            <a:off x="1628051" y="1831036"/>
            <a:ext cx="1006125" cy="1327069"/>
          </a:xfrm>
          <a:prstGeom prst="rect">
            <a:avLst/>
          </a:prstGeom>
          <a:noFill/>
          <a:ln>
            <a:noFill/>
          </a:ln>
        </p:spPr>
      </p:pic>
      <p:sp>
        <p:nvSpPr>
          <p:cNvPr id="3298" name="Google Shape;3298;p41"/>
          <p:cNvSpPr txBox="1">
            <a:spLocks noGrp="1"/>
          </p:cNvSpPr>
          <p:nvPr>
            <p:ph type="title"/>
          </p:nvPr>
        </p:nvSpPr>
        <p:spPr>
          <a:xfrm>
            <a:off x="4159984" y="2257325"/>
            <a:ext cx="4502199" cy="1293000"/>
          </a:xfrm>
          <a:prstGeom prst="rect">
            <a:avLst/>
          </a:prstGeom>
        </p:spPr>
        <p:txBody>
          <a:bodyPr spcFirstLastPara="1" wrap="square" lIns="91425" tIns="91425" rIns="91425" bIns="91425" anchor="b" anchorCtr="0">
            <a:noAutofit/>
          </a:bodyPr>
          <a:lstStyle/>
          <a:p>
            <a:pPr algn="l"/>
            <a:r>
              <a:rPr lang="en-PH" sz="4800" b="0" i="0" dirty="0">
                <a:solidFill>
                  <a:schemeClr val="tx1"/>
                </a:solidFill>
                <a:effectLst/>
                <a:latin typeface="Inter"/>
              </a:rPr>
              <a:t>Types of Cybersecurity Threats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03"/>
        <p:cNvGrpSpPr/>
        <p:nvPr/>
      </p:nvGrpSpPr>
      <p:grpSpPr>
        <a:xfrm>
          <a:off x="0" y="0"/>
          <a:ext cx="0" cy="0"/>
          <a:chOff x="0" y="0"/>
          <a:chExt cx="0" cy="0"/>
        </a:xfrm>
      </p:grpSpPr>
      <p:sp>
        <p:nvSpPr>
          <p:cNvPr id="3412" name="Google Shape;3412;p42"/>
          <p:cNvSpPr txBox="1">
            <a:spLocks noGrp="1"/>
          </p:cNvSpPr>
          <p:nvPr>
            <p:ph type="subTitle" idx="1"/>
          </p:nvPr>
        </p:nvSpPr>
        <p:spPr>
          <a:xfrm>
            <a:off x="55142" y="1543895"/>
            <a:ext cx="5846381" cy="710368"/>
          </a:xfrm>
          <a:prstGeom prst="rect">
            <a:avLst/>
          </a:prstGeom>
        </p:spPr>
        <p:txBody>
          <a:bodyPr spcFirstLastPara="1" wrap="square" lIns="91425" tIns="91425" rIns="91425" bIns="91425" anchor="t" anchorCtr="0">
            <a:noAutofit/>
          </a:bodyPr>
          <a:lstStyle/>
          <a:p>
            <a:pPr algn="l"/>
            <a:endParaRPr lang="en-US" b="0" i="0" dirty="0">
              <a:solidFill>
                <a:schemeClr val="tx1"/>
              </a:solidFill>
              <a:effectLst/>
              <a:latin typeface="+mj-lt"/>
            </a:endParaRPr>
          </a:p>
          <a:p>
            <a:pPr algn="l"/>
            <a:r>
              <a:rPr lang="en-US" sz="2400" b="0" i="0" dirty="0">
                <a:solidFill>
                  <a:schemeClr val="tx1"/>
                </a:solidFill>
                <a:effectLst/>
                <a:latin typeface="+mj-lt"/>
              </a:rPr>
              <a:t>Malware infiltrates a system, usually via a link on an untrusted website or email or an unwanted software download. It deploys on the target system, collects sensitive data, manipulates and blocks access to network components, and may destroy data or shut down the system altogether.</a:t>
            </a:r>
          </a:p>
        </p:txBody>
      </p:sp>
      <p:grpSp>
        <p:nvGrpSpPr>
          <p:cNvPr id="3445" name="Google Shape;3445;p42"/>
          <p:cNvGrpSpPr/>
          <p:nvPr/>
        </p:nvGrpSpPr>
        <p:grpSpPr>
          <a:xfrm>
            <a:off x="2978333" y="5720819"/>
            <a:ext cx="2227588" cy="726522"/>
            <a:chOff x="3799000" y="1820400"/>
            <a:chExt cx="1039375" cy="338989"/>
          </a:xfrm>
        </p:grpSpPr>
        <p:sp>
          <p:nvSpPr>
            <p:cNvPr id="3446" name="Google Shape;3446;p42"/>
            <p:cNvSpPr/>
            <p:nvPr/>
          </p:nvSpPr>
          <p:spPr>
            <a:xfrm>
              <a:off x="469043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2"/>
            <p:cNvSpPr/>
            <p:nvPr/>
          </p:nvSpPr>
          <p:spPr>
            <a:xfrm>
              <a:off x="469043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2"/>
            <p:cNvSpPr/>
            <p:nvPr/>
          </p:nvSpPr>
          <p:spPr>
            <a:xfrm>
              <a:off x="477957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2"/>
            <p:cNvSpPr/>
            <p:nvPr/>
          </p:nvSpPr>
          <p:spPr>
            <a:xfrm>
              <a:off x="4601288"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2"/>
            <p:cNvSpPr/>
            <p:nvPr/>
          </p:nvSpPr>
          <p:spPr>
            <a:xfrm>
              <a:off x="442300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42"/>
            <p:cNvSpPr/>
            <p:nvPr/>
          </p:nvSpPr>
          <p:spPr>
            <a:xfrm>
              <a:off x="442300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42"/>
            <p:cNvSpPr/>
            <p:nvPr/>
          </p:nvSpPr>
          <p:spPr>
            <a:xfrm>
              <a:off x="442300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2"/>
            <p:cNvSpPr/>
            <p:nvPr/>
          </p:nvSpPr>
          <p:spPr>
            <a:xfrm>
              <a:off x="451214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42"/>
            <p:cNvSpPr/>
            <p:nvPr/>
          </p:nvSpPr>
          <p:spPr>
            <a:xfrm>
              <a:off x="4512145"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42"/>
            <p:cNvSpPr/>
            <p:nvPr/>
          </p:nvSpPr>
          <p:spPr>
            <a:xfrm>
              <a:off x="4512145"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42"/>
            <p:cNvSpPr/>
            <p:nvPr/>
          </p:nvSpPr>
          <p:spPr>
            <a:xfrm>
              <a:off x="433385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42"/>
            <p:cNvSpPr/>
            <p:nvPr/>
          </p:nvSpPr>
          <p:spPr>
            <a:xfrm>
              <a:off x="4333859"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2"/>
            <p:cNvSpPr/>
            <p:nvPr/>
          </p:nvSpPr>
          <p:spPr>
            <a:xfrm>
              <a:off x="433385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2"/>
            <p:cNvSpPr/>
            <p:nvPr/>
          </p:nvSpPr>
          <p:spPr>
            <a:xfrm>
              <a:off x="433385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2"/>
            <p:cNvSpPr/>
            <p:nvPr/>
          </p:nvSpPr>
          <p:spPr>
            <a:xfrm>
              <a:off x="415557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42"/>
            <p:cNvSpPr/>
            <p:nvPr/>
          </p:nvSpPr>
          <p:spPr>
            <a:xfrm>
              <a:off x="4155572"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42"/>
            <p:cNvSpPr/>
            <p:nvPr/>
          </p:nvSpPr>
          <p:spPr>
            <a:xfrm>
              <a:off x="415557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2"/>
            <p:cNvSpPr/>
            <p:nvPr/>
          </p:nvSpPr>
          <p:spPr>
            <a:xfrm>
              <a:off x="415557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2"/>
            <p:cNvSpPr/>
            <p:nvPr/>
          </p:nvSpPr>
          <p:spPr>
            <a:xfrm>
              <a:off x="424471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2"/>
            <p:cNvSpPr/>
            <p:nvPr/>
          </p:nvSpPr>
          <p:spPr>
            <a:xfrm>
              <a:off x="424471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2"/>
            <p:cNvSpPr/>
            <p:nvPr/>
          </p:nvSpPr>
          <p:spPr>
            <a:xfrm>
              <a:off x="424471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2"/>
            <p:cNvSpPr/>
            <p:nvPr/>
          </p:nvSpPr>
          <p:spPr>
            <a:xfrm>
              <a:off x="424471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2"/>
            <p:cNvSpPr/>
            <p:nvPr/>
          </p:nvSpPr>
          <p:spPr>
            <a:xfrm>
              <a:off x="406642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2"/>
            <p:cNvSpPr/>
            <p:nvPr/>
          </p:nvSpPr>
          <p:spPr>
            <a:xfrm>
              <a:off x="406642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2"/>
            <p:cNvSpPr/>
            <p:nvPr/>
          </p:nvSpPr>
          <p:spPr>
            <a:xfrm>
              <a:off x="406642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2"/>
            <p:cNvSpPr/>
            <p:nvPr/>
          </p:nvSpPr>
          <p:spPr>
            <a:xfrm>
              <a:off x="3888143"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2"/>
            <p:cNvSpPr/>
            <p:nvPr/>
          </p:nvSpPr>
          <p:spPr>
            <a:xfrm>
              <a:off x="3888143"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2"/>
            <p:cNvSpPr/>
            <p:nvPr/>
          </p:nvSpPr>
          <p:spPr>
            <a:xfrm>
              <a:off x="3888143"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2"/>
            <p:cNvSpPr/>
            <p:nvPr/>
          </p:nvSpPr>
          <p:spPr>
            <a:xfrm>
              <a:off x="397728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2"/>
            <p:cNvSpPr/>
            <p:nvPr/>
          </p:nvSpPr>
          <p:spPr>
            <a:xfrm>
              <a:off x="397728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2"/>
            <p:cNvSpPr/>
            <p:nvPr/>
          </p:nvSpPr>
          <p:spPr>
            <a:xfrm>
              <a:off x="397728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2"/>
            <p:cNvSpPr/>
            <p:nvPr/>
          </p:nvSpPr>
          <p:spPr>
            <a:xfrm>
              <a:off x="397728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2"/>
            <p:cNvSpPr/>
            <p:nvPr/>
          </p:nvSpPr>
          <p:spPr>
            <a:xfrm>
              <a:off x="3799000"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2"/>
            <p:cNvSpPr/>
            <p:nvPr/>
          </p:nvSpPr>
          <p:spPr>
            <a:xfrm>
              <a:off x="3799000"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2"/>
            <p:cNvSpPr/>
            <p:nvPr/>
          </p:nvSpPr>
          <p:spPr>
            <a:xfrm>
              <a:off x="3799000"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2"/>
            <p:cNvSpPr/>
            <p:nvPr/>
          </p:nvSpPr>
          <p:spPr>
            <a:xfrm>
              <a:off x="3799000"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3" name="Google Shape;3483;p42"/>
          <p:cNvGrpSpPr/>
          <p:nvPr/>
        </p:nvGrpSpPr>
        <p:grpSpPr>
          <a:xfrm>
            <a:off x="7732483" y="2542730"/>
            <a:ext cx="2227588" cy="726522"/>
            <a:chOff x="5608450" y="1680311"/>
            <a:chExt cx="1039375" cy="338989"/>
          </a:xfrm>
        </p:grpSpPr>
        <p:sp>
          <p:nvSpPr>
            <p:cNvPr id="3484" name="Google Shape;3484;p42"/>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2"/>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2"/>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2"/>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2"/>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2"/>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2"/>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2"/>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2"/>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2"/>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2"/>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2"/>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2"/>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2"/>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2"/>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2"/>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2"/>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2"/>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2"/>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2"/>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2"/>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2"/>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2"/>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2"/>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2"/>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2"/>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2"/>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2"/>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2"/>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2"/>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2"/>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2"/>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2"/>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2"/>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2"/>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2"/>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p:cNvSpPr/>
          <p:nvPr/>
        </p:nvSpPr>
        <p:spPr>
          <a:xfrm>
            <a:off x="6199956" y="1287259"/>
            <a:ext cx="2741846" cy="33116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1800" b="1" i="0" dirty="0">
                <a:solidFill>
                  <a:srgbClr val="000000"/>
                </a:solidFill>
                <a:effectLst/>
                <a:latin typeface="Inter"/>
              </a:rPr>
              <a:t>Viruses</a:t>
            </a:r>
          </a:p>
          <a:p>
            <a:pPr algn="ctr"/>
            <a:r>
              <a:rPr lang="en-PH" sz="1800" b="1" i="0" dirty="0">
                <a:solidFill>
                  <a:srgbClr val="000000"/>
                </a:solidFill>
                <a:effectLst/>
                <a:latin typeface="Inter"/>
              </a:rPr>
              <a:t>Worms</a:t>
            </a:r>
            <a:endParaRPr lang="en-PH" sz="1800" b="1" dirty="0">
              <a:solidFill>
                <a:srgbClr val="000000"/>
              </a:solidFill>
              <a:latin typeface="Inter"/>
            </a:endParaRPr>
          </a:p>
          <a:p>
            <a:pPr algn="ctr"/>
            <a:r>
              <a:rPr lang="en-PH" sz="1800" b="1" i="0" dirty="0">
                <a:solidFill>
                  <a:srgbClr val="000000"/>
                </a:solidFill>
                <a:effectLst/>
                <a:latin typeface="Inter"/>
              </a:rPr>
              <a:t>Trojan</a:t>
            </a:r>
          </a:p>
          <a:p>
            <a:pPr algn="ctr"/>
            <a:r>
              <a:rPr lang="en-PH" sz="1800" b="1" dirty="0">
                <a:solidFill>
                  <a:srgbClr val="000000"/>
                </a:solidFill>
                <a:latin typeface="Inter"/>
              </a:rPr>
              <a:t>Ransomware</a:t>
            </a:r>
          </a:p>
          <a:p>
            <a:pPr algn="ctr"/>
            <a:r>
              <a:rPr lang="en-PH" sz="1800" b="1" i="0" dirty="0">
                <a:solidFill>
                  <a:srgbClr val="000000"/>
                </a:solidFill>
                <a:effectLst/>
                <a:latin typeface="Inter"/>
              </a:rPr>
              <a:t>Cryptojacking</a:t>
            </a:r>
          </a:p>
          <a:p>
            <a:pPr algn="ctr"/>
            <a:r>
              <a:rPr lang="en-PH" sz="1800" b="1" dirty="0">
                <a:solidFill>
                  <a:srgbClr val="000000"/>
                </a:solidFill>
                <a:latin typeface="Inter"/>
              </a:rPr>
              <a:t>Spyware</a:t>
            </a:r>
          </a:p>
          <a:p>
            <a:pPr algn="ctr"/>
            <a:r>
              <a:rPr lang="en-PH" sz="1800" b="1" dirty="0">
                <a:solidFill>
                  <a:srgbClr val="000000"/>
                </a:solidFill>
                <a:latin typeface="Inter"/>
              </a:rPr>
              <a:t>Adware</a:t>
            </a:r>
          </a:p>
          <a:p>
            <a:pPr algn="ctr"/>
            <a:r>
              <a:rPr lang="en-PH" sz="1800" b="1" i="0" dirty="0">
                <a:solidFill>
                  <a:srgbClr val="000000"/>
                </a:solidFill>
                <a:effectLst/>
                <a:latin typeface="Inter"/>
              </a:rPr>
              <a:t>Fileless malware</a:t>
            </a:r>
          </a:p>
          <a:p>
            <a:pPr algn="ctr"/>
            <a:r>
              <a:rPr lang="en-PH" sz="1800" b="1" dirty="0">
                <a:solidFill>
                  <a:srgbClr val="000000"/>
                </a:solidFill>
                <a:latin typeface="Inter"/>
              </a:rPr>
              <a:t>Rootkits</a:t>
            </a:r>
          </a:p>
          <a:p>
            <a:pPr algn="ctr"/>
            <a:endParaRPr lang="en-PH" b="1" i="0" dirty="0">
              <a:solidFill>
                <a:srgbClr val="000000"/>
              </a:solidFill>
              <a:effectLst/>
              <a:latin typeface="Inter"/>
            </a:endParaRPr>
          </a:p>
          <a:p>
            <a:pPr algn="ctr"/>
            <a:endParaRPr lang="en-PH" dirty="0"/>
          </a:p>
        </p:txBody>
      </p:sp>
      <p:pic>
        <p:nvPicPr>
          <p:cNvPr id="8" name="Picture 7"/>
          <p:cNvPicPr>
            <a:picLocks noChangeAspect="1"/>
          </p:cNvPicPr>
          <p:nvPr/>
        </p:nvPicPr>
        <p:blipFill>
          <a:blip r:embed="rId3"/>
          <a:stretch>
            <a:fillRect/>
          </a:stretch>
        </p:blipFill>
        <p:spPr>
          <a:xfrm>
            <a:off x="0" y="0"/>
            <a:ext cx="1546994" cy="15622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2" grpId="0" build="p"/>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03"/>
        <p:cNvGrpSpPr/>
        <p:nvPr/>
      </p:nvGrpSpPr>
      <p:grpSpPr>
        <a:xfrm>
          <a:off x="0" y="0"/>
          <a:ext cx="0" cy="0"/>
          <a:chOff x="0" y="0"/>
          <a:chExt cx="0" cy="0"/>
        </a:xfrm>
      </p:grpSpPr>
      <p:sp>
        <p:nvSpPr>
          <p:cNvPr id="3412" name="Google Shape;3412;p42"/>
          <p:cNvSpPr txBox="1">
            <a:spLocks noGrp="1"/>
          </p:cNvSpPr>
          <p:nvPr>
            <p:ph type="subTitle" idx="1"/>
          </p:nvPr>
        </p:nvSpPr>
        <p:spPr>
          <a:xfrm>
            <a:off x="55142" y="1543895"/>
            <a:ext cx="5846381" cy="710368"/>
          </a:xfrm>
          <a:prstGeom prst="rect">
            <a:avLst/>
          </a:prstGeom>
        </p:spPr>
        <p:txBody>
          <a:bodyPr spcFirstLastPara="1" wrap="square" lIns="91425" tIns="91425" rIns="91425" bIns="91425" anchor="t" anchorCtr="0">
            <a:noAutofit/>
          </a:bodyPr>
          <a:lstStyle/>
          <a:p>
            <a:pPr algn="l"/>
            <a:r>
              <a:rPr lang="en-US" sz="2400" b="0" i="0" dirty="0">
                <a:solidFill>
                  <a:schemeClr val="tx1"/>
                </a:solidFill>
                <a:effectLst/>
                <a:latin typeface="+mj-lt"/>
              </a:rPr>
              <a:t> involves tricking users into providing an entry point for malware. The victim provides sensitive information or unwittingly installs malware on their device, because the attacker poses as a legitimate actor.</a:t>
            </a:r>
          </a:p>
        </p:txBody>
      </p:sp>
      <p:grpSp>
        <p:nvGrpSpPr>
          <p:cNvPr id="3445" name="Google Shape;3445;p42"/>
          <p:cNvGrpSpPr/>
          <p:nvPr/>
        </p:nvGrpSpPr>
        <p:grpSpPr>
          <a:xfrm>
            <a:off x="2978333" y="5720819"/>
            <a:ext cx="2227588" cy="726522"/>
            <a:chOff x="3799000" y="1820400"/>
            <a:chExt cx="1039375" cy="338989"/>
          </a:xfrm>
        </p:grpSpPr>
        <p:sp>
          <p:nvSpPr>
            <p:cNvPr id="3446" name="Google Shape;3446;p42"/>
            <p:cNvSpPr/>
            <p:nvPr/>
          </p:nvSpPr>
          <p:spPr>
            <a:xfrm>
              <a:off x="469043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2"/>
            <p:cNvSpPr/>
            <p:nvPr/>
          </p:nvSpPr>
          <p:spPr>
            <a:xfrm>
              <a:off x="469043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2"/>
            <p:cNvSpPr/>
            <p:nvPr/>
          </p:nvSpPr>
          <p:spPr>
            <a:xfrm>
              <a:off x="477957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2"/>
            <p:cNvSpPr/>
            <p:nvPr/>
          </p:nvSpPr>
          <p:spPr>
            <a:xfrm>
              <a:off x="4601288"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2"/>
            <p:cNvSpPr/>
            <p:nvPr/>
          </p:nvSpPr>
          <p:spPr>
            <a:xfrm>
              <a:off x="442300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42"/>
            <p:cNvSpPr/>
            <p:nvPr/>
          </p:nvSpPr>
          <p:spPr>
            <a:xfrm>
              <a:off x="442300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42"/>
            <p:cNvSpPr/>
            <p:nvPr/>
          </p:nvSpPr>
          <p:spPr>
            <a:xfrm>
              <a:off x="442300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2"/>
            <p:cNvSpPr/>
            <p:nvPr/>
          </p:nvSpPr>
          <p:spPr>
            <a:xfrm>
              <a:off x="451214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42"/>
            <p:cNvSpPr/>
            <p:nvPr/>
          </p:nvSpPr>
          <p:spPr>
            <a:xfrm>
              <a:off x="4512145"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42"/>
            <p:cNvSpPr/>
            <p:nvPr/>
          </p:nvSpPr>
          <p:spPr>
            <a:xfrm>
              <a:off x="4512145"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42"/>
            <p:cNvSpPr/>
            <p:nvPr/>
          </p:nvSpPr>
          <p:spPr>
            <a:xfrm>
              <a:off x="433385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42"/>
            <p:cNvSpPr/>
            <p:nvPr/>
          </p:nvSpPr>
          <p:spPr>
            <a:xfrm>
              <a:off x="4333859"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2"/>
            <p:cNvSpPr/>
            <p:nvPr/>
          </p:nvSpPr>
          <p:spPr>
            <a:xfrm>
              <a:off x="433385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2"/>
            <p:cNvSpPr/>
            <p:nvPr/>
          </p:nvSpPr>
          <p:spPr>
            <a:xfrm>
              <a:off x="433385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2"/>
            <p:cNvSpPr/>
            <p:nvPr/>
          </p:nvSpPr>
          <p:spPr>
            <a:xfrm>
              <a:off x="415557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42"/>
            <p:cNvSpPr/>
            <p:nvPr/>
          </p:nvSpPr>
          <p:spPr>
            <a:xfrm>
              <a:off x="4155572"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42"/>
            <p:cNvSpPr/>
            <p:nvPr/>
          </p:nvSpPr>
          <p:spPr>
            <a:xfrm>
              <a:off x="415557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2"/>
            <p:cNvSpPr/>
            <p:nvPr/>
          </p:nvSpPr>
          <p:spPr>
            <a:xfrm>
              <a:off x="415557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2"/>
            <p:cNvSpPr/>
            <p:nvPr/>
          </p:nvSpPr>
          <p:spPr>
            <a:xfrm>
              <a:off x="424471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2"/>
            <p:cNvSpPr/>
            <p:nvPr/>
          </p:nvSpPr>
          <p:spPr>
            <a:xfrm>
              <a:off x="424471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2"/>
            <p:cNvSpPr/>
            <p:nvPr/>
          </p:nvSpPr>
          <p:spPr>
            <a:xfrm>
              <a:off x="424471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2"/>
            <p:cNvSpPr/>
            <p:nvPr/>
          </p:nvSpPr>
          <p:spPr>
            <a:xfrm>
              <a:off x="424471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2"/>
            <p:cNvSpPr/>
            <p:nvPr/>
          </p:nvSpPr>
          <p:spPr>
            <a:xfrm>
              <a:off x="406642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2"/>
            <p:cNvSpPr/>
            <p:nvPr/>
          </p:nvSpPr>
          <p:spPr>
            <a:xfrm>
              <a:off x="406642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2"/>
            <p:cNvSpPr/>
            <p:nvPr/>
          </p:nvSpPr>
          <p:spPr>
            <a:xfrm>
              <a:off x="406642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2"/>
            <p:cNvSpPr/>
            <p:nvPr/>
          </p:nvSpPr>
          <p:spPr>
            <a:xfrm>
              <a:off x="3888143"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2"/>
            <p:cNvSpPr/>
            <p:nvPr/>
          </p:nvSpPr>
          <p:spPr>
            <a:xfrm>
              <a:off x="3888143"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2"/>
            <p:cNvSpPr/>
            <p:nvPr/>
          </p:nvSpPr>
          <p:spPr>
            <a:xfrm>
              <a:off x="3888143"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2"/>
            <p:cNvSpPr/>
            <p:nvPr/>
          </p:nvSpPr>
          <p:spPr>
            <a:xfrm>
              <a:off x="397728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2"/>
            <p:cNvSpPr/>
            <p:nvPr/>
          </p:nvSpPr>
          <p:spPr>
            <a:xfrm>
              <a:off x="397728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2"/>
            <p:cNvSpPr/>
            <p:nvPr/>
          </p:nvSpPr>
          <p:spPr>
            <a:xfrm>
              <a:off x="397728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2"/>
            <p:cNvSpPr/>
            <p:nvPr/>
          </p:nvSpPr>
          <p:spPr>
            <a:xfrm>
              <a:off x="397728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2"/>
            <p:cNvSpPr/>
            <p:nvPr/>
          </p:nvSpPr>
          <p:spPr>
            <a:xfrm>
              <a:off x="3799000"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2"/>
            <p:cNvSpPr/>
            <p:nvPr/>
          </p:nvSpPr>
          <p:spPr>
            <a:xfrm>
              <a:off x="3799000"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2"/>
            <p:cNvSpPr/>
            <p:nvPr/>
          </p:nvSpPr>
          <p:spPr>
            <a:xfrm>
              <a:off x="3799000"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2"/>
            <p:cNvSpPr/>
            <p:nvPr/>
          </p:nvSpPr>
          <p:spPr>
            <a:xfrm>
              <a:off x="3799000"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3" name="Google Shape;3483;p42"/>
          <p:cNvGrpSpPr/>
          <p:nvPr/>
        </p:nvGrpSpPr>
        <p:grpSpPr>
          <a:xfrm>
            <a:off x="7732483" y="2542730"/>
            <a:ext cx="2227588" cy="726522"/>
            <a:chOff x="5608450" y="1680311"/>
            <a:chExt cx="1039375" cy="338989"/>
          </a:xfrm>
        </p:grpSpPr>
        <p:sp>
          <p:nvSpPr>
            <p:cNvPr id="3484" name="Google Shape;3484;p42"/>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2"/>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2"/>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2"/>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2"/>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2"/>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2"/>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2"/>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2"/>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2"/>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2"/>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2"/>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2"/>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2"/>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2"/>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2"/>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2"/>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2"/>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2"/>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2"/>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2"/>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2"/>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2"/>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2"/>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2"/>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2"/>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2"/>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2"/>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2"/>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2"/>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2"/>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2"/>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2"/>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2"/>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2"/>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2"/>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p:cNvSpPr/>
          <p:nvPr/>
        </p:nvSpPr>
        <p:spPr>
          <a:xfrm>
            <a:off x="6199956" y="1287259"/>
            <a:ext cx="2741846" cy="33116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rgbClr val="000000"/>
                </a:solidFill>
                <a:effectLst/>
                <a:latin typeface="Inter"/>
              </a:rPr>
              <a:t>Baiting</a:t>
            </a:r>
          </a:p>
          <a:p>
            <a:pPr algn="ctr"/>
            <a:r>
              <a:rPr lang="en-US" sz="1800" b="1" i="0" dirty="0">
                <a:solidFill>
                  <a:srgbClr val="000000"/>
                </a:solidFill>
                <a:effectLst/>
                <a:latin typeface="Inter"/>
              </a:rPr>
              <a:t>Pretexting</a:t>
            </a:r>
          </a:p>
          <a:p>
            <a:pPr algn="ctr"/>
            <a:r>
              <a:rPr lang="en-US" sz="1800" b="1" i="0" dirty="0">
                <a:solidFill>
                  <a:srgbClr val="000000"/>
                </a:solidFill>
                <a:effectLst/>
                <a:latin typeface="Inter"/>
              </a:rPr>
              <a:t>Phishing</a:t>
            </a:r>
          </a:p>
          <a:p>
            <a:pPr algn="ctr"/>
            <a:r>
              <a:rPr lang="en-US" sz="1800" b="1" i="0" dirty="0">
                <a:solidFill>
                  <a:srgbClr val="000000"/>
                </a:solidFill>
                <a:effectLst/>
                <a:latin typeface="Inter"/>
              </a:rPr>
              <a:t>Vishing (voice phishing)</a:t>
            </a:r>
          </a:p>
          <a:p>
            <a:pPr algn="ctr"/>
            <a:r>
              <a:rPr lang="en-US" sz="1800" b="1" i="0" dirty="0">
                <a:solidFill>
                  <a:srgbClr val="000000"/>
                </a:solidFill>
                <a:effectLst/>
                <a:latin typeface="Inter"/>
              </a:rPr>
              <a:t>Smishing</a:t>
            </a:r>
          </a:p>
          <a:p>
            <a:pPr algn="ctr"/>
            <a:r>
              <a:rPr lang="en-US" sz="1800" b="1" i="0" dirty="0">
                <a:solidFill>
                  <a:srgbClr val="000000"/>
                </a:solidFill>
                <a:effectLst/>
                <a:latin typeface="Inter"/>
              </a:rPr>
              <a:t>Piggybacking</a:t>
            </a:r>
          </a:p>
          <a:p>
            <a:pPr algn="ctr"/>
            <a:r>
              <a:rPr lang="en-US" sz="1800" b="1" i="0" dirty="0">
                <a:solidFill>
                  <a:srgbClr val="000000"/>
                </a:solidFill>
                <a:effectLst/>
                <a:latin typeface="Inter"/>
              </a:rPr>
              <a:t>Tailgating</a:t>
            </a:r>
            <a:endParaRPr lang="en-PH" b="1" i="0" dirty="0">
              <a:solidFill>
                <a:srgbClr val="000000"/>
              </a:solidFill>
              <a:effectLst/>
              <a:latin typeface="Inter"/>
            </a:endParaRPr>
          </a:p>
          <a:p>
            <a:pPr algn="ctr"/>
            <a:endParaRPr lang="en-PH" dirty="0"/>
          </a:p>
        </p:txBody>
      </p:sp>
      <p:pic>
        <p:nvPicPr>
          <p:cNvPr id="3" name="Picture 2"/>
          <p:cNvPicPr>
            <a:picLocks noChangeAspect="1"/>
          </p:cNvPicPr>
          <p:nvPr/>
        </p:nvPicPr>
        <p:blipFill>
          <a:blip r:embed="rId3"/>
          <a:stretch>
            <a:fillRect/>
          </a:stretch>
        </p:blipFill>
        <p:spPr>
          <a:xfrm>
            <a:off x="-24714" y="-310"/>
            <a:ext cx="1841157" cy="15390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2" grpId="0" build="p"/>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03"/>
        <p:cNvGrpSpPr/>
        <p:nvPr/>
      </p:nvGrpSpPr>
      <p:grpSpPr>
        <a:xfrm>
          <a:off x="0" y="0"/>
          <a:ext cx="0" cy="0"/>
          <a:chOff x="0" y="0"/>
          <a:chExt cx="0" cy="0"/>
        </a:xfrm>
      </p:grpSpPr>
      <p:sp>
        <p:nvSpPr>
          <p:cNvPr id="3412" name="Google Shape;3412;p42"/>
          <p:cNvSpPr txBox="1">
            <a:spLocks noGrp="1"/>
          </p:cNvSpPr>
          <p:nvPr>
            <p:ph type="subTitle" idx="1"/>
          </p:nvPr>
        </p:nvSpPr>
        <p:spPr>
          <a:xfrm>
            <a:off x="55142" y="1543895"/>
            <a:ext cx="5846381" cy="3311610"/>
          </a:xfrm>
          <a:prstGeom prst="rect">
            <a:avLst/>
          </a:prstGeom>
        </p:spPr>
        <p:txBody>
          <a:bodyPr spcFirstLastPara="1" wrap="square" lIns="91425" tIns="91425" rIns="91425" bIns="91425" anchor="t" anchorCtr="0">
            <a:noAutofit/>
          </a:bodyPr>
          <a:lstStyle/>
          <a:p>
            <a:pPr algn="l"/>
            <a:r>
              <a:rPr lang="en-US" sz="2400" b="0" i="0" dirty="0">
                <a:solidFill>
                  <a:schemeClr val="tx1"/>
                </a:solidFill>
                <a:effectLst/>
                <a:latin typeface="+mj-lt"/>
              </a:rPr>
              <a:t> </a:t>
            </a:r>
            <a:r>
              <a:rPr lang="en-US" sz="2400" b="0" i="0" dirty="0">
                <a:solidFill>
                  <a:schemeClr val="tx1"/>
                </a:solidFill>
                <a:effectLst/>
                <a:latin typeface="Inter"/>
              </a:rPr>
              <a:t>A </a:t>
            </a:r>
            <a:r>
              <a:rPr lang="en-US" sz="2400" b="0" i="0" u="none" strike="noStrike" dirty="0">
                <a:solidFill>
                  <a:schemeClr val="tx1"/>
                </a:solidFill>
                <a:effectLst/>
                <a:latin typeface="Inter"/>
                <a:hlinkClick r:id="rId3"/>
              </a:rPr>
              <a:t>Man-in-the-Middle (MitM) attack</a:t>
            </a:r>
            <a:r>
              <a:rPr lang="en-US" sz="2400" b="0" i="0" dirty="0">
                <a:solidFill>
                  <a:schemeClr val="tx1"/>
                </a:solidFill>
                <a:effectLst/>
                <a:latin typeface="Inter"/>
              </a:rPr>
              <a:t> involves intercepting the communication between two endpoints, such as a user and an application. The attacker can eavesdrop on the communication, steal sensitive data, and impersonate each party participating in the communication.</a:t>
            </a:r>
            <a:endParaRPr lang="en-US" sz="2400" b="0" i="0" dirty="0">
              <a:solidFill>
                <a:schemeClr val="tx1"/>
              </a:solidFill>
              <a:effectLst/>
              <a:latin typeface="+mj-lt"/>
            </a:endParaRPr>
          </a:p>
        </p:txBody>
      </p:sp>
      <p:grpSp>
        <p:nvGrpSpPr>
          <p:cNvPr id="3445" name="Google Shape;3445;p42"/>
          <p:cNvGrpSpPr/>
          <p:nvPr/>
        </p:nvGrpSpPr>
        <p:grpSpPr>
          <a:xfrm>
            <a:off x="2978333" y="5720819"/>
            <a:ext cx="2227588" cy="726522"/>
            <a:chOff x="3799000" y="1820400"/>
            <a:chExt cx="1039375" cy="338989"/>
          </a:xfrm>
        </p:grpSpPr>
        <p:sp>
          <p:nvSpPr>
            <p:cNvPr id="3446" name="Google Shape;3446;p42"/>
            <p:cNvSpPr/>
            <p:nvPr/>
          </p:nvSpPr>
          <p:spPr>
            <a:xfrm>
              <a:off x="469043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2"/>
            <p:cNvSpPr/>
            <p:nvPr/>
          </p:nvSpPr>
          <p:spPr>
            <a:xfrm>
              <a:off x="469043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2"/>
            <p:cNvSpPr/>
            <p:nvPr/>
          </p:nvSpPr>
          <p:spPr>
            <a:xfrm>
              <a:off x="477957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2"/>
            <p:cNvSpPr/>
            <p:nvPr/>
          </p:nvSpPr>
          <p:spPr>
            <a:xfrm>
              <a:off x="4601288"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2"/>
            <p:cNvSpPr/>
            <p:nvPr/>
          </p:nvSpPr>
          <p:spPr>
            <a:xfrm>
              <a:off x="442300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42"/>
            <p:cNvSpPr/>
            <p:nvPr/>
          </p:nvSpPr>
          <p:spPr>
            <a:xfrm>
              <a:off x="442300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42"/>
            <p:cNvSpPr/>
            <p:nvPr/>
          </p:nvSpPr>
          <p:spPr>
            <a:xfrm>
              <a:off x="442300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2"/>
            <p:cNvSpPr/>
            <p:nvPr/>
          </p:nvSpPr>
          <p:spPr>
            <a:xfrm>
              <a:off x="451214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42"/>
            <p:cNvSpPr/>
            <p:nvPr/>
          </p:nvSpPr>
          <p:spPr>
            <a:xfrm>
              <a:off x="4512145"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42"/>
            <p:cNvSpPr/>
            <p:nvPr/>
          </p:nvSpPr>
          <p:spPr>
            <a:xfrm>
              <a:off x="4512145"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42"/>
            <p:cNvSpPr/>
            <p:nvPr/>
          </p:nvSpPr>
          <p:spPr>
            <a:xfrm>
              <a:off x="433385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42"/>
            <p:cNvSpPr/>
            <p:nvPr/>
          </p:nvSpPr>
          <p:spPr>
            <a:xfrm>
              <a:off x="4333859"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2"/>
            <p:cNvSpPr/>
            <p:nvPr/>
          </p:nvSpPr>
          <p:spPr>
            <a:xfrm>
              <a:off x="433385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2"/>
            <p:cNvSpPr/>
            <p:nvPr/>
          </p:nvSpPr>
          <p:spPr>
            <a:xfrm>
              <a:off x="433385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2"/>
            <p:cNvSpPr/>
            <p:nvPr/>
          </p:nvSpPr>
          <p:spPr>
            <a:xfrm>
              <a:off x="415557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42"/>
            <p:cNvSpPr/>
            <p:nvPr/>
          </p:nvSpPr>
          <p:spPr>
            <a:xfrm>
              <a:off x="4155572"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42"/>
            <p:cNvSpPr/>
            <p:nvPr/>
          </p:nvSpPr>
          <p:spPr>
            <a:xfrm>
              <a:off x="415557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2"/>
            <p:cNvSpPr/>
            <p:nvPr/>
          </p:nvSpPr>
          <p:spPr>
            <a:xfrm>
              <a:off x="415557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2"/>
            <p:cNvSpPr/>
            <p:nvPr/>
          </p:nvSpPr>
          <p:spPr>
            <a:xfrm>
              <a:off x="424471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2"/>
            <p:cNvSpPr/>
            <p:nvPr/>
          </p:nvSpPr>
          <p:spPr>
            <a:xfrm>
              <a:off x="424471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2"/>
            <p:cNvSpPr/>
            <p:nvPr/>
          </p:nvSpPr>
          <p:spPr>
            <a:xfrm>
              <a:off x="424471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2"/>
            <p:cNvSpPr/>
            <p:nvPr/>
          </p:nvSpPr>
          <p:spPr>
            <a:xfrm>
              <a:off x="424471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2"/>
            <p:cNvSpPr/>
            <p:nvPr/>
          </p:nvSpPr>
          <p:spPr>
            <a:xfrm>
              <a:off x="406642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2"/>
            <p:cNvSpPr/>
            <p:nvPr/>
          </p:nvSpPr>
          <p:spPr>
            <a:xfrm>
              <a:off x="406642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2"/>
            <p:cNvSpPr/>
            <p:nvPr/>
          </p:nvSpPr>
          <p:spPr>
            <a:xfrm>
              <a:off x="406642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2"/>
            <p:cNvSpPr/>
            <p:nvPr/>
          </p:nvSpPr>
          <p:spPr>
            <a:xfrm>
              <a:off x="3888143"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2"/>
            <p:cNvSpPr/>
            <p:nvPr/>
          </p:nvSpPr>
          <p:spPr>
            <a:xfrm>
              <a:off x="3888143"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2"/>
            <p:cNvSpPr/>
            <p:nvPr/>
          </p:nvSpPr>
          <p:spPr>
            <a:xfrm>
              <a:off x="3888143"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2"/>
            <p:cNvSpPr/>
            <p:nvPr/>
          </p:nvSpPr>
          <p:spPr>
            <a:xfrm>
              <a:off x="397728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2"/>
            <p:cNvSpPr/>
            <p:nvPr/>
          </p:nvSpPr>
          <p:spPr>
            <a:xfrm>
              <a:off x="397728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2"/>
            <p:cNvSpPr/>
            <p:nvPr/>
          </p:nvSpPr>
          <p:spPr>
            <a:xfrm>
              <a:off x="397728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2"/>
            <p:cNvSpPr/>
            <p:nvPr/>
          </p:nvSpPr>
          <p:spPr>
            <a:xfrm>
              <a:off x="397728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2"/>
            <p:cNvSpPr/>
            <p:nvPr/>
          </p:nvSpPr>
          <p:spPr>
            <a:xfrm>
              <a:off x="3799000"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2"/>
            <p:cNvSpPr/>
            <p:nvPr/>
          </p:nvSpPr>
          <p:spPr>
            <a:xfrm>
              <a:off x="3799000"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2"/>
            <p:cNvSpPr/>
            <p:nvPr/>
          </p:nvSpPr>
          <p:spPr>
            <a:xfrm>
              <a:off x="3799000"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2"/>
            <p:cNvSpPr/>
            <p:nvPr/>
          </p:nvSpPr>
          <p:spPr>
            <a:xfrm>
              <a:off x="3799000"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3" name="Google Shape;3483;p42"/>
          <p:cNvGrpSpPr/>
          <p:nvPr/>
        </p:nvGrpSpPr>
        <p:grpSpPr>
          <a:xfrm>
            <a:off x="7732483" y="2542730"/>
            <a:ext cx="2227588" cy="726522"/>
            <a:chOff x="5608450" y="1680311"/>
            <a:chExt cx="1039375" cy="338989"/>
          </a:xfrm>
        </p:grpSpPr>
        <p:sp>
          <p:nvSpPr>
            <p:cNvPr id="3484" name="Google Shape;3484;p42"/>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2"/>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2"/>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2"/>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2"/>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2"/>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2"/>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2"/>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2"/>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2"/>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2"/>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2"/>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2"/>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2"/>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2"/>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2"/>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2"/>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2"/>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2"/>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2"/>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2"/>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2"/>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2"/>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2"/>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2"/>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2"/>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2"/>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2"/>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2"/>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2"/>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2"/>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2"/>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2"/>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2"/>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2"/>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2"/>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p:cNvSpPr/>
          <p:nvPr/>
        </p:nvSpPr>
        <p:spPr>
          <a:xfrm>
            <a:off x="6199956" y="1287259"/>
            <a:ext cx="2741846" cy="33116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rgbClr val="000000"/>
                </a:solidFill>
                <a:effectLst/>
                <a:latin typeface="Inter"/>
              </a:rPr>
              <a:t>Wi-Fi</a:t>
            </a:r>
          </a:p>
          <a:p>
            <a:pPr algn="ctr"/>
            <a:r>
              <a:rPr lang="en-US" sz="1800" b="1" i="0" dirty="0">
                <a:solidFill>
                  <a:srgbClr val="000000"/>
                </a:solidFill>
                <a:effectLst/>
                <a:latin typeface="Inter"/>
              </a:rPr>
              <a:t>eavesdropping</a:t>
            </a:r>
          </a:p>
          <a:p>
            <a:pPr algn="ctr"/>
            <a:r>
              <a:rPr lang="en-US" sz="1800" b="1" i="0" dirty="0">
                <a:solidFill>
                  <a:srgbClr val="000000"/>
                </a:solidFill>
                <a:effectLst/>
                <a:latin typeface="Inter"/>
              </a:rPr>
              <a:t>Email hijacking</a:t>
            </a:r>
          </a:p>
          <a:p>
            <a:pPr algn="ctr"/>
            <a:r>
              <a:rPr lang="en-US" sz="1800" b="1" i="0" dirty="0">
                <a:solidFill>
                  <a:srgbClr val="000000"/>
                </a:solidFill>
                <a:effectLst/>
                <a:latin typeface="Inter"/>
              </a:rPr>
              <a:t>DNS spoofing</a:t>
            </a:r>
          </a:p>
          <a:p>
            <a:pPr algn="ctr"/>
            <a:r>
              <a:rPr lang="en-US" sz="1800" b="1" i="0" dirty="0">
                <a:solidFill>
                  <a:srgbClr val="000000"/>
                </a:solidFill>
                <a:effectLst/>
                <a:latin typeface="Inter"/>
              </a:rPr>
              <a:t>IP spoofing</a:t>
            </a:r>
          </a:p>
          <a:p>
            <a:pPr algn="ctr"/>
            <a:r>
              <a:rPr lang="en-US" sz="1800" b="1" i="0" dirty="0">
                <a:solidFill>
                  <a:srgbClr val="000000"/>
                </a:solidFill>
                <a:effectLst/>
                <a:latin typeface="Inter"/>
              </a:rPr>
              <a:t>HTTPS spoofing</a:t>
            </a:r>
            <a:endParaRPr lang="en-PH" dirty="0"/>
          </a:p>
        </p:txBody>
      </p:sp>
      <p:pic>
        <p:nvPicPr>
          <p:cNvPr id="5" name="Picture 4"/>
          <p:cNvPicPr>
            <a:picLocks noChangeAspect="1"/>
          </p:cNvPicPr>
          <p:nvPr/>
        </p:nvPicPr>
        <p:blipFill>
          <a:blip r:embed="rId4"/>
          <a:stretch>
            <a:fillRect/>
          </a:stretch>
        </p:blipFill>
        <p:spPr>
          <a:xfrm>
            <a:off x="0" y="0"/>
            <a:ext cx="1816443" cy="13835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2" grpId="0" build="p"/>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03"/>
        <p:cNvGrpSpPr/>
        <p:nvPr/>
      </p:nvGrpSpPr>
      <p:grpSpPr>
        <a:xfrm>
          <a:off x="0" y="0"/>
          <a:ext cx="0" cy="0"/>
          <a:chOff x="0" y="0"/>
          <a:chExt cx="0" cy="0"/>
        </a:xfrm>
      </p:grpSpPr>
      <p:sp>
        <p:nvSpPr>
          <p:cNvPr id="3412" name="Google Shape;3412;p42"/>
          <p:cNvSpPr txBox="1">
            <a:spLocks noGrp="1"/>
          </p:cNvSpPr>
          <p:nvPr>
            <p:ph type="subTitle" idx="1"/>
          </p:nvPr>
        </p:nvSpPr>
        <p:spPr>
          <a:xfrm>
            <a:off x="55142" y="1543895"/>
            <a:ext cx="5846381" cy="3311610"/>
          </a:xfrm>
          <a:prstGeom prst="rect">
            <a:avLst/>
          </a:prstGeom>
        </p:spPr>
        <p:txBody>
          <a:bodyPr spcFirstLastPara="1" wrap="square" lIns="91425" tIns="91425" rIns="91425" bIns="91425" anchor="t" anchorCtr="0">
            <a:noAutofit/>
          </a:bodyPr>
          <a:lstStyle/>
          <a:p>
            <a:pPr algn="l"/>
            <a:r>
              <a:rPr lang="en-US" sz="2400" b="0" i="0" dirty="0">
                <a:solidFill>
                  <a:schemeClr val="tx1"/>
                </a:solidFill>
                <a:effectLst/>
                <a:latin typeface="+mj-lt"/>
              </a:rPr>
              <a:t>A </a:t>
            </a:r>
            <a:r>
              <a:rPr lang="en-US" sz="2400" b="0" i="0" u="none" strike="noStrike" dirty="0">
                <a:solidFill>
                  <a:schemeClr val="tx1"/>
                </a:solidFill>
                <a:effectLst/>
                <a:latin typeface="+mj-lt"/>
                <a:hlinkClick r:id="rId3"/>
              </a:rPr>
              <a:t>Denial-of-Service</a:t>
            </a:r>
            <a:r>
              <a:rPr lang="en-US" sz="2400" b="0" i="0" dirty="0">
                <a:solidFill>
                  <a:schemeClr val="tx1"/>
                </a:solidFill>
                <a:effectLst/>
                <a:latin typeface="+mj-lt"/>
              </a:rPr>
              <a:t> (DoS) attack overloads the target system with a large volume of traffic, hindering the ability of the system to function normally. An attack involving multiple devices is known as a distributed denial-of-service (DDoS) attack.</a:t>
            </a:r>
          </a:p>
        </p:txBody>
      </p:sp>
      <p:grpSp>
        <p:nvGrpSpPr>
          <p:cNvPr id="3445" name="Google Shape;3445;p42"/>
          <p:cNvGrpSpPr/>
          <p:nvPr/>
        </p:nvGrpSpPr>
        <p:grpSpPr>
          <a:xfrm>
            <a:off x="2978333" y="5720819"/>
            <a:ext cx="2227588" cy="726522"/>
            <a:chOff x="3799000" y="1820400"/>
            <a:chExt cx="1039375" cy="338989"/>
          </a:xfrm>
        </p:grpSpPr>
        <p:sp>
          <p:nvSpPr>
            <p:cNvPr id="3446" name="Google Shape;3446;p42"/>
            <p:cNvSpPr/>
            <p:nvPr/>
          </p:nvSpPr>
          <p:spPr>
            <a:xfrm>
              <a:off x="469043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2"/>
            <p:cNvSpPr/>
            <p:nvPr/>
          </p:nvSpPr>
          <p:spPr>
            <a:xfrm>
              <a:off x="469043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2"/>
            <p:cNvSpPr/>
            <p:nvPr/>
          </p:nvSpPr>
          <p:spPr>
            <a:xfrm>
              <a:off x="477957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2"/>
            <p:cNvSpPr/>
            <p:nvPr/>
          </p:nvSpPr>
          <p:spPr>
            <a:xfrm>
              <a:off x="4601288"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2"/>
            <p:cNvSpPr/>
            <p:nvPr/>
          </p:nvSpPr>
          <p:spPr>
            <a:xfrm>
              <a:off x="442300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42"/>
            <p:cNvSpPr/>
            <p:nvPr/>
          </p:nvSpPr>
          <p:spPr>
            <a:xfrm>
              <a:off x="442300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42"/>
            <p:cNvSpPr/>
            <p:nvPr/>
          </p:nvSpPr>
          <p:spPr>
            <a:xfrm>
              <a:off x="442300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2"/>
            <p:cNvSpPr/>
            <p:nvPr/>
          </p:nvSpPr>
          <p:spPr>
            <a:xfrm>
              <a:off x="451214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42"/>
            <p:cNvSpPr/>
            <p:nvPr/>
          </p:nvSpPr>
          <p:spPr>
            <a:xfrm>
              <a:off x="4512145"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42"/>
            <p:cNvSpPr/>
            <p:nvPr/>
          </p:nvSpPr>
          <p:spPr>
            <a:xfrm>
              <a:off x="4512145"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42"/>
            <p:cNvSpPr/>
            <p:nvPr/>
          </p:nvSpPr>
          <p:spPr>
            <a:xfrm>
              <a:off x="433385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42"/>
            <p:cNvSpPr/>
            <p:nvPr/>
          </p:nvSpPr>
          <p:spPr>
            <a:xfrm>
              <a:off x="4333859"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2"/>
            <p:cNvSpPr/>
            <p:nvPr/>
          </p:nvSpPr>
          <p:spPr>
            <a:xfrm>
              <a:off x="433385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2"/>
            <p:cNvSpPr/>
            <p:nvPr/>
          </p:nvSpPr>
          <p:spPr>
            <a:xfrm>
              <a:off x="433385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2"/>
            <p:cNvSpPr/>
            <p:nvPr/>
          </p:nvSpPr>
          <p:spPr>
            <a:xfrm>
              <a:off x="415557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42"/>
            <p:cNvSpPr/>
            <p:nvPr/>
          </p:nvSpPr>
          <p:spPr>
            <a:xfrm>
              <a:off x="4155572"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42"/>
            <p:cNvSpPr/>
            <p:nvPr/>
          </p:nvSpPr>
          <p:spPr>
            <a:xfrm>
              <a:off x="415557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2"/>
            <p:cNvSpPr/>
            <p:nvPr/>
          </p:nvSpPr>
          <p:spPr>
            <a:xfrm>
              <a:off x="415557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2"/>
            <p:cNvSpPr/>
            <p:nvPr/>
          </p:nvSpPr>
          <p:spPr>
            <a:xfrm>
              <a:off x="424471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2"/>
            <p:cNvSpPr/>
            <p:nvPr/>
          </p:nvSpPr>
          <p:spPr>
            <a:xfrm>
              <a:off x="424471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2"/>
            <p:cNvSpPr/>
            <p:nvPr/>
          </p:nvSpPr>
          <p:spPr>
            <a:xfrm>
              <a:off x="424471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2"/>
            <p:cNvSpPr/>
            <p:nvPr/>
          </p:nvSpPr>
          <p:spPr>
            <a:xfrm>
              <a:off x="424471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2"/>
            <p:cNvSpPr/>
            <p:nvPr/>
          </p:nvSpPr>
          <p:spPr>
            <a:xfrm>
              <a:off x="406642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2"/>
            <p:cNvSpPr/>
            <p:nvPr/>
          </p:nvSpPr>
          <p:spPr>
            <a:xfrm>
              <a:off x="406642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2"/>
            <p:cNvSpPr/>
            <p:nvPr/>
          </p:nvSpPr>
          <p:spPr>
            <a:xfrm>
              <a:off x="406642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2"/>
            <p:cNvSpPr/>
            <p:nvPr/>
          </p:nvSpPr>
          <p:spPr>
            <a:xfrm>
              <a:off x="3888143"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2"/>
            <p:cNvSpPr/>
            <p:nvPr/>
          </p:nvSpPr>
          <p:spPr>
            <a:xfrm>
              <a:off x="3888143"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2"/>
            <p:cNvSpPr/>
            <p:nvPr/>
          </p:nvSpPr>
          <p:spPr>
            <a:xfrm>
              <a:off x="3888143"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2"/>
            <p:cNvSpPr/>
            <p:nvPr/>
          </p:nvSpPr>
          <p:spPr>
            <a:xfrm>
              <a:off x="397728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2"/>
            <p:cNvSpPr/>
            <p:nvPr/>
          </p:nvSpPr>
          <p:spPr>
            <a:xfrm>
              <a:off x="397728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2"/>
            <p:cNvSpPr/>
            <p:nvPr/>
          </p:nvSpPr>
          <p:spPr>
            <a:xfrm>
              <a:off x="397728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2"/>
            <p:cNvSpPr/>
            <p:nvPr/>
          </p:nvSpPr>
          <p:spPr>
            <a:xfrm>
              <a:off x="397728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2"/>
            <p:cNvSpPr/>
            <p:nvPr/>
          </p:nvSpPr>
          <p:spPr>
            <a:xfrm>
              <a:off x="3799000"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2"/>
            <p:cNvSpPr/>
            <p:nvPr/>
          </p:nvSpPr>
          <p:spPr>
            <a:xfrm>
              <a:off x="3799000"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2"/>
            <p:cNvSpPr/>
            <p:nvPr/>
          </p:nvSpPr>
          <p:spPr>
            <a:xfrm>
              <a:off x="3799000"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2"/>
            <p:cNvSpPr/>
            <p:nvPr/>
          </p:nvSpPr>
          <p:spPr>
            <a:xfrm>
              <a:off x="3799000"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3" name="Google Shape;3483;p42"/>
          <p:cNvGrpSpPr/>
          <p:nvPr/>
        </p:nvGrpSpPr>
        <p:grpSpPr>
          <a:xfrm>
            <a:off x="7732483" y="2542730"/>
            <a:ext cx="2227588" cy="726522"/>
            <a:chOff x="5608450" y="1680311"/>
            <a:chExt cx="1039375" cy="338989"/>
          </a:xfrm>
        </p:grpSpPr>
        <p:sp>
          <p:nvSpPr>
            <p:cNvPr id="3484" name="Google Shape;3484;p42"/>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2"/>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2"/>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2"/>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2"/>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2"/>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2"/>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2"/>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2"/>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2"/>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2"/>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2"/>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2"/>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2"/>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2"/>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2"/>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2"/>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2"/>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2"/>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2"/>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2"/>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2"/>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2"/>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2"/>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2"/>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2"/>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2"/>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2"/>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2"/>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2"/>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2"/>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2"/>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2"/>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2"/>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2"/>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2"/>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p:cNvSpPr/>
          <p:nvPr/>
        </p:nvSpPr>
        <p:spPr>
          <a:xfrm>
            <a:off x="6199956" y="1287259"/>
            <a:ext cx="2741846" cy="33116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rgbClr val="000000"/>
                </a:solidFill>
                <a:effectLst/>
                <a:latin typeface="Inter"/>
              </a:rPr>
              <a:t>HTTP flood DDoS</a:t>
            </a:r>
          </a:p>
          <a:p>
            <a:pPr algn="ctr"/>
            <a:r>
              <a:rPr lang="en-US" sz="1800" b="1" i="0" dirty="0">
                <a:solidFill>
                  <a:srgbClr val="000000"/>
                </a:solidFill>
                <a:effectLst/>
                <a:latin typeface="Inter"/>
              </a:rPr>
              <a:t>SYN flood DDoS</a:t>
            </a:r>
          </a:p>
          <a:p>
            <a:pPr algn="ctr"/>
            <a:r>
              <a:rPr lang="en-US" sz="1800" b="1" i="0" dirty="0">
                <a:solidFill>
                  <a:srgbClr val="000000"/>
                </a:solidFill>
                <a:effectLst/>
                <a:latin typeface="Inter"/>
              </a:rPr>
              <a:t>UDP flood DDoS</a:t>
            </a:r>
          </a:p>
          <a:p>
            <a:pPr algn="ctr"/>
            <a:r>
              <a:rPr lang="en-US" sz="1800" b="1" i="0" dirty="0">
                <a:solidFill>
                  <a:srgbClr val="000000"/>
                </a:solidFill>
                <a:effectLst/>
                <a:latin typeface="Inter"/>
              </a:rPr>
              <a:t>ICMP flood</a:t>
            </a:r>
          </a:p>
          <a:p>
            <a:pPr algn="ctr"/>
            <a:r>
              <a:rPr lang="en-US" sz="1800" b="1" i="0" dirty="0">
                <a:solidFill>
                  <a:srgbClr val="000000"/>
                </a:solidFill>
                <a:effectLst/>
                <a:latin typeface="Inter"/>
              </a:rPr>
              <a:t>NTP amplification</a:t>
            </a:r>
            <a:endParaRPr lang="en-PH" dirty="0"/>
          </a:p>
        </p:txBody>
      </p:sp>
      <p:pic>
        <p:nvPicPr>
          <p:cNvPr id="3" name="Picture 2"/>
          <p:cNvPicPr>
            <a:picLocks noChangeAspect="1"/>
          </p:cNvPicPr>
          <p:nvPr/>
        </p:nvPicPr>
        <p:blipFill>
          <a:blip r:embed="rId4"/>
          <a:stretch>
            <a:fillRect/>
          </a:stretch>
        </p:blipFill>
        <p:spPr>
          <a:xfrm>
            <a:off x="-7869" y="0"/>
            <a:ext cx="2072820" cy="16155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2" grpId="0" build="p"/>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03"/>
        <p:cNvGrpSpPr/>
        <p:nvPr/>
      </p:nvGrpSpPr>
      <p:grpSpPr>
        <a:xfrm>
          <a:off x="0" y="0"/>
          <a:ext cx="0" cy="0"/>
          <a:chOff x="0" y="0"/>
          <a:chExt cx="0" cy="0"/>
        </a:xfrm>
      </p:grpSpPr>
      <p:sp>
        <p:nvSpPr>
          <p:cNvPr id="3412" name="Google Shape;3412;p42"/>
          <p:cNvSpPr txBox="1">
            <a:spLocks noGrp="1"/>
          </p:cNvSpPr>
          <p:nvPr>
            <p:ph type="subTitle" idx="1"/>
          </p:nvPr>
        </p:nvSpPr>
        <p:spPr>
          <a:xfrm>
            <a:off x="55142" y="1543895"/>
            <a:ext cx="5846381" cy="3311610"/>
          </a:xfrm>
          <a:prstGeom prst="rect">
            <a:avLst/>
          </a:prstGeom>
        </p:spPr>
        <p:txBody>
          <a:bodyPr spcFirstLastPara="1" wrap="square" lIns="91425" tIns="91425" rIns="91425" bIns="91425" anchor="t" anchorCtr="0">
            <a:noAutofit/>
          </a:bodyPr>
          <a:lstStyle/>
          <a:p>
            <a:pPr algn="l"/>
            <a:r>
              <a:rPr lang="en-US" sz="2400" b="0" i="0" dirty="0">
                <a:solidFill>
                  <a:schemeClr val="tx1"/>
                </a:solidFill>
                <a:effectLst/>
                <a:latin typeface="+mj-lt"/>
              </a:rPr>
              <a:t>Injection attacks exploit a variety of vulnerabilities to directly insert malicious input into the code of a web application. Successful attacks may expose sensitive information, execute a DoS attack or compromise the entire system.</a:t>
            </a:r>
          </a:p>
        </p:txBody>
      </p:sp>
      <p:grpSp>
        <p:nvGrpSpPr>
          <p:cNvPr id="3445" name="Google Shape;3445;p42"/>
          <p:cNvGrpSpPr/>
          <p:nvPr/>
        </p:nvGrpSpPr>
        <p:grpSpPr>
          <a:xfrm>
            <a:off x="2978333" y="5720819"/>
            <a:ext cx="2227588" cy="726522"/>
            <a:chOff x="3799000" y="1820400"/>
            <a:chExt cx="1039375" cy="338989"/>
          </a:xfrm>
        </p:grpSpPr>
        <p:sp>
          <p:nvSpPr>
            <p:cNvPr id="3446" name="Google Shape;3446;p42"/>
            <p:cNvSpPr/>
            <p:nvPr/>
          </p:nvSpPr>
          <p:spPr>
            <a:xfrm>
              <a:off x="469043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2"/>
            <p:cNvSpPr/>
            <p:nvPr/>
          </p:nvSpPr>
          <p:spPr>
            <a:xfrm>
              <a:off x="469043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2"/>
            <p:cNvSpPr/>
            <p:nvPr/>
          </p:nvSpPr>
          <p:spPr>
            <a:xfrm>
              <a:off x="477957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2"/>
            <p:cNvSpPr/>
            <p:nvPr/>
          </p:nvSpPr>
          <p:spPr>
            <a:xfrm>
              <a:off x="4601288"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2"/>
            <p:cNvSpPr/>
            <p:nvPr/>
          </p:nvSpPr>
          <p:spPr>
            <a:xfrm>
              <a:off x="442300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42"/>
            <p:cNvSpPr/>
            <p:nvPr/>
          </p:nvSpPr>
          <p:spPr>
            <a:xfrm>
              <a:off x="442300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42"/>
            <p:cNvSpPr/>
            <p:nvPr/>
          </p:nvSpPr>
          <p:spPr>
            <a:xfrm>
              <a:off x="442300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2"/>
            <p:cNvSpPr/>
            <p:nvPr/>
          </p:nvSpPr>
          <p:spPr>
            <a:xfrm>
              <a:off x="4512145"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42"/>
            <p:cNvSpPr/>
            <p:nvPr/>
          </p:nvSpPr>
          <p:spPr>
            <a:xfrm>
              <a:off x="4512145"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42"/>
            <p:cNvSpPr/>
            <p:nvPr/>
          </p:nvSpPr>
          <p:spPr>
            <a:xfrm>
              <a:off x="4512145"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42"/>
            <p:cNvSpPr/>
            <p:nvPr/>
          </p:nvSpPr>
          <p:spPr>
            <a:xfrm>
              <a:off x="433385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42"/>
            <p:cNvSpPr/>
            <p:nvPr/>
          </p:nvSpPr>
          <p:spPr>
            <a:xfrm>
              <a:off x="4333859"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2"/>
            <p:cNvSpPr/>
            <p:nvPr/>
          </p:nvSpPr>
          <p:spPr>
            <a:xfrm>
              <a:off x="433385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2"/>
            <p:cNvSpPr/>
            <p:nvPr/>
          </p:nvSpPr>
          <p:spPr>
            <a:xfrm>
              <a:off x="433385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2"/>
            <p:cNvSpPr/>
            <p:nvPr/>
          </p:nvSpPr>
          <p:spPr>
            <a:xfrm>
              <a:off x="4155572"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42"/>
            <p:cNvSpPr/>
            <p:nvPr/>
          </p:nvSpPr>
          <p:spPr>
            <a:xfrm>
              <a:off x="4155572"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42"/>
            <p:cNvSpPr/>
            <p:nvPr/>
          </p:nvSpPr>
          <p:spPr>
            <a:xfrm>
              <a:off x="4155572"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2"/>
            <p:cNvSpPr/>
            <p:nvPr/>
          </p:nvSpPr>
          <p:spPr>
            <a:xfrm>
              <a:off x="4155572"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2"/>
            <p:cNvSpPr/>
            <p:nvPr/>
          </p:nvSpPr>
          <p:spPr>
            <a:xfrm>
              <a:off x="424471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2"/>
            <p:cNvSpPr/>
            <p:nvPr/>
          </p:nvSpPr>
          <p:spPr>
            <a:xfrm>
              <a:off x="424471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2"/>
            <p:cNvSpPr/>
            <p:nvPr/>
          </p:nvSpPr>
          <p:spPr>
            <a:xfrm>
              <a:off x="424471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2"/>
            <p:cNvSpPr/>
            <p:nvPr/>
          </p:nvSpPr>
          <p:spPr>
            <a:xfrm>
              <a:off x="424471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2"/>
            <p:cNvSpPr/>
            <p:nvPr/>
          </p:nvSpPr>
          <p:spPr>
            <a:xfrm>
              <a:off x="4066429"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2"/>
            <p:cNvSpPr/>
            <p:nvPr/>
          </p:nvSpPr>
          <p:spPr>
            <a:xfrm>
              <a:off x="4066429"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2"/>
            <p:cNvSpPr/>
            <p:nvPr/>
          </p:nvSpPr>
          <p:spPr>
            <a:xfrm>
              <a:off x="4066429"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2"/>
            <p:cNvSpPr/>
            <p:nvPr/>
          </p:nvSpPr>
          <p:spPr>
            <a:xfrm>
              <a:off x="3888143"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2"/>
            <p:cNvSpPr/>
            <p:nvPr/>
          </p:nvSpPr>
          <p:spPr>
            <a:xfrm>
              <a:off x="3888143"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2"/>
            <p:cNvSpPr/>
            <p:nvPr/>
          </p:nvSpPr>
          <p:spPr>
            <a:xfrm>
              <a:off x="3888143"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2"/>
            <p:cNvSpPr/>
            <p:nvPr/>
          </p:nvSpPr>
          <p:spPr>
            <a:xfrm>
              <a:off x="3977286"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2"/>
            <p:cNvSpPr/>
            <p:nvPr/>
          </p:nvSpPr>
          <p:spPr>
            <a:xfrm>
              <a:off x="3977286"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2"/>
            <p:cNvSpPr/>
            <p:nvPr/>
          </p:nvSpPr>
          <p:spPr>
            <a:xfrm>
              <a:off x="3977286"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2"/>
            <p:cNvSpPr/>
            <p:nvPr/>
          </p:nvSpPr>
          <p:spPr>
            <a:xfrm>
              <a:off x="3977286"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2"/>
            <p:cNvSpPr/>
            <p:nvPr/>
          </p:nvSpPr>
          <p:spPr>
            <a:xfrm>
              <a:off x="3799000" y="1820400"/>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2"/>
            <p:cNvSpPr/>
            <p:nvPr/>
          </p:nvSpPr>
          <p:spPr>
            <a:xfrm>
              <a:off x="3799000" y="1913796"/>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2"/>
            <p:cNvSpPr/>
            <p:nvPr/>
          </p:nvSpPr>
          <p:spPr>
            <a:xfrm>
              <a:off x="3799000" y="2007193"/>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2"/>
            <p:cNvSpPr/>
            <p:nvPr/>
          </p:nvSpPr>
          <p:spPr>
            <a:xfrm>
              <a:off x="3799000" y="2100589"/>
              <a:ext cx="58800" cy="58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3" name="Google Shape;3483;p42"/>
          <p:cNvGrpSpPr/>
          <p:nvPr/>
        </p:nvGrpSpPr>
        <p:grpSpPr>
          <a:xfrm>
            <a:off x="7732483" y="2542730"/>
            <a:ext cx="2227588" cy="726522"/>
            <a:chOff x="5608450" y="1680311"/>
            <a:chExt cx="1039375" cy="338989"/>
          </a:xfrm>
        </p:grpSpPr>
        <p:sp>
          <p:nvSpPr>
            <p:cNvPr id="3484" name="Google Shape;3484;p42"/>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2"/>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2"/>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2"/>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2"/>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2"/>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2"/>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2"/>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2"/>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2"/>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2"/>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2"/>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2"/>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2"/>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2"/>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2"/>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2"/>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2"/>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2"/>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2"/>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2"/>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2"/>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2"/>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2"/>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2"/>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2"/>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2"/>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2"/>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2"/>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2"/>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2"/>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2"/>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2"/>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2"/>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2"/>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2"/>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p:cNvSpPr/>
          <p:nvPr/>
        </p:nvSpPr>
        <p:spPr>
          <a:xfrm>
            <a:off x="6199956" y="1287259"/>
            <a:ext cx="2741846" cy="33116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a:solidFill>
                  <a:srgbClr val="000000"/>
                </a:solidFill>
                <a:effectLst/>
                <a:latin typeface="Inter"/>
              </a:rPr>
              <a:t>XML </a:t>
            </a:r>
            <a:r>
              <a:rPr lang="en-US" sz="1800" b="1" i="0" dirty="0" err="1">
                <a:solidFill>
                  <a:srgbClr val="000000"/>
                </a:solidFill>
                <a:effectLst/>
                <a:latin typeface="Inter"/>
              </a:rPr>
              <a:t>eXternal</a:t>
            </a:r>
            <a:endParaRPr lang="en-US" sz="1800" b="1" i="0" dirty="0">
              <a:solidFill>
                <a:srgbClr val="000000"/>
              </a:solidFill>
              <a:effectLst/>
              <a:latin typeface="Inter"/>
            </a:endParaRPr>
          </a:p>
          <a:p>
            <a:pPr algn="ctr"/>
            <a:r>
              <a:rPr lang="en-US" sz="1800" b="1" i="0" dirty="0">
                <a:solidFill>
                  <a:srgbClr val="000000"/>
                </a:solidFill>
                <a:effectLst/>
                <a:latin typeface="Inter"/>
              </a:rPr>
              <a:t>Entities (XXE)</a:t>
            </a:r>
          </a:p>
          <a:p>
            <a:pPr algn="ctr"/>
            <a:r>
              <a:rPr lang="en-US" sz="1800" b="1" i="0" dirty="0">
                <a:solidFill>
                  <a:srgbClr val="000000"/>
                </a:solidFill>
                <a:effectLst/>
                <a:latin typeface="Inter"/>
              </a:rPr>
              <a:t>Injection Cross-Site</a:t>
            </a:r>
          </a:p>
          <a:p>
            <a:pPr algn="ctr"/>
            <a:r>
              <a:rPr lang="en-US" sz="1800" b="1" i="0" dirty="0">
                <a:solidFill>
                  <a:srgbClr val="000000"/>
                </a:solidFill>
                <a:effectLst/>
                <a:latin typeface="Inter"/>
              </a:rPr>
              <a:t>Scripting (XSS)</a:t>
            </a:r>
            <a:endParaRPr lang="en-PH" dirty="0"/>
          </a:p>
        </p:txBody>
      </p:sp>
      <p:pic>
        <p:nvPicPr>
          <p:cNvPr id="5" name="Picture 4"/>
          <p:cNvPicPr>
            <a:picLocks noChangeAspect="1"/>
          </p:cNvPicPr>
          <p:nvPr/>
        </p:nvPicPr>
        <p:blipFill>
          <a:blip r:embed="rId3"/>
          <a:stretch>
            <a:fillRect/>
          </a:stretch>
        </p:blipFill>
        <p:spPr>
          <a:xfrm>
            <a:off x="2586" y="0"/>
            <a:ext cx="1813717" cy="12802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2" grpId="0" build="p"/>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23"/>
        <p:cNvGrpSpPr/>
        <p:nvPr/>
      </p:nvGrpSpPr>
      <p:grpSpPr>
        <a:xfrm>
          <a:off x="0" y="0"/>
          <a:ext cx="0" cy="0"/>
          <a:chOff x="0" y="0"/>
          <a:chExt cx="0" cy="0"/>
        </a:xfrm>
      </p:grpSpPr>
      <p:grpSp>
        <p:nvGrpSpPr>
          <p:cNvPr id="3524" name="Google Shape;3524;p43"/>
          <p:cNvGrpSpPr/>
          <p:nvPr/>
        </p:nvGrpSpPr>
        <p:grpSpPr>
          <a:xfrm>
            <a:off x="6840333" y="-220281"/>
            <a:ext cx="2227588" cy="726522"/>
            <a:chOff x="3799000" y="1820400"/>
            <a:chExt cx="1039375" cy="338989"/>
          </a:xfrm>
        </p:grpSpPr>
        <p:sp>
          <p:nvSpPr>
            <p:cNvPr id="3525" name="Google Shape;3525;p43"/>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43"/>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43"/>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43"/>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43"/>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43"/>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43"/>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43"/>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43"/>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43"/>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43"/>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43"/>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43"/>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43"/>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43"/>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43"/>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43"/>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43"/>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43"/>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43"/>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43"/>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43"/>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43"/>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43"/>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43"/>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43"/>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43"/>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43"/>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43"/>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43"/>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43"/>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43"/>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43"/>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43"/>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43"/>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43"/>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7" name="Google Shape;3567;p43"/>
          <p:cNvGrpSpPr/>
          <p:nvPr/>
        </p:nvGrpSpPr>
        <p:grpSpPr>
          <a:xfrm>
            <a:off x="7126920" y="4391944"/>
            <a:ext cx="1654413" cy="326167"/>
            <a:chOff x="2978333" y="5720819"/>
            <a:chExt cx="1654413" cy="326167"/>
          </a:xfrm>
        </p:grpSpPr>
        <p:sp>
          <p:nvSpPr>
            <p:cNvPr id="3568" name="Google Shape;3568;p43"/>
            <p:cNvSpPr/>
            <p:nvPr/>
          </p:nvSpPr>
          <p:spPr>
            <a:xfrm>
              <a:off x="4315694"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43"/>
            <p:cNvSpPr/>
            <p:nvPr/>
          </p:nvSpPr>
          <p:spPr>
            <a:xfrm>
              <a:off x="4506746"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43"/>
            <p:cNvSpPr/>
            <p:nvPr/>
          </p:nvSpPr>
          <p:spPr>
            <a:xfrm>
              <a:off x="4124643"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43"/>
            <p:cNvSpPr/>
            <p:nvPr/>
          </p:nvSpPr>
          <p:spPr>
            <a:xfrm>
              <a:off x="4124643"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43"/>
            <p:cNvSpPr/>
            <p:nvPr/>
          </p:nvSpPr>
          <p:spPr>
            <a:xfrm>
              <a:off x="3742539"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43"/>
            <p:cNvSpPr/>
            <p:nvPr/>
          </p:nvSpPr>
          <p:spPr>
            <a:xfrm>
              <a:off x="3742539"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43"/>
            <p:cNvSpPr/>
            <p:nvPr/>
          </p:nvSpPr>
          <p:spPr>
            <a:xfrm>
              <a:off x="3933591"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43"/>
            <p:cNvSpPr/>
            <p:nvPr/>
          </p:nvSpPr>
          <p:spPr>
            <a:xfrm>
              <a:off x="3933591"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43"/>
            <p:cNvSpPr/>
            <p:nvPr/>
          </p:nvSpPr>
          <p:spPr>
            <a:xfrm>
              <a:off x="3551488"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43"/>
            <p:cNvSpPr/>
            <p:nvPr/>
          </p:nvSpPr>
          <p:spPr>
            <a:xfrm>
              <a:off x="3169384"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43"/>
            <p:cNvSpPr/>
            <p:nvPr/>
          </p:nvSpPr>
          <p:spPr>
            <a:xfrm>
              <a:off x="3360436"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43"/>
            <p:cNvSpPr/>
            <p:nvPr/>
          </p:nvSpPr>
          <p:spPr>
            <a:xfrm>
              <a:off x="3360436"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43"/>
            <p:cNvSpPr/>
            <p:nvPr/>
          </p:nvSpPr>
          <p:spPr>
            <a:xfrm>
              <a:off x="2978333"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TextBox 7"/>
          <p:cNvSpPr txBox="1"/>
          <p:nvPr/>
        </p:nvSpPr>
        <p:spPr>
          <a:xfrm>
            <a:off x="2138330" y="1624478"/>
            <a:ext cx="5617944" cy="1754326"/>
          </a:xfrm>
          <a:prstGeom prst="rect">
            <a:avLst/>
          </a:prstGeom>
          <a:noFill/>
        </p:spPr>
        <p:txBody>
          <a:bodyPr wrap="square" rtlCol="0">
            <a:spAutoFit/>
          </a:bodyPr>
          <a:lstStyle/>
          <a:p>
            <a:r>
              <a:rPr lang="en-US" sz="3600" b="0" i="0" dirty="0">
                <a:solidFill>
                  <a:schemeClr val="tx1"/>
                </a:solidFill>
                <a:effectLst/>
                <a:latin typeface="neo-sans"/>
              </a:rPr>
              <a:t>What does vulnerability in cyber security mean?</a:t>
            </a:r>
          </a:p>
          <a:p>
            <a:endParaRPr lang="en-PH" sz="3600"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90"/>
        <p:cNvGrpSpPr/>
        <p:nvPr/>
      </p:nvGrpSpPr>
      <p:grpSpPr>
        <a:xfrm>
          <a:off x="0" y="0"/>
          <a:ext cx="0" cy="0"/>
          <a:chOff x="0" y="0"/>
          <a:chExt cx="0" cy="0"/>
        </a:xfrm>
      </p:grpSpPr>
      <p:pic>
        <p:nvPicPr>
          <p:cNvPr id="3591" name="Google Shape;3591;p44"/>
          <p:cNvPicPr preferRelativeResize="0"/>
          <p:nvPr/>
        </p:nvPicPr>
        <p:blipFill>
          <a:blip r:embed="rId3"/>
          <a:stretch>
            <a:fillRect/>
          </a:stretch>
        </p:blipFill>
        <p:spPr>
          <a:xfrm flipH="1">
            <a:off x="7004550" y="2181621"/>
            <a:ext cx="2878150" cy="1916850"/>
          </a:xfrm>
          <a:prstGeom prst="rect">
            <a:avLst/>
          </a:prstGeom>
          <a:noFill/>
          <a:ln>
            <a:noFill/>
          </a:ln>
        </p:spPr>
      </p:pic>
      <p:pic>
        <p:nvPicPr>
          <p:cNvPr id="3592" name="Google Shape;3592;p44"/>
          <p:cNvPicPr preferRelativeResize="0"/>
          <p:nvPr/>
        </p:nvPicPr>
        <p:blipFill>
          <a:blip r:embed="rId4"/>
          <a:stretch>
            <a:fillRect/>
          </a:stretch>
        </p:blipFill>
        <p:spPr>
          <a:xfrm flipH="1">
            <a:off x="8033536" y="1402475"/>
            <a:ext cx="1400750" cy="2338550"/>
          </a:xfrm>
          <a:prstGeom prst="rect">
            <a:avLst/>
          </a:prstGeom>
          <a:noFill/>
          <a:ln>
            <a:noFill/>
          </a:ln>
        </p:spPr>
      </p:pic>
      <p:sp>
        <p:nvSpPr>
          <p:cNvPr id="6" name="TextBox 5"/>
          <p:cNvSpPr txBox="1"/>
          <p:nvPr/>
        </p:nvSpPr>
        <p:spPr>
          <a:xfrm>
            <a:off x="257413" y="654900"/>
            <a:ext cx="5998245" cy="4154984"/>
          </a:xfrm>
          <a:prstGeom prst="rect">
            <a:avLst/>
          </a:prstGeom>
          <a:noFill/>
        </p:spPr>
        <p:txBody>
          <a:bodyPr wrap="square" rtlCol="0">
            <a:spAutoFit/>
          </a:bodyPr>
          <a:lstStyle/>
          <a:p>
            <a:pPr algn="just"/>
            <a:r>
              <a:rPr lang="en-US" sz="2400" b="0" i="0" dirty="0">
                <a:solidFill>
                  <a:schemeClr val="tx1"/>
                </a:solidFill>
                <a:effectLst/>
                <a:latin typeface="+mj-lt"/>
              </a:rPr>
              <a:t>A vulnerability in cyber security refers to a weakness or flaw in a computer system or network, that can be exploited by hackers in a malicious cyber act. Cyber security vulnerabilities can manifest in different forms – they can exist in hardware, software, or reveal themselves as a human error, and can occur at any time. Attackers will look for them and exploit any of them, sometimes even combining one or more, to effectively achiever their goals.</a:t>
            </a:r>
            <a:endParaRPr lang="en-PH" sz="2400" dirty="0">
              <a:solidFill>
                <a:schemeClr val="tx1"/>
              </a:solidFill>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1976018" y="0"/>
            <a:ext cx="7717500" cy="738900"/>
          </a:xfrm>
          <a:prstGeom prst="rect">
            <a:avLst/>
          </a:prstGeom>
        </p:spPr>
        <p:txBody>
          <a:bodyPr spcFirstLastPara="1" wrap="square" lIns="91425" tIns="91425" rIns="91425" bIns="91425" anchor="t" anchorCtr="0">
            <a:noAutofit/>
          </a:bodyPr>
          <a:lstStyle/>
          <a:p>
            <a:pPr algn="l"/>
            <a:r>
              <a:rPr lang="en-PH" b="0" i="0" dirty="0">
                <a:solidFill>
                  <a:schemeClr val="tx1"/>
                </a:solidFill>
                <a:effectLst/>
                <a:latin typeface="DIN"/>
              </a:rPr>
              <a:t>Cyber Security Vulnerabilities</a:t>
            </a:r>
          </a:p>
        </p:txBody>
      </p:sp>
      <p:sp>
        <p:nvSpPr>
          <p:cNvPr id="3602" name="Google Shape;3602;p45"/>
          <p:cNvSpPr txBox="1">
            <a:spLocks noGrp="1"/>
          </p:cNvSpPr>
          <p:nvPr>
            <p:ph type="subTitle" idx="1"/>
          </p:nvPr>
        </p:nvSpPr>
        <p:spPr>
          <a:xfrm>
            <a:off x="538787" y="906315"/>
            <a:ext cx="8314925" cy="2343900"/>
          </a:xfrm>
          <a:prstGeom prst="rect">
            <a:avLst/>
          </a:prstGeom>
        </p:spPr>
        <p:txBody>
          <a:bodyPr spcFirstLastPara="1" wrap="square" lIns="91425" tIns="91425" rIns="91425" bIns="91425" anchor="t" anchorCtr="0">
            <a:noAutofit/>
          </a:bodyPr>
          <a:lstStyle/>
          <a:p>
            <a:pPr algn="l"/>
            <a:r>
              <a:rPr lang="en-US" sz="2200" b="1" i="0" dirty="0">
                <a:solidFill>
                  <a:schemeClr val="tx1"/>
                </a:solidFill>
                <a:effectLst/>
                <a:latin typeface="+mj-lt"/>
              </a:rPr>
              <a:t> Zero Day</a:t>
            </a:r>
          </a:p>
          <a:p>
            <a:pPr algn="just"/>
            <a:r>
              <a:rPr lang="en-US" sz="2200" b="0" i="0" dirty="0">
                <a:solidFill>
                  <a:schemeClr val="tx1"/>
                </a:solidFill>
                <a:effectLst/>
                <a:latin typeface="+mj-lt"/>
              </a:rPr>
              <a:t>	A </a:t>
            </a:r>
            <a:r>
              <a:rPr lang="en-US" sz="2200" b="0" i="0" u="none" strike="noStrike" dirty="0">
                <a:solidFill>
                  <a:schemeClr val="tx1"/>
                </a:solidFill>
                <a:effectLst/>
                <a:latin typeface="+mj-lt"/>
                <a:hlinkClick r:id="rId3"/>
              </a:rPr>
              <a:t>zero-day</a:t>
            </a:r>
            <a:r>
              <a:rPr lang="en-US" sz="2200" b="0" i="0" dirty="0">
                <a:solidFill>
                  <a:schemeClr val="tx1"/>
                </a:solidFill>
                <a:effectLst/>
                <a:latin typeface="+mj-lt"/>
              </a:rPr>
              <a:t> vulnerability is one that was discovered by cybercriminals and exploited before a patch was available. Zero-day vulnerabilities like Log4j are often the most famous and damaging vulnerabilities because attackers have the opportunity to exploit them before they can be fixed.</a:t>
            </a:r>
          </a:p>
          <a:p>
            <a:pPr algn="l"/>
            <a:r>
              <a:rPr lang="en-US" sz="2200" b="1" i="0" dirty="0">
                <a:solidFill>
                  <a:schemeClr val="tx1"/>
                </a:solidFill>
                <a:effectLst/>
                <a:latin typeface="+mj-lt"/>
              </a:rPr>
              <a:t> Remote Code Execution (RCE)</a:t>
            </a:r>
          </a:p>
          <a:p>
            <a:pPr algn="just"/>
            <a:r>
              <a:rPr lang="en-US" sz="2200" b="0" i="0" dirty="0">
                <a:solidFill>
                  <a:schemeClr val="tx1"/>
                </a:solidFill>
                <a:effectLst/>
                <a:latin typeface="+mj-lt"/>
              </a:rPr>
              <a:t>	An </a:t>
            </a:r>
            <a:r>
              <a:rPr lang="en-US" sz="2200" b="0" i="0" u="none" strike="noStrike" dirty="0">
                <a:solidFill>
                  <a:schemeClr val="tx1"/>
                </a:solidFill>
                <a:effectLst/>
                <a:latin typeface="+mj-lt"/>
                <a:hlinkClick r:id="rId4"/>
              </a:rPr>
              <a:t>RCE vulnerability</a:t>
            </a:r>
            <a:r>
              <a:rPr lang="en-US" sz="2200" b="0" i="0" dirty="0">
                <a:solidFill>
                  <a:schemeClr val="tx1"/>
                </a:solidFill>
                <a:effectLst/>
                <a:latin typeface="+mj-lt"/>
              </a:rPr>
              <a:t> allows an attacker to execute malicious code on the vulnerable system. This code execution can allow the attacker to steal sensitive data, deploy malware, or take other malicious actions on the system.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1976018" y="0"/>
            <a:ext cx="7717500" cy="738900"/>
          </a:xfrm>
          <a:prstGeom prst="rect">
            <a:avLst/>
          </a:prstGeom>
        </p:spPr>
        <p:txBody>
          <a:bodyPr spcFirstLastPara="1" wrap="square" lIns="91425" tIns="91425" rIns="91425" bIns="91425" anchor="t" anchorCtr="0">
            <a:noAutofit/>
          </a:bodyPr>
          <a:lstStyle/>
          <a:p>
            <a:pPr algn="l"/>
            <a:r>
              <a:rPr lang="en-PH" b="0" i="0" dirty="0">
                <a:solidFill>
                  <a:schemeClr val="tx1"/>
                </a:solidFill>
                <a:effectLst/>
                <a:latin typeface="DIN"/>
              </a:rPr>
              <a:t>Cyber Security Vulnerabilities</a:t>
            </a:r>
          </a:p>
        </p:txBody>
      </p:sp>
      <p:sp>
        <p:nvSpPr>
          <p:cNvPr id="3602" name="Google Shape;3602;p45"/>
          <p:cNvSpPr txBox="1">
            <a:spLocks noGrp="1"/>
          </p:cNvSpPr>
          <p:nvPr>
            <p:ph type="subTitle" idx="1"/>
          </p:nvPr>
        </p:nvSpPr>
        <p:spPr>
          <a:xfrm>
            <a:off x="538787" y="906315"/>
            <a:ext cx="8314925" cy="2343900"/>
          </a:xfrm>
          <a:prstGeom prst="rect">
            <a:avLst/>
          </a:prstGeom>
        </p:spPr>
        <p:txBody>
          <a:bodyPr spcFirstLastPara="1" wrap="square" lIns="91425" tIns="91425" rIns="91425" bIns="91425" anchor="t" anchorCtr="0">
            <a:noAutofit/>
          </a:bodyPr>
          <a:lstStyle/>
          <a:p>
            <a:pPr algn="l"/>
            <a:r>
              <a:rPr lang="en-US" sz="2200" b="1" i="0" dirty="0">
                <a:solidFill>
                  <a:schemeClr val="tx1"/>
                </a:solidFill>
                <a:effectLst/>
                <a:latin typeface="+mj-lt"/>
              </a:rPr>
              <a:t>Poor Data Sanitization</a:t>
            </a:r>
          </a:p>
          <a:p>
            <a:pPr algn="l"/>
            <a:r>
              <a:rPr lang="en-US" sz="2200" b="0" i="0" dirty="0">
                <a:solidFill>
                  <a:schemeClr val="tx1"/>
                </a:solidFill>
                <a:effectLst/>
                <a:latin typeface="+mj-lt"/>
              </a:rPr>
              <a:t>	Many attacks — such as </a:t>
            </a:r>
            <a:r>
              <a:rPr lang="en-US" sz="2200" b="0" i="0" u="none" strike="noStrike" dirty="0">
                <a:solidFill>
                  <a:schemeClr val="tx1"/>
                </a:solidFill>
                <a:effectLst/>
                <a:latin typeface="+mj-lt"/>
                <a:hlinkClick r:id="rId3"/>
              </a:rPr>
              <a:t>SQL injection</a:t>
            </a:r>
            <a:r>
              <a:rPr lang="en-US" sz="2200" b="0" i="0" dirty="0">
                <a:solidFill>
                  <a:schemeClr val="tx1"/>
                </a:solidFill>
                <a:effectLst/>
                <a:latin typeface="+mj-lt"/>
              </a:rPr>
              <a:t> and buffer overflows — involve an attacker submitting invalid data to an application. A failure to properly validate data before processing leaves these applications vulnerable to attack.</a:t>
            </a:r>
          </a:p>
          <a:p>
            <a:pPr algn="l"/>
            <a:r>
              <a:rPr lang="en-US" sz="2200" b="1" i="0" dirty="0">
                <a:solidFill>
                  <a:schemeClr val="tx1"/>
                </a:solidFill>
                <a:effectLst/>
                <a:latin typeface="+mj-lt"/>
              </a:rPr>
              <a:t>Unpatched Software</a:t>
            </a:r>
          </a:p>
          <a:p>
            <a:pPr algn="l"/>
            <a:r>
              <a:rPr lang="en-US" sz="2200" b="0" i="0" dirty="0">
                <a:solidFill>
                  <a:schemeClr val="tx1"/>
                </a:solidFill>
                <a:effectLst/>
                <a:latin typeface="+mj-lt"/>
              </a:rPr>
              <a:t>	Software vulnerabilities are common, and they are corrected by applying patches or updates that fix the issue. A failure to properly patch out-of-date software leaves it vulnerable to exploitation.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1976018" y="0"/>
            <a:ext cx="7717500" cy="738900"/>
          </a:xfrm>
          <a:prstGeom prst="rect">
            <a:avLst/>
          </a:prstGeom>
        </p:spPr>
        <p:txBody>
          <a:bodyPr spcFirstLastPara="1" wrap="square" lIns="91425" tIns="91425" rIns="91425" bIns="91425" anchor="t" anchorCtr="0">
            <a:noAutofit/>
          </a:bodyPr>
          <a:lstStyle/>
          <a:p>
            <a:pPr algn="l"/>
            <a:r>
              <a:rPr lang="en-PH" b="0" i="0" dirty="0">
                <a:solidFill>
                  <a:schemeClr val="tx1"/>
                </a:solidFill>
                <a:effectLst/>
                <a:latin typeface="DIN"/>
              </a:rPr>
              <a:t>Cyber Security Vulnerabilities</a:t>
            </a:r>
          </a:p>
        </p:txBody>
      </p:sp>
      <p:sp>
        <p:nvSpPr>
          <p:cNvPr id="3602" name="Google Shape;3602;p45"/>
          <p:cNvSpPr txBox="1">
            <a:spLocks noGrp="1"/>
          </p:cNvSpPr>
          <p:nvPr>
            <p:ph type="subTitle" idx="1"/>
          </p:nvPr>
        </p:nvSpPr>
        <p:spPr>
          <a:xfrm>
            <a:off x="538787" y="906315"/>
            <a:ext cx="8314925" cy="2343900"/>
          </a:xfrm>
          <a:prstGeom prst="rect">
            <a:avLst/>
          </a:prstGeom>
        </p:spPr>
        <p:txBody>
          <a:bodyPr spcFirstLastPara="1" wrap="square" lIns="91425" tIns="91425" rIns="91425" bIns="91425" anchor="t" anchorCtr="0">
            <a:noAutofit/>
          </a:bodyPr>
          <a:lstStyle/>
          <a:p>
            <a:pPr algn="l"/>
            <a:r>
              <a:rPr lang="en-US" sz="2200" b="1" i="0" dirty="0">
                <a:solidFill>
                  <a:schemeClr val="tx1"/>
                </a:solidFill>
                <a:effectLst/>
                <a:latin typeface="+mj-lt"/>
              </a:rPr>
              <a:t>Unauthorized Access</a:t>
            </a:r>
          </a:p>
          <a:p>
            <a:pPr algn="l"/>
            <a:r>
              <a:rPr lang="en-US" sz="2200" b="0" i="0" dirty="0">
                <a:solidFill>
                  <a:schemeClr val="tx1"/>
                </a:solidFill>
                <a:effectLst/>
                <a:latin typeface="+mj-lt"/>
              </a:rPr>
              <a:t>	It is common for companies to assign employees and contractors more access and privileges than they need. These additional permissions create security risks if an employee abuses their access or their account is compromised by an attacker.</a:t>
            </a:r>
          </a:p>
          <a:p>
            <a:pPr algn="l"/>
            <a:r>
              <a:rPr lang="en-US" sz="2200" b="1" i="0" dirty="0">
                <a:solidFill>
                  <a:schemeClr val="tx1"/>
                </a:solidFill>
                <a:effectLst/>
                <a:latin typeface="+mj-lt"/>
              </a:rPr>
              <a:t>Misconfiguration</a:t>
            </a:r>
          </a:p>
          <a:p>
            <a:pPr algn="l"/>
            <a:r>
              <a:rPr lang="en-US" sz="2200" b="0" i="0" dirty="0">
                <a:solidFill>
                  <a:schemeClr val="tx1"/>
                </a:solidFill>
                <a:effectLst/>
                <a:latin typeface="+mj-lt"/>
              </a:rPr>
              <a:t>	Software commonly has various configuration settings that enable or disable different features, including security functionality. A failure to configure applications securely is a common problem, </a:t>
            </a:r>
            <a:r>
              <a:rPr lang="en-US" sz="2200" b="0" i="0" u="none" strike="noStrike" dirty="0">
                <a:solidFill>
                  <a:schemeClr val="tx1"/>
                </a:solidFill>
                <a:effectLst/>
                <a:latin typeface="+mj-lt"/>
                <a:hlinkClick r:id="rId3"/>
              </a:rPr>
              <a:t>especially in cloud environments</a:t>
            </a:r>
            <a:r>
              <a:rPr lang="en-US" sz="2200" b="0" i="0" dirty="0">
                <a:solidFill>
                  <a:schemeClr val="tx1"/>
                </a:solidFill>
                <a:effectLst/>
                <a:latin typeface="+mj-lt"/>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1976018" y="0"/>
            <a:ext cx="7717500" cy="738900"/>
          </a:xfrm>
          <a:prstGeom prst="rect">
            <a:avLst/>
          </a:prstGeom>
        </p:spPr>
        <p:txBody>
          <a:bodyPr spcFirstLastPara="1" wrap="square" lIns="91425" tIns="91425" rIns="91425" bIns="91425" anchor="t" anchorCtr="0">
            <a:noAutofit/>
          </a:bodyPr>
          <a:lstStyle/>
          <a:p>
            <a:pPr algn="l"/>
            <a:r>
              <a:rPr lang="en-PH" b="0" i="0" dirty="0">
                <a:solidFill>
                  <a:schemeClr val="tx1"/>
                </a:solidFill>
                <a:effectLst/>
                <a:latin typeface="DIN"/>
              </a:rPr>
              <a:t>Cyber Security Vulnerabilities</a:t>
            </a:r>
          </a:p>
        </p:txBody>
      </p:sp>
      <p:sp>
        <p:nvSpPr>
          <p:cNvPr id="3602" name="Google Shape;3602;p45"/>
          <p:cNvSpPr txBox="1">
            <a:spLocks noGrp="1"/>
          </p:cNvSpPr>
          <p:nvPr>
            <p:ph type="subTitle" idx="1"/>
          </p:nvPr>
        </p:nvSpPr>
        <p:spPr>
          <a:xfrm>
            <a:off x="414537" y="738900"/>
            <a:ext cx="8314925" cy="2343900"/>
          </a:xfrm>
          <a:prstGeom prst="rect">
            <a:avLst/>
          </a:prstGeom>
        </p:spPr>
        <p:txBody>
          <a:bodyPr spcFirstLastPara="1" wrap="square" lIns="91425" tIns="91425" rIns="91425" bIns="91425" anchor="t" anchorCtr="0">
            <a:noAutofit/>
          </a:bodyPr>
          <a:lstStyle/>
          <a:p>
            <a:pPr algn="l"/>
            <a:r>
              <a:rPr lang="en-US" sz="2200" b="1" i="0" dirty="0">
                <a:solidFill>
                  <a:schemeClr val="tx1"/>
                </a:solidFill>
                <a:effectLst/>
                <a:latin typeface="+mj-lt"/>
              </a:rPr>
              <a:t>Credential Theft</a:t>
            </a:r>
          </a:p>
          <a:p>
            <a:pPr algn="l"/>
            <a:r>
              <a:rPr lang="en-US" sz="2200" b="0" i="0" dirty="0">
                <a:solidFill>
                  <a:schemeClr val="tx1"/>
                </a:solidFill>
                <a:effectLst/>
                <a:latin typeface="+mj-lt"/>
              </a:rPr>
              <a:t>	Cybercriminals have different means of stealing user credentials, including phishing, malware, and </a:t>
            </a:r>
            <a:r>
              <a:rPr lang="en-US" sz="2200" b="0" i="0" u="none" strike="noStrike" dirty="0">
                <a:solidFill>
                  <a:schemeClr val="tx1"/>
                </a:solidFill>
                <a:effectLst/>
                <a:latin typeface="+mj-lt"/>
                <a:hlinkClick r:id="rId3"/>
              </a:rPr>
              <a:t>credential stuffing</a:t>
            </a:r>
            <a:r>
              <a:rPr lang="en-US" sz="2200" b="0" i="0" dirty="0">
                <a:solidFill>
                  <a:schemeClr val="tx1"/>
                </a:solidFill>
                <a:effectLst/>
                <a:latin typeface="+mj-lt"/>
              </a:rPr>
              <a:t> attacks. An attacker with access to a legitimate user’s account can use this access to attack an organization and its systems.</a:t>
            </a:r>
          </a:p>
          <a:p>
            <a:pPr algn="l"/>
            <a:r>
              <a:rPr lang="en-US" sz="2200" b="1" i="0" dirty="0">
                <a:solidFill>
                  <a:schemeClr val="tx1"/>
                </a:solidFill>
                <a:effectLst/>
                <a:latin typeface="+mj-lt"/>
              </a:rPr>
              <a:t>Vulnerable APIs</a:t>
            </a:r>
          </a:p>
          <a:p>
            <a:pPr algn="l"/>
            <a:r>
              <a:rPr lang="en-US" sz="2200" b="0" i="0" dirty="0">
                <a:solidFill>
                  <a:schemeClr val="tx1"/>
                </a:solidFill>
                <a:effectLst/>
                <a:latin typeface="+mj-lt"/>
              </a:rPr>
              <a:t>	Often, web security strategies focus on web applications, which are the more visible components of a corporate digital attack surface. However, APIs can be even more damaging if not properly secured against unauthorized access or exploitation.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1976018" y="0"/>
            <a:ext cx="7717500" cy="738900"/>
          </a:xfrm>
          <a:prstGeom prst="rect">
            <a:avLst/>
          </a:prstGeom>
        </p:spPr>
        <p:txBody>
          <a:bodyPr spcFirstLastPara="1" wrap="square" lIns="91425" tIns="91425" rIns="91425" bIns="91425" anchor="t" anchorCtr="0">
            <a:noAutofit/>
          </a:bodyPr>
          <a:lstStyle/>
          <a:p>
            <a:pPr algn="l"/>
            <a:r>
              <a:rPr lang="en-US" sz="3200" b="0" i="0" dirty="0">
                <a:solidFill>
                  <a:schemeClr val="tx1"/>
                </a:solidFill>
                <a:effectLst/>
                <a:latin typeface="DIN"/>
              </a:rPr>
              <a:t>How to Protect Against Vulnerabilities?</a:t>
            </a:r>
          </a:p>
        </p:txBody>
      </p:sp>
      <p:sp>
        <p:nvSpPr>
          <p:cNvPr id="3602" name="Google Shape;3602;p45"/>
          <p:cNvSpPr txBox="1">
            <a:spLocks noGrp="1"/>
          </p:cNvSpPr>
          <p:nvPr>
            <p:ph type="subTitle" idx="1"/>
          </p:nvPr>
        </p:nvSpPr>
        <p:spPr>
          <a:xfrm>
            <a:off x="281372" y="1022986"/>
            <a:ext cx="8314925" cy="2343900"/>
          </a:xfrm>
          <a:prstGeom prst="rect">
            <a:avLst/>
          </a:prstGeom>
        </p:spPr>
        <p:txBody>
          <a:bodyPr spcFirstLastPara="1" wrap="square" lIns="91425" tIns="91425" rIns="91425" bIns="91425" anchor="t" anchorCtr="0">
            <a:noAutofit/>
          </a:bodyPr>
          <a:lstStyle/>
          <a:p>
            <a:pPr algn="just">
              <a:buFont typeface="Arial" panose="020B0604020202020204" pitchFamily="34" charset="0"/>
              <a:buChar char="•"/>
            </a:pPr>
            <a:r>
              <a:rPr lang="en-US" sz="2400" b="1" i="0" dirty="0">
                <a:solidFill>
                  <a:schemeClr val="tx1"/>
                </a:solidFill>
                <a:effectLst/>
                <a:latin typeface="+mj-lt"/>
              </a:rPr>
              <a:t>Vulnerability Scanning:</a:t>
            </a:r>
            <a:r>
              <a:rPr lang="en-US" sz="2400" b="0" i="0" dirty="0">
                <a:solidFill>
                  <a:schemeClr val="tx1"/>
                </a:solidFill>
                <a:effectLst/>
                <a:latin typeface="+mj-lt"/>
              </a:rPr>
              <a:t> A </a:t>
            </a:r>
            <a:r>
              <a:rPr lang="en-US" sz="2400" b="0" i="0" u="none" strike="noStrike" dirty="0">
                <a:solidFill>
                  <a:schemeClr val="tx1"/>
                </a:solidFill>
                <a:effectLst/>
                <a:latin typeface="+mj-lt"/>
                <a:hlinkClick r:id="rId3"/>
              </a:rPr>
              <a:t>vulnerability scanner</a:t>
            </a:r>
            <a:r>
              <a:rPr lang="en-US" sz="2400" b="0" i="0" dirty="0">
                <a:solidFill>
                  <a:schemeClr val="tx1"/>
                </a:solidFill>
                <a:effectLst/>
                <a:latin typeface="+mj-lt"/>
              </a:rPr>
              <a:t> can automatically identify many of the vulnerabilities in an organization’s systems. Performing a vulnerability scan provides insight into the issues that need correction and where the company is most likely to be attacked.</a:t>
            </a:r>
          </a:p>
          <a:p>
            <a:pPr algn="l">
              <a:buFont typeface="Arial" panose="020B0604020202020204" pitchFamily="34" charset="0"/>
              <a:buChar char="•"/>
            </a:pPr>
            <a:endParaRPr lang="en-US" sz="2400" b="0" i="0" dirty="0">
              <a:solidFill>
                <a:schemeClr val="tx1"/>
              </a:solidFill>
              <a:effectLst/>
              <a:latin typeface="+mj-lt"/>
            </a:endParaRPr>
          </a:p>
          <a:p>
            <a:pPr algn="just">
              <a:buFont typeface="Arial" panose="020B0604020202020204" pitchFamily="34" charset="0"/>
              <a:buChar char="•"/>
            </a:pPr>
            <a:r>
              <a:rPr lang="en-US" sz="2400" b="1" i="0" dirty="0">
                <a:solidFill>
                  <a:schemeClr val="tx1"/>
                </a:solidFill>
                <a:effectLst/>
                <a:latin typeface="+mj-lt"/>
              </a:rPr>
              <a:t>Access Control:</a:t>
            </a:r>
            <a:r>
              <a:rPr lang="en-US" sz="2400" b="0" i="0" dirty="0">
                <a:solidFill>
                  <a:schemeClr val="tx1"/>
                </a:solidFill>
                <a:effectLst/>
                <a:latin typeface="+mj-lt"/>
              </a:rPr>
              <a:t> Many vulnerabilities arise from weak authentication and access control. Implementing </a:t>
            </a:r>
            <a:r>
              <a:rPr lang="en-US" sz="2400" b="0" i="0" u="none" strike="noStrike" dirty="0">
                <a:solidFill>
                  <a:schemeClr val="tx1"/>
                </a:solidFill>
                <a:effectLst/>
                <a:latin typeface="+mj-lt"/>
                <a:hlinkClick r:id="rId4"/>
              </a:rPr>
              <a:t>least privilege</a:t>
            </a:r>
            <a:r>
              <a:rPr lang="en-US" sz="2400" b="0" i="0" dirty="0">
                <a:solidFill>
                  <a:schemeClr val="tx1"/>
                </a:solidFill>
                <a:effectLst/>
                <a:latin typeface="+mj-lt"/>
              </a:rPr>
              <a:t> and deploying multi-factor authentication (MFA) can help to limit the risk of account takeover attacks.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1976018" y="0"/>
            <a:ext cx="7717500" cy="738900"/>
          </a:xfrm>
          <a:prstGeom prst="rect">
            <a:avLst/>
          </a:prstGeom>
        </p:spPr>
        <p:txBody>
          <a:bodyPr spcFirstLastPara="1" wrap="square" lIns="91425" tIns="91425" rIns="91425" bIns="91425" anchor="t" anchorCtr="0">
            <a:noAutofit/>
          </a:bodyPr>
          <a:lstStyle/>
          <a:p>
            <a:pPr algn="l"/>
            <a:r>
              <a:rPr lang="en-US" sz="3200" b="0" i="0" dirty="0">
                <a:solidFill>
                  <a:schemeClr val="tx1"/>
                </a:solidFill>
                <a:effectLst/>
                <a:latin typeface="DIN"/>
              </a:rPr>
              <a:t>How to Protect Against Vulnerabilities?</a:t>
            </a:r>
          </a:p>
        </p:txBody>
      </p:sp>
      <p:sp>
        <p:nvSpPr>
          <p:cNvPr id="3602" name="Google Shape;3602;p45"/>
          <p:cNvSpPr txBox="1">
            <a:spLocks noGrp="1"/>
          </p:cNvSpPr>
          <p:nvPr>
            <p:ph type="subTitle" idx="1"/>
          </p:nvPr>
        </p:nvSpPr>
        <p:spPr>
          <a:xfrm>
            <a:off x="433649" y="916453"/>
            <a:ext cx="7467477" cy="23439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2200" b="1" i="0" dirty="0">
                <a:solidFill>
                  <a:schemeClr val="tx1"/>
                </a:solidFill>
                <a:effectLst/>
                <a:latin typeface="+mj-lt"/>
              </a:rPr>
              <a:t>Validate User Input:</a:t>
            </a:r>
            <a:r>
              <a:rPr lang="en-US" sz="2200" b="0" i="0" dirty="0">
                <a:solidFill>
                  <a:schemeClr val="tx1"/>
                </a:solidFill>
                <a:effectLst/>
                <a:latin typeface="+mj-lt"/>
              </a:rPr>
              <a:t> Many exploits take advantage of poor input validation. Applications should be designed to fully validate input before trusting and processing it.</a:t>
            </a:r>
          </a:p>
          <a:p>
            <a:pPr algn="l">
              <a:buFont typeface="Arial" panose="020B0604020202020204" pitchFamily="34" charset="0"/>
              <a:buChar char="•"/>
            </a:pPr>
            <a:endParaRPr lang="en-US" sz="2200" b="0" i="0" dirty="0">
              <a:solidFill>
                <a:schemeClr val="tx1"/>
              </a:solidFill>
              <a:effectLst/>
              <a:latin typeface="+mj-lt"/>
            </a:endParaRPr>
          </a:p>
          <a:p>
            <a:pPr algn="l">
              <a:buFont typeface="Arial" panose="020B0604020202020204" pitchFamily="34" charset="0"/>
              <a:buChar char="•"/>
            </a:pPr>
            <a:r>
              <a:rPr lang="en-US" sz="2200" b="1" i="0" dirty="0">
                <a:solidFill>
                  <a:schemeClr val="tx1"/>
                </a:solidFill>
                <a:effectLst/>
                <a:latin typeface="+mj-lt"/>
              </a:rPr>
              <a:t>Automate Security Monitoring:</a:t>
            </a:r>
            <a:r>
              <a:rPr lang="en-US" sz="2200" b="0" i="0" dirty="0">
                <a:solidFill>
                  <a:schemeClr val="tx1"/>
                </a:solidFill>
                <a:effectLst/>
                <a:latin typeface="+mj-lt"/>
              </a:rPr>
              <a:t> Many companies have sprawling IT architectures, making it difficult or impossible to manually track configuration settings and cyber defenses. Automating security monitoring and management enables security teams to scale and quickly remediate issues.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1976018" y="0"/>
            <a:ext cx="7717500" cy="738900"/>
          </a:xfrm>
          <a:prstGeom prst="rect">
            <a:avLst/>
          </a:prstGeom>
        </p:spPr>
        <p:txBody>
          <a:bodyPr spcFirstLastPara="1" wrap="square" lIns="91425" tIns="91425" rIns="91425" bIns="91425" anchor="t" anchorCtr="0">
            <a:noAutofit/>
          </a:bodyPr>
          <a:lstStyle/>
          <a:p>
            <a:pPr algn="l"/>
            <a:r>
              <a:rPr lang="en-US" sz="3200" b="0" i="0" dirty="0">
                <a:solidFill>
                  <a:schemeClr val="tx1"/>
                </a:solidFill>
                <a:effectLst/>
                <a:latin typeface="DIN"/>
              </a:rPr>
              <a:t>How to Protect Against Vulnerabilities?</a:t>
            </a:r>
          </a:p>
        </p:txBody>
      </p:sp>
      <p:sp>
        <p:nvSpPr>
          <p:cNvPr id="3602" name="Google Shape;3602;p45"/>
          <p:cNvSpPr txBox="1">
            <a:spLocks noGrp="1"/>
          </p:cNvSpPr>
          <p:nvPr>
            <p:ph type="subTitle" idx="1"/>
          </p:nvPr>
        </p:nvSpPr>
        <p:spPr>
          <a:xfrm>
            <a:off x="512191" y="951965"/>
            <a:ext cx="7841696" cy="23439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2200" b="1" i="0" dirty="0">
                <a:solidFill>
                  <a:schemeClr val="tx1"/>
                </a:solidFill>
                <a:effectLst/>
                <a:latin typeface="+mj-lt"/>
              </a:rPr>
              <a:t>Deploy Security Solutions:</a:t>
            </a:r>
            <a:r>
              <a:rPr lang="en-US" sz="2200" b="0" i="0" dirty="0">
                <a:solidFill>
                  <a:schemeClr val="tx1"/>
                </a:solidFill>
                <a:effectLst/>
                <a:latin typeface="+mj-lt"/>
              </a:rPr>
              <a:t> Many common types of attacks can be identified and blocked by cybersecurity solutions such as firewalls or endpoint security tools. Deploying a comprehensive, integrated security architecture can reduce the risks posed by vulnerabilities.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1426500" y="1935331"/>
            <a:ext cx="7717500" cy="738900"/>
          </a:xfrm>
          <a:prstGeom prst="rect">
            <a:avLst/>
          </a:prstGeom>
        </p:spPr>
        <p:txBody>
          <a:bodyPr spcFirstLastPara="1" wrap="square" lIns="91425" tIns="91425" rIns="91425" bIns="91425" anchor="t" anchorCtr="0">
            <a:noAutofit/>
          </a:bodyPr>
          <a:lstStyle/>
          <a:p>
            <a:pPr algn="l"/>
            <a:r>
              <a:rPr lang="en-US" sz="4000" b="1" i="0" dirty="0">
                <a:solidFill>
                  <a:schemeClr val="tx1"/>
                </a:solidFill>
                <a:effectLst/>
                <a:latin typeface="+mj-lt"/>
              </a:rPr>
              <a:t>What is a Cyber Attack?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778429" y="1020931"/>
            <a:ext cx="7788521" cy="738900"/>
          </a:xfrm>
          <a:prstGeom prst="rect">
            <a:avLst/>
          </a:prstGeom>
        </p:spPr>
        <p:txBody>
          <a:bodyPr spcFirstLastPara="1" wrap="square" lIns="91425" tIns="91425" rIns="91425" bIns="91425" anchor="t" anchorCtr="0">
            <a:noAutofit/>
          </a:bodyPr>
          <a:lstStyle/>
          <a:p>
            <a:pPr algn="l"/>
            <a:r>
              <a:rPr lang="en-US" sz="2800" b="0" i="0" dirty="0">
                <a:solidFill>
                  <a:schemeClr val="tx1"/>
                </a:solidFill>
                <a:effectLst/>
                <a:latin typeface="Inter"/>
              </a:rPr>
              <a:t>A </a:t>
            </a:r>
            <a:r>
              <a:rPr lang="en-US" sz="2800" b="1" i="0" u="none" strike="noStrike" dirty="0">
                <a:solidFill>
                  <a:schemeClr val="tx1"/>
                </a:solidFill>
                <a:effectLst/>
                <a:latin typeface="Inter"/>
                <a:hlinkClick r:id="rId3"/>
              </a:rPr>
              <a:t>cyber attack</a:t>
            </a:r>
            <a:r>
              <a:rPr lang="en-US" sz="2800" b="0" i="0" dirty="0">
                <a:solidFill>
                  <a:schemeClr val="tx1"/>
                </a:solidFill>
                <a:effectLst/>
                <a:latin typeface="Inter"/>
              </a:rPr>
              <a:t> refers to an action designed to target a computer or any element of a computerized information system to change, destroy, or steal data, as well as exploit or harm a network. Cyber attacks have been on the rise, in sync with the digitization of business that has become more and more popular in recent years. </a:t>
            </a:r>
            <a:endParaRPr lang="en-US" sz="4800" b="1" i="0" dirty="0">
              <a:solidFill>
                <a:schemeClr val="tx1"/>
              </a:solidFill>
              <a:effectLst/>
              <a:latin typeface="+mj-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4888791" y="1592515"/>
            <a:ext cx="2799272" cy="738900"/>
          </a:xfrm>
          <a:prstGeom prst="rect">
            <a:avLst/>
          </a:prstGeom>
        </p:spPr>
        <p:txBody>
          <a:bodyPr spcFirstLastPara="1" wrap="square" lIns="91425" tIns="91425" rIns="91425" bIns="91425" anchor="t" anchorCtr="0">
            <a:noAutofit/>
          </a:bodyPr>
          <a:lstStyle/>
          <a:p>
            <a:pPr algn="l"/>
            <a:r>
              <a:rPr lang="en-US" sz="3200" b="1" i="0" dirty="0">
                <a:solidFill>
                  <a:schemeClr val="tx1"/>
                </a:solidFill>
                <a:effectLst/>
                <a:latin typeface="Inter"/>
              </a:rPr>
              <a:t>Most Common Types of Cybersecurity Attacks</a:t>
            </a:r>
          </a:p>
        </p:txBody>
      </p:sp>
      <p:pic>
        <p:nvPicPr>
          <p:cNvPr id="2" name="Picture 1"/>
          <p:cNvPicPr>
            <a:picLocks noChangeAspect="1"/>
          </p:cNvPicPr>
          <p:nvPr/>
        </p:nvPicPr>
        <p:blipFill>
          <a:blip r:embed="rId3"/>
          <a:stretch>
            <a:fillRect/>
          </a:stretch>
        </p:blipFill>
        <p:spPr>
          <a:xfrm>
            <a:off x="-1" y="0"/>
            <a:ext cx="4572001"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798990" y="805731"/>
            <a:ext cx="7874493" cy="4337769"/>
          </a:xfrm>
          <a:prstGeom prst="rect">
            <a:avLst/>
          </a:prstGeom>
        </p:spPr>
        <p:txBody>
          <a:bodyPr spcFirstLastPara="1" wrap="square" lIns="91425" tIns="91425" rIns="91425" bIns="91425" anchor="t" anchorCtr="0">
            <a:noAutofit/>
          </a:bodyPr>
          <a:lstStyle/>
          <a:p>
            <a:pPr algn="l"/>
            <a:r>
              <a:rPr lang="en-US" sz="2500" b="1" i="0" dirty="0">
                <a:solidFill>
                  <a:schemeClr val="tx1"/>
                </a:solidFill>
                <a:effectLst/>
                <a:latin typeface="+mj-lt"/>
              </a:rPr>
              <a:t>Whale-phishing attacks</a:t>
            </a:r>
            <a:br>
              <a:rPr lang="en-US" sz="2500" b="1" i="0" dirty="0">
                <a:solidFill>
                  <a:schemeClr val="tx1"/>
                </a:solidFill>
                <a:effectLst/>
                <a:latin typeface="+mj-lt"/>
              </a:rPr>
            </a:br>
            <a:br>
              <a:rPr lang="en-US" sz="2500" b="1" i="0" dirty="0">
                <a:solidFill>
                  <a:schemeClr val="tx1"/>
                </a:solidFill>
                <a:effectLst/>
                <a:latin typeface="+mj-lt"/>
              </a:rPr>
            </a:br>
            <a:r>
              <a:rPr lang="en-US" sz="2500" b="1" i="0" dirty="0">
                <a:solidFill>
                  <a:schemeClr val="tx1"/>
                </a:solidFill>
                <a:effectLst/>
                <a:latin typeface="+mj-lt"/>
              </a:rPr>
              <a:t>	</a:t>
            </a:r>
            <a:r>
              <a:rPr lang="en-US" sz="2500" b="0" i="0" dirty="0">
                <a:solidFill>
                  <a:schemeClr val="tx1"/>
                </a:solidFill>
                <a:effectLst/>
                <a:latin typeface="+mj-lt"/>
              </a:rPr>
              <a:t>A whale-phishing attack is so-named because it goes after the “big fish” or whales of an organization, which typically include those in the C-suite or others in charge of the organization. These individuals are likely to possess information that can be valuable to attackers, such as proprietary information about the business or its operations.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798990" y="805731"/>
            <a:ext cx="7874493" cy="4337769"/>
          </a:xfrm>
          <a:prstGeom prst="rect">
            <a:avLst/>
          </a:prstGeom>
        </p:spPr>
        <p:txBody>
          <a:bodyPr spcFirstLastPara="1" wrap="square" lIns="91425" tIns="91425" rIns="91425" bIns="91425" anchor="t" anchorCtr="0">
            <a:noAutofit/>
          </a:bodyPr>
          <a:lstStyle/>
          <a:p>
            <a:pPr algn="l"/>
            <a:r>
              <a:rPr lang="en-US" sz="1800" b="1" i="0" dirty="0">
                <a:solidFill>
                  <a:schemeClr val="tx1"/>
                </a:solidFill>
                <a:effectLst/>
                <a:latin typeface="+mj-lt"/>
              </a:rPr>
              <a:t>Spear-phishing attacks</a:t>
            </a:r>
            <a:br>
              <a:rPr lang="en-US" sz="1800" b="1" i="0" dirty="0">
                <a:solidFill>
                  <a:schemeClr val="tx1"/>
                </a:solidFill>
                <a:effectLst/>
                <a:latin typeface="+mj-lt"/>
              </a:rPr>
            </a:br>
            <a:r>
              <a:rPr lang="en-US" sz="1800" b="1" i="0" dirty="0">
                <a:solidFill>
                  <a:schemeClr val="tx1"/>
                </a:solidFill>
                <a:effectLst/>
                <a:latin typeface="+mj-lt"/>
              </a:rPr>
              <a:t>	</a:t>
            </a:r>
            <a:r>
              <a:rPr lang="en-US" sz="1800" b="1" i="0" u="none" strike="noStrike" dirty="0">
                <a:solidFill>
                  <a:schemeClr val="tx1"/>
                </a:solidFill>
                <a:effectLst/>
                <a:latin typeface="+mj-lt"/>
                <a:hlinkClick r:id="rId3"/>
              </a:rPr>
              <a:t>Spear phishing</a:t>
            </a:r>
            <a:r>
              <a:rPr lang="en-US" sz="1800" b="0" i="0" dirty="0">
                <a:solidFill>
                  <a:schemeClr val="tx1"/>
                </a:solidFill>
                <a:effectLst/>
                <a:latin typeface="+mj-lt"/>
              </a:rPr>
              <a:t> refers to a specific type of targeted phishing attack. The attacker takes the time to research their intended targets and then write messages the target is likely to find personally relevant. These types of attacks are aptly called “spear” phishing because of the way the attacker hones in on one specific target. The message will seem legitimate, which is why it can be difficult to spot a spear-phishing attack.</a:t>
            </a:r>
            <a:br>
              <a:rPr lang="en-US" sz="1800" b="0" i="0" dirty="0">
                <a:solidFill>
                  <a:schemeClr val="tx1"/>
                </a:solidFill>
                <a:effectLst/>
                <a:latin typeface="+mj-lt"/>
              </a:rPr>
            </a:br>
            <a:br>
              <a:rPr lang="en-US" sz="1800" b="0" i="0" dirty="0">
                <a:solidFill>
                  <a:schemeClr val="tx1"/>
                </a:solidFill>
                <a:effectLst/>
                <a:latin typeface="+mj-lt"/>
              </a:rPr>
            </a:br>
            <a:r>
              <a:rPr lang="en-US" sz="1800" b="1" i="0" dirty="0">
                <a:solidFill>
                  <a:schemeClr val="tx1"/>
                </a:solidFill>
                <a:effectLst/>
                <a:latin typeface="+mj-lt"/>
              </a:rPr>
              <a:t>URL interpretation</a:t>
            </a:r>
            <a:br>
              <a:rPr lang="en-US" sz="1800" b="1" i="0" dirty="0">
                <a:solidFill>
                  <a:schemeClr val="tx1"/>
                </a:solidFill>
                <a:effectLst/>
                <a:latin typeface="+mj-lt"/>
              </a:rPr>
            </a:br>
            <a:r>
              <a:rPr lang="en-US" sz="1800" b="1" i="0" dirty="0">
                <a:solidFill>
                  <a:schemeClr val="tx1"/>
                </a:solidFill>
                <a:effectLst/>
                <a:latin typeface="+mj-lt"/>
              </a:rPr>
              <a:t>	</a:t>
            </a:r>
            <a:r>
              <a:rPr lang="en-US" sz="1800" b="0" i="0" dirty="0">
                <a:solidFill>
                  <a:schemeClr val="tx1"/>
                </a:solidFill>
                <a:effectLst/>
                <a:latin typeface="+mj-lt"/>
              </a:rPr>
              <a:t>With URL interpretation, attackers alter and fabricate certain URL addresses and use them to gain access to the target’s personal and professional data. This kind of attack is also referred to as URL poisoning.</a:t>
            </a:r>
            <a:br>
              <a:rPr lang="en-US" sz="1800" b="0" i="0" dirty="0">
                <a:solidFill>
                  <a:schemeClr val="tx1"/>
                </a:solidFill>
                <a:effectLst/>
                <a:latin typeface="+mj-lt"/>
              </a:rPr>
            </a:br>
            <a:endParaRPr lang="en-US" sz="1800" b="0" i="0" dirty="0">
              <a:solidFill>
                <a:schemeClr val="tx1"/>
              </a:solidFill>
              <a:effectLst/>
              <a:latin typeface="+mj-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798990" y="805731"/>
            <a:ext cx="7874493" cy="4337769"/>
          </a:xfrm>
          <a:prstGeom prst="rect">
            <a:avLst/>
          </a:prstGeom>
        </p:spPr>
        <p:txBody>
          <a:bodyPr spcFirstLastPara="1" wrap="square" lIns="91425" tIns="91425" rIns="91425" bIns="91425" anchor="t" anchorCtr="0">
            <a:noAutofit/>
          </a:bodyPr>
          <a:lstStyle/>
          <a:p>
            <a:pPr algn="l"/>
            <a:r>
              <a:rPr lang="en-US" sz="1800" b="1" i="0" dirty="0">
                <a:solidFill>
                  <a:schemeClr val="tx1"/>
                </a:solidFill>
                <a:effectLst/>
                <a:latin typeface="+mj-lt"/>
              </a:rPr>
              <a:t>14. Insider threats</a:t>
            </a:r>
            <a:br>
              <a:rPr lang="en-US" sz="1800" b="1" i="0" dirty="0">
                <a:solidFill>
                  <a:schemeClr val="tx1"/>
                </a:solidFill>
                <a:effectLst/>
                <a:latin typeface="+mj-lt"/>
              </a:rPr>
            </a:br>
            <a:r>
              <a:rPr lang="en-US" sz="1800" dirty="0">
                <a:solidFill>
                  <a:schemeClr val="tx1"/>
                </a:solidFill>
                <a:latin typeface="+mj-lt"/>
              </a:rPr>
              <a:t>	</a:t>
            </a:r>
            <a:r>
              <a:rPr lang="en-US" sz="1800" b="0" i="0" dirty="0">
                <a:solidFill>
                  <a:schemeClr val="tx1"/>
                </a:solidFill>
                <a:effectLst/>
                <a:latin typeface="+mj-lt"/>
              </a:rPr>
              <a:t>Sometimes, the most dangerous actors come from within an organization. People within a company’s own doors pose a special danger because they typically have access to a variety of systems, and in some cases, admin privileges that enable them to make critical changes to the system or its security policies.</a:t>
            </a:r>
            <a:br>
              <a:rPr lang="en-US" sz="1800" b="0" i="0" dirty="0">
                <a:solidFill>
                  <a:schemeClr val="tx1"/>
                </a:solidFill>
                <a:effectLst/>
                <a:latin typeface="+mj-lt"/>
              </a:rPr>
            </a:br>
            <a:br>
              <a:rPr lang="en-US" sz="1800" b="0" i="0" dirty="0">
                <a:solidFill>
                  <a:schemeClr val="tx1"/>
                </a:solidFill>
                <a:effectLst/>
                <a:latin typeface="+mj-lt"/>
              </a:rPr>
            </a:br>
            <a:r>
              <a:rPr lang="en-US" sz="1800" b="1" i="0" dirty="0">
                <a:solidFill>
                  <a:schemeClr val="tx1"/>
                </a:solidFill>
                <a:effectLst/>
                <a:latin typeface="+mj-lt"/>
              </a:rPr>
              <a:t>Drive-by attacks</a:t>
            </a:r>
            <a:br>
              <a:rPr lang="en-US" sz="1800" b="1" i="0" dirty="0">
                <a:solidFill>
                  <a:schemeClr val="tx1"/>
                </a:solidFill>
                <a:effectLst/>
                <a:latin typeface="+mj-lt"/>
              </a:rPr>
            </a:br>
            <a:r>
              <a:rPr lang="en-US" sz="1800" b="1" i="0" dirty="0">
                <a:solidFill>
                  <a:schemeClr val="tx1"/>
                </a:solidFill>
                <a:effectLst/>
                <a:latin typeface="+mj-lt"/>
              </a:rPr>
              <a:t>	</a:t>
            </a:r>
            <a:r>
              <a:rPr lang="en-US" sz="1800" b="0" i="0" dirty="0">
                <a:solidFill>
                  <a:schemeClr val="tx1"/>
                </a:solidFill>
                <a:effectLst/>
                <a:latin typeface="+mj-lt"/>
              </a:rPr>
              <a:t>In a drive-by attack, a hacker embeds malicious code into an insecure website. When a user visits the site, the script is automatically executed on their computer, infecting it. The designation “drive by” comes from the fact that the victim only has to “drive by” the site by visiting it to get infected. There is no need to click on anything on the site or enter any information.</a:t>
            </a:r>
            <a:br>
              <a:rPr lang="en-US" sz="1800" b="0" i="0" dirty="0">
                <a:solidFill>
                  <a:schemeClr val="tx1"/>
                </a:solidFill>
                <a:effectLst/>
                <a:latin typeface="+mj-lt"/>
              </a:rPr>
            </a:br>
            <a:endParaRPr lang="en-US" sz="1800" b="0" i="0" dirty="0">
              <a:solidFill>
                <a:schemeClr val="tx1"/>
              </a:solidFill>
              <a:effectLst/>
              <a:latin typeface="+mj-lt"/>
            </a:endParaRPr>
          </a:p>
        </p:txBody>
      </p:sp>
    </p:spTree>
  </p:cSld>
  <p:clrMapOvr>
    <a:masterClrMapping/>
  </p:clrMapOvr>
</p:sld>
</file>

<file path=ppt/theme/theme1.xml><?xml version="1.0" encoding="utf-8"?>
<a:theme xmlns:a="http://schemas.openxmlformats.org/drawingml/2006/main" name="Cyber Security Kill Chain by Slidesgo">
  <a:themeElements>
    <a:clrScheme name="Simple Light">
      <a:dk1>
        <a:srgbClr val="FFFFFF"/>
      </a:dk1>
      <a:lt1>
        <a:srgbClr val="00394B"/>
      </a:lt1>
      <a:dk2>
        <a:srgbClr val="002530"/>
      </a:dk2>
      <a:lt2>
        <a:srgbClr val="006F80"/>
      </a:lt2>
      <a:accent1>
        <a:srgbClr val="10908D"/>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12513</Words>
  <Application>Microsoft Office PowerPoint</Application>
  <PresentationFormat>On-screen Show (16:9)</PresentationFormat>
  <Paragraphs>374</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Advent Pro</vt:lpstr>
      <vt:lpstr>Alumni Sans Pinstripe</vt:lpstr>
      <vt:lpstr>DIN</vt:lpstr>
      <vt:lpstr>Inter</vt:lpstr>
      <vt:lpstr>neo-sans</vt:lpstr>
      <vt:lpstr>Open Sans</vt:lpstr>
      <vt:lpstr>Open Sans Medium</vt:lpstr>
      <vt:lpstr>Arial</vt:lpstr>
      <vt:lpstr>Cyber Security Kill Chain by Slidesgo</vt:lpstr>
      <vt:lpstr>Threats, vulnerabilities and types of attacks</vt:lpstr>
      <vt:lpstr>What are cyber threats?</vt:lpstr>
      <vt:lpstr>Common Sources of Cyber Threats</vt:lpstr>
      <vt:lpstr>Common Sources of Cyber Threats</vt:lpstr>
      <vt:lpstr>Common Sources of Cyber Threats</vt:lpstr>
      <vt:lpstr>Common Sources of Cyber Threats</vt:lpstr>
      <vt:lpstr>Common Sources of Cyber Threats</vt:lpstr>
      <vt:lpstr>Types of Cybersecurity Threats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Cyber Security Vulnerabilities</vt:lpstr>
      <vt:lpstr>Cyber Security Vulnerabilities</vt:lpstr>
      <vt:lpstr>Cyber Security Vulnerabilities</vt:lpstr>
      <vt:lpstr>Cyber Security Vulnerabilities</vt:lpstr>
      <vt:lpstr>How to Protect Against Vulnerabilities?</vt:lpstr>
      <vt:lpstr>How to Protect Against Vulnerabilities?</vt:lpstr>
      <vt:lpstr>How to Protect Against Vulnerabilities?</vt:lpstr>
      <vt:lpstr>What is a Cyber Attack?</vt:lpstr>
      <vt:lpstr>A cyber attack refers to an action designed to target a computer or any element of a computerized information system to change, destroy, or steal data, as well as exploit or harm a network. Cyber attacks have been on the rise, in sync with the digitization of business that has become more and more popular in recent years. </vt:lpstr>
      <vt:lpstr>Most Common Types of Cybersecurity Attacks</vt:lpstr>
      <vt:lpstr>Whale-phishing attacks   A whale-phishing attack is so-named because it goes after the “big fish” or whales of an organization, which typically include those in the C-suite or others in charge of the organization. These individuals are likely to possess information that can be valuable to attackers, such as proprietary information about the business or its operations. </vt:lpstr>
      <vt:lpstr>Spear-phishing attacks  Spear phishing refers to a specific type of targeted phishing attack. The attacker takes the time to research their intended targets and then write messages the target is likely to find personally relevant. These types of attacks are aptly called “spear” phishing because of the way the attacker hones in on one specific target. The message will seem legitimate, which is why it can be difficult to spot a spear-phishing attack.  URL interpretation  With URL interpretation, attackers alter and fabricate certain URL addresses and use them to gain access to the target’s personal and professional data. This kind of attack is also referred to as URL poisoning. </vt:lpstr>
      <vt:lpstr>14. Insider threats  Sometimes, the most dangerous actors come from within an organization. People within a company’s own doors pose a special danger because they typically have access to a variety of systems, and in some cases, admin privileges that enable them to make critical changes to the system or its security policies.  Drive-by attacks  In a drive-by attack, a hacker embeds malicious code into an insecure website. When a user visits the site, the script is automatically executed on their computer, infecting it. The designation “drive by” comes from the fact that the victim only has to “drive by” the site by visiting it to get infected. There is no need to click on anything on the site or enter any information.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Threats, vulnerabilities and types of attacks</dc:title>
  <dc:creator>Argie Amora</dc:creator>
  <cp:lastModifiedBy>Win10</cp:lastModifiedBy>
  <cp:revision>7</cp:revision>
  <dcterms:created xsi:type="dcterms:W3CDTF">2024-09-16T21:22:00Z</dcterms:created>
  <dcterms:modified xsi:type="dcterms:W3CDTF">2025-11-15T14:17:22Z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3D17B2078DA04F7CBC1A758E79E04677_12</vt:lpwstr>
  </property>
  <property fmtid="{D5CDD505-2E9C-101B-9397-08002B2CF9AE}" pid="3" name="KSOProductBuildVer">
    <vt:lpwstr>1033-12.2.0.17562</vt:lpwstr>
  </property>
</Properties>
</file>