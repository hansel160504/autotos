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108" d="100"/>
          <a:sy n="108" d="100"/>
        </p:scale>
        <p:origin x="74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74423" y="802298"/>
            <a:ext cx="8637073" cy="2920713"/>
          </a:xfrm>
        </p:spPr>
        <p:txBody>
          <a:bodyPr bIns="0" anchor="b">
            <a:normAutofit/>
          </a:bodyPr>
          <a:lstStyle>
            <a:lvl1pPr algn="ctr">
              <a:defRPr sz="6600"/>
            </a:lvl1pPr>
          </a:lstStyle>
          <a:p>
            <a:r>
              <a:rPr lang="en-US"/>
              <a:t>Click to edit Master title style</a:t>
            </a:r>
            <a:endParaRPr lang="en-US" dirty="0"/>
          </a:p>
        </p:txBody>
      </p:sp>
      <p:sp>
        <p:nvSpPr>
          <p:cNvPr id="3" name="Subtitle 2"/>
          <p:cNvSpPr>
            <a:spLocks noGrp="1"/>
          </p:cNvSpPr>
          <p:nvPr>
            <p:ph type="subTitle" idx="1"/>
          </p:nvPr>
        </p:nvSpPr>
        <p:spPr>
          <a:xfrm>
            <a:off x="1774424" y="3724074"/>
            <a:ext cx="8637072" cy="977621"/>
          </a:xfrm>
        </p:spPr>
        <p:txBody>
          <a:bodyPr tIns="91440" bIns="91440">
            <a:normAutofit/>
          </a:bodyPr>
          <a:lstStyle>
            <a:lvl1pPr marL="0" indent="0" algn="ctr">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11/15/2025</a:t>
            </a:fld>
            <a:endParaRPr lang="en-US" dirty="0"/>
          </a:p>
        </p:txBody>
      </p:sp>
      <p:sp>
        <p:nvSpPr>
          <p:cNvPr id="5" name="Footer Placeholder 4"/>
          <p:cNvSpPr>
            <a:spLocks noGrp="1"/>
          </p:cNvSpPr>
          <p:nvPr>
            <p:ph type="ftr" sz="quarter" idx="11"/>
          </p:nvPr>
        </p:nvSpPr>
        <p:spPr>
          <a:xfrm>
            <a:off x="1451579" y="329307"/>
            <a:ext cx="5626774" cy="309201"/>
          </a:xfrm>
        </p:spPr>
        <p:txBody>
          <a:bodyPr/>
          <a:lstStyle/>
          <a:p>
            <a:endParaRPr lang="en-US" dirty="0"/>
          </a:p>
        </p:txBody>
      </p:sp>
      <p:sp>
        <p:nvSpPr>
          <p:cNvPr id="6" name="Slide Number Placeholder 5"/>
          <p:cNvSpPr>
            <a:spLocks noGrp="1"/>
          </p:cNvSpPr>
          <p:nvPr>
            <p:ph type="sldNum" sz="quarter" idx="12"/>
          </p:nvPr>
        </p:nvSpPr>
        <p:spPr>
          <a:xfrm>
            <a:off x="476834" y="798973"/>
            <a:ext cx="811019" cy="503578"/>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0"/>
            <a:ext cx="8643154" cy="1969007"/>
          </a:xfrm>
        </p:spPr>
        <p:txBody>
          <a:bodyPr anchor="b">
            <a:normAutofit/>
          </a:bodyPr>
          <a:lstStyle>
            <a:lvl1pPr algn="ctr">
              <a:defRPr sz="3600"/>
            </a:lvl1pPr>
          </a:lstStyle>
          <a:p>
            <a:r>
              <a:rPr lang="en-US"/>
              <a:t>Click to edit Master title style</a:t>
            </a:r>
            <a:endParaRPr lang="en-US" dirty="0"/>
          </a:p>
        </p:txBody>
      </p:sp>
      <p:sp>
        <p:nvSpPr>
          <p:cNvPr id="3" name="Text Placeholder 2"/>
          <p:cNvSpPr>
            <a:spLocks noGrp="1"/>
          </p:cNvSpPr>
          <p:nvPr>
            <p:ph type="body" idx="1"/>
          </p:nvPr>
        </p:nvSpPr>
        <p:spPr>
          <a:xfrm>
            <a:off x="1774423" y="3725137"/>
            <a:ext cx="8643154" cy="1093987"/>
          </a:xfrm>
        </p:spPr>
        <p:txBody>
          <a:bodyPr tIns="91440">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293577"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488654"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54140" y="2017343"/>
            <a:ext cx="4488654"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295603"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488794"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488794"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56025" y="2023003"/>
            <a:ext cx="4488794"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56025" y="2821491"/>
            <a:ext cx="4488794"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11/15/2025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11/15/2025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11/15/2025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2961967" cy="2406518"/>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73032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2961967"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blipFill dpi="0" rotWithShape="1">
              <a:blip r:embed="rId2">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2"/>
            <a:ext cx="5532328" cy="1922299"/>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50000"/>
              <a:lumOff val="50000"/>
              <a:alpha val="80000"/>
            </a:schemeClr>
          </a:solidFill>
          <a:ln w="9525" cap="sq">
            <a:noFill/>
            <a:miter lim="800000"/>
          </a:ln>
          <a:effectLst/>
        </p:spPr>
        <p:txBody>
          <a:bodyPr vert="horz" lIns="91440" tIns="45720" rIns="91440" bIns="45720" rtlCol="0" anchor="t">
            <a:normAutofit/>
          </a:bodyPr>
          <a:lstStyle>
            <a:lvl1pPr>
              <a:defRPr lang="en-US" sz="3200" dirty="0"/>
            </a:lvl1pPr>
          </a:lstStyle>
          <a:p>
            <a:pPr lvl="0" algn="ctr"/>
            <a:r>
              <a:rPr lang="en-US"/>
              <a:t>Click icon to add picture</a:t>
            </a:r>
            <a:endParaRPr lang="en-US" dirty="0"/>
          </a:p>
        </p:txBody>
      </p:sp>
      <p:sp>
        <p:nvSpPr>
          <p:cNvPr id="4" name="Text Placeholder 3"/>
          <p:cNvSpPr>
            <a:spLocks noGrp="1"/>
          </p:cNvSpPr>
          <p:nvPr>
            <p:ph type="body" sz="half" idx="2"/>
          </p:nvPr>
        </p:nvSpPr>
        <p:spPr>
          <a:xfrm>
            <a:off x="1450329" y="3059600"/>
            <a:ext cx="5524404" cy="2090134"/>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11/15/2025</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7052"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518654"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11/15/2025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51579" y="804519"/>
            <a:ext cx="9291215" cy="104923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29121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42079"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11/15/2025</a:t>
            </a:fld>
            <a:endParaRPr lang="en-US" dirty="0"/>
          </a:p>
        </p:txBody>
      </p:sp>
      <p:sp>
        <p:nvSpPr>
          <p:cNvPr id="5" name="Footer Placeholder 4"/>
          <p:cNvSpPr>
            <a:spLocks noGrp="1"/>
          </p:cNvSpPr>
          <p:nvPr>
            <p:ph type="ftr" sz="quarter" idx="3"/>
          </p:nvPr>
        </p:nvSpPr>
        <p:spPr>
          <a:xfrm>
            <a:off x="1451579" y="329307"/>
            <a:ext cx="562677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sp>
        <p:nvSpPr>
          <p:cNvPr id="9" name="Rectangle 8"/>
          <p:cNvSpPr/>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Picture 9"/>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2" name="Straight Connector 11"/>
          <p:cNvCxnSpPr/>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90000"/>
        </a:lnSpc>
        <a:spcBef>
          <a:spcPct val="0"/>
        </a:spcBef>
        <a:buNone/>
        <a:defRPr sz="3200" b="0" i="0" kern="1200" cap="all">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EFF48-9E6F-1FF0-570B-4C6F3B604B56}"/>
              </a:ext>
            </a:extLst>
          </p:cNvPr>
          <p:cNvSpPr>
            <a:spLocks noGrp="1"/>
          </p:cNvSpPr>
          <p:nvPr>
            <p:ph type="ctrTitle"/>
          </p:nvPr>
        </p:nvSpPr>
        <p:spPr/>
        <p:txBody>
          <a:bodyPr>
            <a:normAutofit/>
          </a:bodyPr>
          <a:lstStyle/>
          <a:p>
            <a:r>
              <a:rPr lang="en-US" sz="3600" b="1" dirty="0">
                <a:solidFill>
                  <a:schemeClr val="tx1"/>
                </a:solidFill>
              </a:rPr>
              <a:t>Operating system security</a:t>
            </a:r>
          </a:p>
        </p:txBody>
      </p:sp>
    </p:spTree>
    <p:extLst>
      <p:ext uri="{BB962C8B-B14F-4D97-AF65-F5344CB8AC3E}">
        <p14:creationId xmlns:p14="http://schemas.microsoft.com/office/powerpoint/2010/main" val="9232728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E6664-9358-C7F4-ED8E-95C2A1E22231}"/>
              </a:ext>
            </a:extLst>
          </p:cNvPr>
          <p:cNvSpPr>
            <a:spLocks noGrp="1"/>
          </p:cNvSpPr>
          <p:nvPr>
            <p:ph type="title"/>
          </p:nvPr>
        </p:nvSpPr>
        <p:spPr>
          <a:xfrm>
            <a:off x="0" y="763799"/>
            <a:ext cx="9291215" cy="1049235"/>
          </a:xfrm>
        </p:spPr>
        <p:txBody>
          <a:bodyPr/>
          <a:lstStyle/>
          <a:p>
            <a:r>
              <a:rPr lang="en-US" dirty="0">
                <a:solidFill>
                  <a:schemeClr val="tx1"/>
                </a:solidFill>
              </a:rPr>
              <a:t>What is operating system security ?</a:t>
            </a:r>
          </a:p>
        </p:txBody>
      </p:sp>
      <p:sp>
        <p:nvSpPr>
          <p:cNvPr id="3" name="Content Placeholder 2">
            <a:extLst>
              <a:ext uri="{FF2B5EF4-FFF2-40B4-BE49-F238E27FC236}">
                <a16:creationId xmlns:a16="http://schemas.microsoft.com/office/drawing/2014/main" id="{CCFE8582-A8D8-00AA-440D-0643D85CC844}"/>
              </a:ext>
            </a:extLst>
          </p:cNvPr>
          <p:cNvSpPr>
            <a:spLocks noGrp="1"/>
          </p:cNvSpPr>
          <p:nvPr>
            <p:ph idx="1"/>
          </p:nvPr>
        </p:nvSpPr>
        <p:spPr>
          <a:xfrm>
            <a:off x="478186" y="1813034"/>
            <a:ext cx="9291215" cy="3450613"/>
          </a:xfrm>
        </p:spPr>
        <p:txBody>
          <a:bodyPr/>
          <a:lstStyle/>
          <a:p>
            <a:pPr algn="just"/>
            <a:r>
              <a:rPr lang="en-US" sz="2400" b="0" i="0" dirty="0">
                <a:solidFill>
                  <a:srgbClr val="FF0000"/>
                </a:solidFill>
                <a:effectLst/>
                <a:latin typeface="Arial" panose="020B0604020202020204" pitchFamily="34" charset="0"/>
                <a:cs typeface="Arial" panose="020B0604020202020204" pitchFamily="34" charset="0"/>
              </a:rPr>
              <a:t>Operating system security </a:t>
            </a:r>
            <a:r>
              <a:rPr lang="en-US" sz="2400" b="0" i="0" dirty="0">
                <a:effectLst/>
                <a:latin typeface="Arial" panose="020B0604020202020204" pitchFamily="34" charset="0"/>
                <a:cs typeface="Arial" panose="020B0604020202020204" pitchFamily="34" charset="0"/>
              </a:rPr>
              <a:t>refers to the measures and strategies implemented to safeguard the integrity, confidentiality, and availability of an operating system (OS) and the data it manages. It acts as a crucial barrier against unauthorized access, malicious software, and cyber threats, ensuring that only authorized users can access and utilize the system's resources in a controlled and secure manner.</a:t>
            </a:r>
          </a:p>
          <a:p>
            <a:endParaRPr lang="en-US" dirty="0"/>
          </a:p>
        </p:txBody>
      </p:sp>
    </p:spTree>
    <p:extLst>
      <p:ext uri="{BB962C8B-B14F-4D97-AF65-F5344CB8AC3E}">
        <p14:creationId xmlns:p14="http://schemas.microsoft.com/office/powerpoint/2010/main" val="24869486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B6309-9612-796E-F9A3-F85984A71C51}"/>
              </a:ext>
            </a:extLst>
          </p:cNvPr>
          <p:cNvSpPr>
            <a:spLocks noGrp="1"/>
          </p:cNvSpPr>
          <p:nvPr>
            <p:ph type="title"/>
          </p:nvPr>
        </p:nvSpPr>
        <p:spPr>
          <a:xfrm>
            <a:off x="1450392" y="2904382"/>
            <a:ext cx="9291215" cy="1049235"/>
          </a:xfrm>
        </p:spPr>
        <p:txBody>
          <a:bodyPr/>
          <a:lstStyle/>
          <a:p>
            <a:r>
              <a:rPr lang="en-US" dirty="0"/>
              <a:t>Types of operating system security</a:t>
            </a:r>
          </a:p>
        </p:txBody>
      </p:sp>
    </p:spTree>
    <p:extLst>
      <p:ext uri="{BB962C8B-B14F-4D97-AF65-F5344CB8AC3E}">
        <p14:creationId xmlns:p14="http://schemas.microsoft.com/office/powerpoint/2010/main" val="12671743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519C4-9A09-FF7F-2B11-C916024ADEC7}"/>
              </a:ext>
            </a:extLst>
          </p:cNvPr>
          <p:cNvSpPr>
            <a:spLocks noGrp="1"/>
          </p:cNvSpPr>
          <p:nvPr>
            <p:ph type="title"/>
          </p:nvPr>
        </p:nvSpPr>
        <p:spPr>
          <a:xfrm>
            <a:off x="-1984796" y="745525"/>
            <a:ext cx="9291215" cy="1049235"/>
          </a:xfrm>
        </p:spPr>
        <p:txBody>
          <a:bodyPr/>
          <a:lstStyle/>
          <a:p>
            <a:r>
              <a:rPr lang="en-US" b="1" i="0" dirty="0">
                <a:effectLst/>
                <a:latin typeface="Inter"/>
              </a:rPr>
              <a:t> OS - Protection</a:t>
            </a:r>
            <a:endParaRPr lang="en-US" dirty="0"/>
          </a:p>
        </p:txBody>
      </p:sp>
      <p:sp>
        <p:nvSpPr>
          <p:cNvPr id="3" name="Content Placeholder 2">
            <a:extLst>
              <a:ext uri="{FF2B5EF4-FFF2-40B4-BE49-F238E27FC236}">
                <a16:creationId xmlns:a16="http://schemas.microsoft.com/office/drawing/2014/main" id="{33842771-0ABA-4CE4-C8D3-610E98A16B9D}"/>
              </a:ext>
            </a:extLst>
          </p:cNvPr>
          <p:cNvSpPr>
            <a:spLocks noGrp="1"/>
          </p:cNvSpPr>
          <p:nvPr>
            <p:ph idx="1"/>
          </p:nvPr>
        </p:nvSpPr>
        <p:spPr>
          <a:xfrm>
            <a:off x="1127115" y="1794760"/>
            <a:ext cx="9291215" cy="3450613"/>
          </a:xfrm>
        </p:spPr>
        <p:txBody>
          <a:bodyPr>
            <a:normAutofit/>
          </a:bodyPr>
          <a:lstStyle/>
          <a:p>
            <a:r>
              <a:rPr lang="en-US" sz="2400" b="0" i="0" dirty="0">
                <a:solidFill>
                  <a:srgbClr val="FF0000"/>
                </a:solidFill>
                <a:effectLst/>
                <a:latin typeface="Arial" panose="020B0604020202020204" pitchFamily="34" charset="0"/>
                <a:cs typeface="Arial" panose="020B0604020202020204" pitchFamily="34" charset="0"/>
              </a:rPr>
              <a:t>Protection mechanisms  </a:t>
            </a:r>
            <a:r>
              <a:rPr lang="en-US" sz="2400" b="0" i="0" dirty="0">
                <a:effectLst/>
                <a:latin typeface="Arial" panose="020B0604020202020204" pitchFamily="34" charset="0"/>
                <a:cs typeface="Arial" panose="020B0604020202020204" pitchFamily="34" charset="0"/>
              </a:rPr>
              <a:t>focus on safeguarding the system's resources from internal threats, such as unauthorized access by users or programs within the system. They aim to control access to system resources and prevent malicious actions from within the system itself</a:t>
            </a:r>
            <a:r>
              <a:rPr lang="en-US" sz="2400" b="0" i="0" dirty="0">
                <a:effectLst/>
                <a:latin typeface="Inter"/>
              </a:rPr>
              <a:t>. </a:t>
            </a:r>
            <a:endParaRPr lang="en-US" sz="2400" dirty="0"/>
          </a:p>
        </p:txBody>
      </p:sp>
    </p:spTree>
    <p:extLst>
      <p:ext uri="{BB962C8B-B14F-4D97-AF65-F5344CB8AC3E}">
        <p14:creationId xmlns:p14="http://schemas.microsoft.com/office/powerpoint/2010/main" val="4284874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41167-0888-F203-B0BC-568F2FBD5A18}"/>
              </a:ext>
            </a:extLst>
          </p:cNvPr>
          <p:cNvSpPr>
            <a:spLocks noGrp="1"/>
          </p:cNvSpPr>
          <p:nvPr>
            <p:ph type="title"/>
          </p:nvPr>
        </p:nvSpPr>
        <p:spPr>
          <a:xfrm>
            <a:off x="-760679" y="966497"/>
            <a:ext cx="9291215" cy="1049235"/>
          </a:xfrm>
        </p:spPr>
        <p:txBody>
          <a:bodyPr/>
          <a:lstStyle/>
          <a:p>
            <a:r>
              <a:rPr lang="en-US" dirty="0"/>
              <a:t>TYPES OF OS - PROTECTION</a:t>
            </a:r>
          </a:p>
        </p:txBody>
      </p:sp>
      <p:sp>
        <p:nvSpPr>
          <p:cNvPr id="3" name="Content Placeholder 2">
            <a:extLst>
              <a:ext uri="{FF2B5EF4-FFF2-40B4-BE49-F238E27FC236}">
                <a16:creationId xmlns:a16="http://schemas.microsoft.com/office/drawing/2014/main" id="{FF3F1123-B061-499B-7D89-FDA48620611E}"/>
              </a:ext>
            </a:extLst>
          </p:cNvPr>
          <p:cNvSpPr>
            <a:spLocks noGrp="1"/>
          </p:cNvSpPr>
          <p:nvPr>
            <p:ph idx="1"/>
          </p:nvPr>
        </p:nvSpPr>
        <p:spPr>
          <a:xfrm>
            <a:off x="935386" y="2015732"/>
            <a:ext cx="9291215" cy="3450613"/>
          </a:xfrm>
        </p:spPr>
        <p:txBody>
          <a:bodyPr>
            <a:normAutofit/>
          </a:bodyPr>
          <a:lstStyle/>
          <a:p>
            <a:r>
              <a:rPr lang="en-US" sz="2400" b="1" i="0" dirty="0">
                <a:effectLst/>
                <a:latin typeface="Arial" panose="020B0604020202020204" pitchFamily="34" charset="0"/>
                <a:cs typeface="Arial" panose="020B0604020202020204" pitchFamily="34" charset="0"/>
              </a:rPr>
              <a:t>Access Control:</a:t>
            </a:r>
            <a:r>
              <a:rPr lang="en-US" sz="2400" b="0" i="0" dirty="0">
                <a:effectLst/>
                <a:latin typeface="Arial" panose="020B0604020202020204" pitchFamily="34" charset="0"/>
                <a:cs typeface="Arial" panose="020B0604020202020204" pitchFamily="34" charset="0"/>
              </a:rPr>
              <a:t> This mechanism restricts access to system resources based on user identities and privileges. It involves assigning permissions to users and groups, allowing them to access specific files, directories, and system components.</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90913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70614-E216-CDC7-F558-FF2258F3A4FC}"/>
              </a:ext>
            </a:extLst>
          </p:cNvPr>
          <p:cNvSpPr>
            <a:spLocks noGrp="1"/>
          </p:cNvSpPr>
          <p:nvPr>
            <p:ph type="title"/>
          </p:nvPr>
        </p:nvSpPr>
        <p:spPr>
          <a:xfrm>
            <a:off x="-1085143" y="867037"/>
            <a:ext cx="9291215" cy="1049235"/>
          </a:xfrm>
        </p:spPr>
        <p:txBody>
          <a:bodyPr>
            <a:normAutofit/>
          </a:bodyPr>
          <a:lstStyle/>
          <a:p>
            <a:r>
              <a:rPr lang="en-US" b="1" i="0" dirty="0">
                <a:effectLst/>
                <a:latin typeface="Arial" panose="020B0604020202020204" pitchFamily="34" charset="0"/>
                <a:cs typeface="Arial" panose="020B0604020202020204" pitchFamily="34" charset="0"/>
              </a:rPr>
              <a:t>Authentication</a:t>
            </a:r>
            <a:r>
              <a:rPr lang="en-US" b="0" i="0" dirty="0">
                <a:effectLst/>
                <a:latin typeface="Arial" panose="020B0604020202020204" pitchFamily="34" charset="0"/>
                <a:cs typeface="Arial" panose="020B0604020202020204" pitchFamily="34" charset="0"/>
              </a:rPr>
              <a:t> </a:t>
            </a:r>
            <a:endParaRPr lang="en-US" dirty="0"/>
          </a:p>
        </p:txBody>
      </p:sp>
      <p:sp>
        <p:nvSpPr>
          <p:cNvPr id="3" name="Content Placeholder 2">
            <a:extLst>
              <a:ext uri="{FF2B5EF4-FFF2-40B4-BE49-F238E27FC236}">
                <a16:creationId xmlns:a16="http://schemas.microsoft.com/office/drawing/2014/main" id="{CC3A5087-6B11-D359-B68E-3F05FEC22493}"/>
              </a:ext>
            </a:extLst>
          </p:cNvPr>
          <p:cNvSpPr>
            <a:spLocks noGrp="1"/>
          </p:cNvSpPr>
          <p:nvPr>
            <p:ph idx="1"/>
          </p:nvPr>
        </p:nvSpPr>
        <p:spPr>
          <a:xfrm>
            <a:off x="1450392" y="1916272"/>
            <a:ext cx="9291215" cy="3450613"/>
          </a:xfrm>
        </p:spPr>
        <p:txBody>
          <a:bodyPr>
            <a:normAutofit/>
          </a:bodyPr>
          <a:lstStyle/>
          <a:p>
            <a:r>
              <a:rPr lang="en-US" sz="2400" b="1" i="0" dirty="0">
                <a:effectLst/>
                <a:latin typeface="Arial" panose="020B0604020202020204" pitchFamily="34" charset="0"/>
                <a:cs typeface="Arial" panose="020B0604020202020204" pitchFamily="34" charset="0"/>
              </a:rPr>
              <a:t>Authentication</a:t>
            </a:r>
            <a:r>
              <a:rPr lang="en-US" sz="2400" b="0" i="0" dirty="0">
                <a:effectLst/>
                <a:latin typeface="Arial" panose="020B0604020202020204" pitchFamily="34" charset="0"/>
                <a:cs typeface="Arial" panose="020B0604020202020204" pitchFamily="34" charset="0"/>
              </a:rPr>
              <a:t> This process verifies the identity of users before granting them access to the system. Common authentication methods include username/password combinations, user cards, and biometric authentication.</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449276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8B478-344D-79FC-F95F-01E5A56F6881}"/>
              </a:ext>
            </a:extLst>
          </p:cNvPr>
          <p:cNvSpPr>
            <a:spLocks noGrp="1"/>
          </p:cNvSpPr>
          <p:nvPr>
            <p:ph type="title"/>
          </p:nvPr>
        </p:nvSpPr>
        <p:spPr>
          <a:xfrm>
            <a:off x="-1276873" y="867037"/>
            <a:ext cx="9291215" cy="1049235"/>
          </a:xfrm>
        </p:spPr>
        <p:txBody>
          <a:bodyPr/>
          <a:lstStyle/>
          <a:p>
            <a:r>
              <a:rPr lang="en-US" sz="3200" b="1" i="0" dirty="0">
                <a:effectLst/>
                <a:latin typeface="Arial" panose="020B0604020202020204" pitchFamily="34" charset="0"/>
                <a:cs typeface="Arial" panose="020B0604020202020204" pitchFamily="34" charset="0"/>
              </a:rPr>
              <a:t>Authorization</a:t>
            </a:r>
            <a:endParaRPr lang="en-US" dirty="0"/>
          </a:p>
        </p:txBody>
      </p:sp>
      <p:sp>
        <p:nvSpPr>
          <p:cNvPr id="3" name="Content Placeholder 2">
            <a:extLst>
              <a:ext uri="{FF2B5EF4-FFF2-40B4-BE49-F238E27FC236}">
                <a16:creationId xmlns:a16="http://schemas.microsoft.com/office/drawing/2014/main" id="{CCCC25DB-A662-BFED-69BD-A5EE3F211E2C}"/>
              </a:ext>
            </a:extLst>
          </p:cNvPr>
          <p:cNvSpPr>
            <a:spLocks noGrp="1"/>
          </p:cNvSpPr>
          <p:nvPr>
            <p:ph idx="1"/>
          </p:nvPr>
        </p:nvSpPr>
        <p:spPr/>
        <p:txBody>
          <a:bodyPr/>
          <a:lstStyle/>
          <a:p>
            <a:r>
              <a:rPr lang="en-US" sz="2400" b="1" i="0" dirty="0">
                <a:effectLst/>
                <a:latin typeface="Arial" panose="020B0604020202020204" pitchFamily="34" charset="0"/>
                <a:cs typeface="Arial" panose="020B0604020202020204" pitchFamily="34" charset="0"/>
              </a:rPr>
              <a:t>Authorization</a:t>
            </a:r>
            <a:r>
              <a:rPr lang="en-US" sz="2400" b="0" i="0" dirty="0">
                <a:effectLst/>
                <a:latin typeface="Arial" panose="020B0604020202020204" pitchFamily="34" charset="0"/>
                <a:cs typeface="Arial" panose="020B0604020202020204" pitchFamily="34" charset="0"/>
              </a:rPr>
              <a:t> This mechanism determines the level of access a user has to specific system resources based on their privileges and roles. It ensures that users can only access the information and functionalities they are authorized to use.</a:t>
            </a:r>
          </a:p>
          <a:p>
            <a:endParaRPr lang="en-US" dirty="0"/>
          </a:p>
        </p:txBody>
      </p:sp>
    </p:spTree>
    <p:extLst>
      <p:ext uri="{BB962C8B-B14F-4D97-AF65-F5344CB8AC3E}">
        <p14:creationId xmlns:p14="http://schemas.microsoft.com/office/powerpoint/2010/main" val="3901989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E18DD-7BBD-0F7F-3F13-3CF4497BA977}"/>
              </a:ext>
            </a:extLst>
          </p:cNvPr>
          <p:cNvSpPr>
            <a:spLocks noGrp="1"/>
          </p:cNvSpPr>
          <p:nvPr>
            <p:ph type="title"/>
          </p:nvPr>
        </p:nvSpPr>
        <p:spPr>
          <a:xfrm>
            <a:off x="-627943" y="867037"/>
            <a:ext cx="9291215" cy="1049235"/>
          </a:xfrm>
        </p:spPr>
        <p:txBody>
          <a:bodyPr/>
          <a:lstStyle/>
          <a:p>
            <a:r>
              <a:rPr lang="en-US" sz="3200" b="1" i="0" dirty="0">
                <a:effectLst/>
                <a:latin typeface="Arial" panose="020B0604020202020204" pitchFamily="34" charset="0"/>
                <a:cs typeface="Arial" panose="020B0604020202020204" pitchFamily="34" charset="0"/>
              </a:rPr>
              <a:t>Memory Protection</a:t>
            </a:r>
            <a:r>
              <a:rPr lang="en-US" sz="3200" b="0" i="0" dirty="0">
                <a:effectLst/>
                <a:latin typeface="Arial" panose="020B0604020202020204" pitchFamily="34" charset="0"/>
                <a:cs typeface="Arial" panose="020B0604020202020204" pitchFamily="34" charset="0"/>
              </a:rPr>
              <a:t> </a:t>
            </a:r>
            <a:endParaRPr lang="en-US" dirty="0"/>
          </a:p>
        </p:txBody>
      </p:sp>
      <p:sp>
        <p:nvSpPr>
          <p:cNvPr id="3" name="Content Placeholder 2">
            <a:extLst>
              <a:ext uri="{FF2B5EF4-FFF2-40B4-BE49-F238E27FC236}">
                <a16:creationId xmlns:a16="http://schemas.microsoft.com/office/drawing/2014/main" id="{80159907-74A0-2A4B-62EF-AC8AD419F16D}"/>
              </a:ext>
            </a:extLst>
          </p:cNvPr>
          <p:cNvSpPr>
            <a:spLocks noGrp="1"/>
          </p:cNvSpPr>
          <p:nvPr>
            <p:ph idx="1"/>
          </p:nvPr>
        </p:nvSpPr>
        <p:spPr/>
        <p:txBody>
          <a:bodyPr>
            <a:normAutofit/>
          </a:bodyPr>
          <a:lstStyle/>
          <a:p>
            <a:r>
              <a:rPr lang="en-US" sz="2400" b="1" i="0" dirty="0">
                <a:effectLst/>
                <a:latin typeface="Arial" panose="020B0604020202020204" pitchFamily="34" charset="0"/>
                <a:cs typeface="Arial" panose="020B0604020202020204" pitchFamily="34" charset="0"/>
              </a:rPr>
              <a:t>Memory Protection</a:t>
            </a:r>
            <a:r>
              <a:rPr lang="en-US" sz="2400" b="0" i="0" dirty="0">
                <a:effectLst/>
                <a:latin typeface="Arial" panose="020B0604020202020204" pitchFamily="34" charset="0"/>
                <a:cs typeface="Arial" panose="020B0604020202020204" pitchFamily="34" charset="0"/>
              </a:rPr>
              <a:t> This mechanism prevents programs from accessing memory areas that are not allocated to them. It ensures that one program cannot interfere with the memory space of another program, protecting system stability and data integrity. </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45201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32018-A77C-FD8C-F787-C01DFFC9612A}"/>
              </a:ext>
            </a:extLst>
          </p:cNvPr>
          <p:cNvSpPr>
            <a:spLocks noGrp="1"/>
          </p:cNvSpPr>
          <p:nvPr>
            <p:ph type="title"/>
          </p:nvPr>
        </p:nvSpPr>
        <p:spPr>
          <a:xfrm>
            <a:off x="-1040899" y="867037"/>
            <a:ext cx="9291215" cy="1049235"/>
          </a:xfrm>
        </p:spPr>
        <p:txBody>
          <a:bodyPr/>
          <a:lstStyle/>
          <a:p>
            <a:r>
              <a:rPr lang="en-US" sz="3200" b="1" i="0" dirty="0">
                <a:effectLst/>
                <a:latin typeface="Arial" panose="020B0604020202020204" pitchFamily="34" charset="0"/>
                <a:cs typeface="Arial" panose="020B0604020202020204" pitchFamily="34" charset="0"/>
              </a:rPr>
              <a:t>File Protection</a:t>
            </a:r>
            <a:endParaRPr lang="en-US" dirty="0"/>
          </a:p>
        </p:txBody>
      </p:sp>
      <p:sp>
        <p:nvSpPr>
          <p:cNvPr id="3" name="Content Placeholder 2">
            <a:extLst>
              <a:ext uri="{FF2B5EF4-FFF2-40B4-BE49-F238E27FC236}">
                <a16:creationId xmlns:a16="http://schemas.microsoft.com/office/drawing/2014/main" id="{24275C5D-1F28-E9B4-C2E1-B62F0CBB6706}"/>
              </a:ext>
            </a:extLst>
          </p:cNvPr>
          <p:cNvSpPr>
            <a:spLocks noGrp="1"/>
          </p:cNvSpPr>
          <p:nvPr>
            <p:ph idx="1"/>
          </p:nvPr>
        </p:nvSpPr>
        <p:spPr/>
        <p:txBody>
          <a:bodyPr>
            <a:normAutofit/>
          </a:bodyPr>
          <a:lstStyle/>
          <a:p>
            <a:r>
              <a:rPr lang="en-US" sz="2400" b="1" i="0" dirty="0">
                <a:effectLst/>
                <a:latin typeface="Arial" panose="020B0604020202020204" pitchFamily="34" charset="0"/>
                <a:cs typeface="Arial" panose="020B0604020202020204" pitchFamily="34" charset="0"/>
              </a:rPr>
              <a:t>File Protection </a:t>
            </a:r>
            <a:r>
              <a:rPr lang="en-US" sz="2400" b="0" i="0" dirty="0">
                <a:effectLst/>
                <a:latin typeface="Arial" panose="020B0604020202020204" pitchFamily="34" charset="0"/>
                <a:cs typeface="Arial" panose="020B0604020202020204" pitchFamily="34" charset="0"/>
              </a:rPr>
              <a:t>This mechanism controls access to files based on user permissions and ownership. It ensures that files can only be accessed, modified, or deleted by authorized users.</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41695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2CC8A-F8FA-9CA2-D1AB-A306CD518C7D}"/>
              </a:ext>
            </a:extLst>
          </p:cNvPr>
          <p:cNvSpPr>
            <a:spLocks noGrp="1"/>
          </p:cNvSpPr>
          <p:nvPr>
            <p:ph type="title"/>
          </p:nvPr>
        </p:nvSpPr>
        <p:spPr>
          <a:xfrm>
            <a:off x="-480459" y="867037"/>
            <a:ext cx="9291215" cy="1049235"/>
          </a:xfrm>
        </p:spPr>
        <p:txBody>
          <a:bodyPr/>
          <a:lstStyle/>
          <a:p>
            <a:r>
              <a:rPr lang="en-US" sz="3200" b="1" i="0" dirty="0">
                <a:effectLst/>
                <a:latin typeface="Inter"/>
              </a:rPr>
              <a:t>Security Classifications</a:t>
            </a:r>
            <a:r>
              <a:rPr lang="en-US" sz="3200" b="0" i="0" dirty="0">
                <a:effectLst/>
                <a:latin typeface="Inter"/>
              </a:rPr>
              <a:t> </a:t>
            </a:r>
            <a:endParaRPr lang="en-US" dirty="0"/>
          </a:p>
        </p:txBody>
      </p:sp>
      <p:sp>
        <p:nvSpPr>
          <p:cNvPr id="3" name="Content Placeholder 2">
            <a:extLst>
              <a:ext uri="{FF2B5EF4-FFF2-40B4-BE49-F238E27FC236}">
                <a16:creationId xmlns:a16="http://schemas.microsoft.com/office/drawing/2014/main" id="{1CE5CAD6-0FD3-6F35-3376-FD648F8D90E8}"/>
              </a:ext>
            </a:extLst>
          </p:cNvPr>
          <p:cNvSpPr>
            <a:spLocks noGrp="1"/>
          </p:cNvSpPr>
          <p:nvPr>
            <p:ph idx="1"/>
          </p:nvPr>
        </p:nvSpPr>
        <p:spPr/>
        <p:txBody>
          <a:bodyPr>
            <a:normAutofit/>
          </a:bodyPr>
          <a:lstStyle/>
          <a:p>
            <a:r>
              <a:rPr lang="en-US" sz="2400" b="1" i="0" dirty="0">
                <a:effectLst/>
                <a:latin typeface="Inter"/>
              </a:rPr>
              <a:t>Security Classifications</a:t>
            </a:r>
            <a:r>
              <a:rPr lang="en-US" sz="2400" b="0" i="0" dirty="0">
                <a:effectLst/>
                <a:latin typeface="Inter"/>
              </a:rPr>
              <a:t> These classifications, like the U.S. Department of Defense's Trusted Computer System Evaluation Criteria (TCSEC), categorize systems based on their security levels, from Type D (minimal protection) to Type A (highest assurance).</a:t>
            </a:r>
            <a:endParaRPr lang="en-US" sz="2400" dirty="0"/>
          </a:p>
        </p:txBody>
      </p:sp>
    </p:spTree>
    <p:extLst>
      <p:ext uri="{BB962C8B-B14F-4D97-AF65-F5344CB8AC3E}">
        <p14:creationId xmlns:p14="http://schemas.microsoft.com/office/powerpoint/2010/main" val="36674895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8C927-E8AB-281C-4C15-538817F31FBA}"/>
              </a:ext>
            </a:extLst>
          </p:cNvPr>
          <p:cNvSpPr>
            <a:spLocks noGrp="1"/>
          </p:cNvSpPr>
          <p:nvPr>
            <p:ph type="title"/>
          </p:nvPr>
        </p:nvSpPr>
        <p:spPr>
          <a:xfrm>
            <a:off x="-1704576" y="867037"/>
            <a:ext cx="9291215" cy="1049235"/>
          </a:xfrm>
        </p:spPr>
        <p:txBody>
          <a:bodyPr/>
          <a:lstStyle/>
          <a:p>
            <a:r>
              <a:rPr lang="en-US" dirty="0"/>
              <a:t>OS - SECURTITY</a:t>
            </a:r>
          </a:p>
        </p:txBody>
      </p:sp>
      <p:sp>
        <p:nvSpPr>
          <p:cNvPr id="3" name="Content Placeholder 2">
            <a:extLst>
              <a:ext uri="{FF2B5EF4-FFF2-40B4-BE49-F238E27FC236}">
                <a16:creationId xmlns:a16="http://schemas.microsoft.com/office/drawing/2014/main" id="{E1FE1DAC-4DB4-0AB5-8433-FECBBCF2BE35}"/>
              </a:ext>
            </a:extLst>
          </p:cNvPr>
          <p:cNvSpPr>
            <a:spLocks noGrp="1"/>
          </p:cNvSpPr>
          <p:nvPr>
            <p:ph idx="1"/>
          </p:nvPr>
        </p:nvSpPr>
        <p:spPr>
          <a:xfrm>
            <a:off x="1082870" y="1916272"/>
            <a:ext cx="9291215" cy="3450613"/>
          </a:xfrm>
        </p:spPr>
        <p:txBody>
          <a:bodyPr>
            <a:normAutofit/>
          </a:bodyPr>
          <a:lstStyle/>
          <a:p>
            <a:r>
              <a:rPr lang="en-US" sz="2400" b="0" i="0" dirty="0">
                <a:solidFill>
                  <a:srgbClr val="FF0000"/>
                </a:solidFill>
                <a:effectLst/>
                <a:latin typeface="Arial" panose="020B0604020202020204" pitchFamily="34" charset="0"/>
                <a:cs typeface="Arial" panose="020B0604020202020204" pitchFamily="34" charset="0"/>
              </a:rPr>
              <a:t>Security measures </a:t>
            </a:r>
            <a:r>
              <a:rPr lang="en-US" sz="2400" b="0" i="0" dirty="0">
                <a:effectLst/>
                <a:latin typeface="Arial" panose="020B0604020202020204" pitchFamily="34" charset="0"/>
                <a:cs typeface="Arial" panose="020B0604020202020204" pitchFamily="34" charset="0"/>
              </a:rPr>
              <a:t>focus on protecting the system from external threats, such as malware, network intrusions, and social engineering attacks. These measures aim to prevent unauthorized access, data theft, and system disruptions from outside sources. </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768993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35F22-6203-CEFA-742A-10A0202EF364}"/>
              </a:ext>
            </a:extLst>
          </p:cNvPr>
          <p:cNvSpPr>
            <a:spLocks noGrp="1"/>
          </p:cNvSpPr>
          <p:nvPr>
            <p:ph type="title"/>
          </p:nvPr>
        </p:nvSpPr>
        <p:spPr>
          <a:xfrm>
            <a:off x="-863918" y="867037"/>
            <a:ext cx="9291215" cy="1049235"/>
          </a:xfrm>
        </p:spPr>
        <p:txBody>
          <a:bodyPr/>
          <a:lstStyle/>
          <a:p>
            <a:r>
              <a:rPr lang="en-US" dirty="0"/>
              <a:t>TYPES OF OS - SECURITY</a:t>
            </a:r>
          </a:p>
        </p:txBody>
      </p:sp>
      <p:sp>
        <p:nvSpPr>
          <p:cNvPr id="3" name="Content Placeholder 2">
            <a:extLst>
              <a:ext uri="{FF2B5EF4-FFF2-40B4-BE49-F238E27FC236}">
                <a16:creationId xmlns:a16="http://schemas.microsoft.com/office/drawing/2014/main" id="{E4867EC2-B668-A68D-B6AA-4610DD22FA58}"/>
              </a:ext>
            </a:extLst>
          </p:cNvPr>
          <p:cNvSpPr>
            <a:spLocks noGrp="1"/>
          </p:cNvSpPr>
          <p:nvPr>
            <p:ph idx="1"/>
          </p:nvPr>
        </p:nvSpPr>
        <p:spPr>
          <a:xfrm>
            <a:off x="1127114" y="2059977"/>
            <a:ext cx="9291215" cy="3450613"/>
          </a:xfrm>
        </p:spPr>
        <p:txBody>
          <a:bodyPr>
            <a:normAutofit/>
          </a:bodyPr>
          <a:lstStyle/>
          <a:p>
            <a:r>
              <a:rPr lang="en-US" sz="2400" b="1" i="0" dirty="0">
                <a:effectLst/>
                <a:latin typeface="Arial" panose="020B0604020202020204" pitchFamily="34" charset="0"/>
                <a:cs typeface="Arial" panose="020B0604020202020204" pitchFamily="34" charset="0"/>
              </a:rPr>
              <a:t>Malware Protection:</a:t>
            </a:r>
            <a:r>
              <a:rPr lang="en-US" sz="2400" b="0" i="0" dirty="0">
                <a:effectLst/>
                <a:latin typeface="Arial" panose="020B0604020202020204" pitchFamily="34" charset="0"/>
                <a:cs typeface="Arial" panose="020B0604020202020204" pitchFamily="34" charset="0"/>
              </a:rPr>
              <a:t> This involves using antivirus software and other security tools to detect and remove malicious software, such as viruses, worms, and trojans.</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033894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933DE-222F-9657-7670-E76FF5BB5F9A}"/>
              </a:ext>
            </a:extLst>
          </p:cNvPr>
          <p:cNvSpPr>
            <a:spLocks noGrp="1"/>
          </p:cNvSpPr>
          <p:nvPr>
            <p:ph type="title"/>
          </p:nvPr>
        </p:nvSpPr>
        <p:spPr>
          <a:xfrm>
            <a:off x="360198" y="867037"/>
            <a:ext cx="9291215" cy="1049235"/>
          </a:xfrm>
        </p:spPr>
        <p:txBody>
          <a:bodyPr/>
          <a:lstStyle/>
          <a:p>
            <a:r>
              <a:rPr lang="en-US" sz="3200" b="1" i="0" dirty="0">
                <a:effectLst/>
                <a:latin typeface="Arial" panose="020B0604020202020204" pitchFamily="34" charset="0"/>
                <a:cs typeface="Arial" panose="020B0604020202020204" pitchFamily="34" charset="0"/>
              </a:rPr>
              <a:t>Intrusion Detection Systems (IDS)</a:t>
            </a:r>
            <a:endParaRPr lang="en-US" dirty="0"/>
          </a:p>
        </p:txBody>
      </p:sp>
      <p:sp>
        <p:nvSpPr>
          <p:cNvPr id="3" name="Content Placeholder 2">
            <a:extLst>
              <a:ext uri="{FF2B5EF4-FFF2-40B4-BE49-F238E27FC236}">
                <a16:creationId xmlns:a16="http://schemas.microsoft.com/office/drawing/2014/main" id="{5937F43F-32F2-E4A4-31AC-E6A6A71EE486}"/>
              </a:ext>
            </a:extLst>
          </p:cNvPr>
          <p:cNvSpPr>
            <a:spLocks noGrp="1"/>
          </p:cNvSpPr>
          <p:nvPr>
            <p:ph idx="1"/>
          </p:nvPr>
        </p:nvSpPr>
        <p:spPr>
          <a:xfrm>
            <a:off x="979631" y="1916272"/>
            <a:ext cx="9291215" cy="3450613"/>
          </a:xfrm>
        </p:spPr>
        <p:txBody>
          <a:bodyPr>
            <a:normAutofit/>
          </a:bodyPr>
          <a:lstStyle/>
          <a:p>
            <a:r>
              <a:rPr lang="en-US" sz="2400" b="1" i="0" dirty="0">
                <a:effectLst/>
                <a:latin typeface="Arial" panose="020B0604020202020204" pitchFamily="34" charset="0"/>
                <a:cs typeface="Arial" panose="020B0604020202020204" pitchFamily="34" charset="0"/>
              </a:rPr>
              <a:t>Intrusion Detection Systems (IDS) </a:t>
            </a:r>
            <a:r>
              <a:rPr lang="en-US" sz="2400" b="0" i="0" dirty="0">
                <a:effectLst/>
                <a:latin typeface="Arial" panose="020B0604020202020204" pitchFamily="34" charset="0"/>
                <a:cs typeface="Arial" panose="020B0604020202020204" pitchFamily="34" charset="0"/>
              </a:rPr>
              <a:t>These systems monitor network traffic for suspicious activity and alert administrators to potential security breaches.</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7513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FB972-CF1A-5258-C680-BE2A06EF37D5}"/>
              </a:ext>
            </a:extLst>
          </p:cNvPr>
          <p:cNvSpPr>
            <a:spLocks noGrp="1"/>
          </p:cNvSpPr>
          <p:nvPr>
            <p:ph type="title"/>
          </p:nvPr>
        </p:nvSpPr>
        <p:spPr>
          <a:xfrm>
            <a:off x="-1675079" y="966497"/>
            <a:ext cx="9291215" cy="1049235"/>
          </a:xfrm>
        </p:spPr>
        <p:txBody>
          <a:bodyPr/>
          <a:lstStyle/>
          <a:p>
            <a:r>
              <a:rPr lang="en-US" sz="3200" b="1" i="0" dirty="0">
                <a:effectLst/>
                <a:latin typeface="Arial" panose="020B0604020202020204" pitchFamily="34" charset="0"/>
                <a:cs typeface="Arial" panose="020B0604020202020204" pitchFamily="34" charset="0"/>
              </a:rPr>
              <a:t>Firewalls</a:t>
            </a:r>
            <a:endParaRPr lang="en-US" dirty="0"/>
          </a:p>
        </p:txBody>
      </p:sp>
      <p:sp>
        <p:nvSpPr>
          <p:cNvPr id="3" name="Content Placeholder 2">
            <a:extLst>
              <a:ext uri="{FF2B5EF4-FFF2-40B4-BE49-F238E27FC236}">
                <a16:creationId xmlns:a16="http://schemas.microsoft.com/office/drawing/2014/main" id="{6BB04238-E1E1-6370-D3EA-9B93674EE774}"/>
              </a:ext>
            </a:extLst>
          </p:cNvPr>
          <p:cNvSpPr>
            <a:spLocks noGrp="1"/>
          </p:cNvSpPr>
          <p:nvPr>
            <p:ph idx="1"/>
          </p:nvPr>
        </p:nvSpPr>
        <p:spPr/>
        <p:txBody>
          <a:bodyPr>
            <a:normAutofit/>
          </a:bodyPr>
          <a:lstStyle/>
          <a:p>
            <a:r>
              <a:rPr lang="en-US" sz="2400" b="1" i="0" dirty="0">
                <a:effectLst/>
                <a:latin typeface="Arial" panose="020B0604020202020204" pitchFamily="34" charset="0"/>
                <a:cs typeface="Arial" panose="020B0604020202020204" pitchFamily="34" charset="0"/>
              </a:rPr>
              <a:t>Firewalls:</a:t>
            </a:r>
            <a:r>
              <a:rPr lang="en-US" sz="2400" b="0" i="0" dirty="0">
                <a:effectLst/>
                <a:latin typeface="Arial" panose="020B0604020202020204" pitchFamily="34" charset="0"/>
                <a:cs typeface="Arial" panose="020B0604020202020204" pitchFamily="34" charset="0"/>
              </a:rPr>
              <a:t> These act as barriers between the system and the external network, filtering incoming and outgoing traffic and blocking unauthorized connections.</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60700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9D68A-5C85-4718-7A7F-4A07BB5AEB90}"/>
              </a:ext>
            </a:extLst>
          </p:cNvPr>
          <p:cNvSpPr>
            <a:spLocks noGrp="1"/>
          </p:cNvSpPr>
          <p:nvPr>
            <p:ph type="title"/>
          </p:nvPr>
        </p:nvSpPr>
        <p:spPr>
          <a:xfrm>
            <a:off x="-1616085" y="966497"/>
            <a:ext cx="9291215" cy="1049235"/>
          </a:xfrm>
        </p:spPr>
        <p:txBody>
          <a:bodyPr/>
          <a:lstStyle/>
          <a:p>
            <a:r>
              <a:rPr lang="en-US" sz="3200" b="1" i="0" dirty="0">
                <a:effectLst/>
                <a:latin typeface="Arial" panose="020B0604020202020204" pitchFamily="34" charset="0"/>
                <a:cs typeface="Arial" panose="020B0604020202020204" pitchFamily="34" charset="0"/>
              </a:rPr>
              <a:t>Encryption</a:t>
            </a:r>
            <a:endParaRPr lang="en-US" dirty="0"/>
          </a:p>
        </p:txBody>
      </p:sp>
      <p:sp>
        <p:nvSpPr>
          <p:cNvPr id="3" name="Content Placeholder 2">
            <a:extLst>
              <a:ext uri="{FF2B5EF4-FFF2-40B4-BE49-F238E27FC236}">
                <a16:creationId xmlns:a16="http://schemas.microsoft.com/office/drawing/2014/main" id="{853F45AD-C2AE-0AEB-59BF-7E4FBB5024D6}"/>
              </a:ext>
            </a:extLst>
          </p:cNvPr>
          <p:cNvSpPr>
            <a:spLocks noGrp="1"/>
          </p:cNvSpPr>
          <p:nvPr>
            <p:ph idx="1"/>
          </p:nvPr>
        </p:nvSpPr>
        <p:spPr/>
        <p:txBody>
          <a:bodyPr>
            <a:normAutofit/>
          </a:bodyPr>
          <a:lstStyle/>
          <a:p>
            <a:r>
              <a:rPr lang="en-US" sz="2400" b="1" i="0" dirty="0">
                <a:effectLst/>
                <a:latin typeface="Arial" panose="020B0604020202020204" pitchFamily="34" charset="0"/>
                <a:cs typeface="Arial" panose="020B0604020202020204" pitchFamily="34" charset="0"/>
              </a:rPr>
              <a:t>Encryption:</a:t>
            </a:r>
            <a:r>
              <a:rPr lang="en-US" sz="2400" b="0" i="0" dirty="0">
                <a:effectLst/>
                <a:latin typeface="Arial" panose="020B0604020202020204" pitchFamily="34" charset="0"/>
                <a:cs typeface="Arial" panose="020B0604020202020204" pitchFamily="34" charset="0"/>
              </a:rPr>
              <a:t> This process transforms data into an unreadable format, protecting it from unauthorized access even if intercepted during transmission or storage. </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402638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D0DF2-1625-03F3-3FDB-9AF92E887FD0}"/>
              </a:ext>
            </a:extLst>
          </p:cNvPr>
          <p:cNvSpPr>
            <a:spLocks noGrp="1"/>
          </p:cNvSpPr>
          <p:nvPr>
            <p:ph type="title"/>
          </p:nvPr>
        </p:nvSpPr>
        <p:spPr>
          <a:xfrm>
            <a:off x="-672189" y="867037"/>
            <a:ext cx="9291215" cy="1049235"/>
          </a:xfrm>
        </p:spPr>
        <p:txBody>
          <a:bodyPr/>
          <a:lstStyle/>
          <a:p>
            <a:r>
              <a:rPr lang="en-US" sz="3200" b="1" i="0" dirty="0">
                <a:effectLst/>
                <a:latin typeface="Arial" panose="020B0604020202020204" pitchFamily="34" charset="0"/>
                <a:cs typeface="Arial" panose="020B0604020202020204" pitchFamily="34" charset="0"/>
              </a:rPr>
              <a:t>Patch Management</a:t>
            </a:r>
            <a:endParaRPr lang="en-US" dirty="0"/>
          </a:p>
        </p:txBody>
      </p:sp>
      <p:sp>
        <p:nvSpPr>
          <p:cNvPr id="3" name="Content Placeholder 2">
            <a:extLst>
              <a:ext uri="{FF2B5EF4-FFF2-40B4-BE49-F238E27FC236}">
                <a16:creationId xmlns:a16="http://schemas.microsoft.com/office/drawing/2014/main" id="{FDE66E22-A1C5-9CC8-A5DE-97BAC45097A0}"/>
              </a:ext>
            </a:extLst>
          </p:cNvPr>
          <p:cNvSpPr>
            <a:spLocks noGrp="1"/>
          </p:cNvSpPr>
          <p:nvPr>
            <p:ph idx="1"/>
          </p:nvPr>
        </p:nvSpPr>
        <p:spPr/>
        <p:txBody>
          <a:bodyPr>
            <a:normAutofit/>
          </a:bodyPr>
          <a:lstStyle/>
          <a:p>
            <a:r>
              <a:rPr lang="en-US" sz="2400" b="1" i="0" dirty="0">
                <a:effectLst/>
                <a:latin typeface="Arial" panose="020B0604020202020204" pitchFamily="34" charset="0"/>
                <a:cs typeface="Arial" panose="020B0604020202020204" pitchFamily="34" charset="0"/>
              </a:rPr>
              <a:t>Patch Management</a:t>
            </a:r>
            <a:r>
              <a:rPr lang="en-US" sz="2400" b="0" i="0" dirty="0">
                <a:effectLst/>
                <a:latin typeface="Arial" panose="020B0604020202020204" pitchFamily="34" charset="0"/>
                <a:cs typeface="Arial" panose="020B0604020202020204" pitchFamily="34" charset="0"/>
              </a:rPr>
              <a:t> This involves regularly updating the OS and software applications with security patches to address known vulnerabilities and protect against exploits.</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80053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2E38F-6CF4-7A7E-2BAC-1EBF37FDCB43}"/>
              </a:ext>
            </a:extLst>
          </p:cNvPr>
          <p:cNvSpPr>
            <a:spLocks noGrp="1"/>
          </p:cNvSpPr>
          <p:nvPr>
            <p:ph type="title"/>
          </p:nvPr>
        </p:nvSpPr>
        <p:spPr>
          <a:xfrm>
            <a:off x="-996654" y="867037"/>
            <a:ext cx="9291215" cy="1049235"/>
          </a:xfrm>
        </p:spPr>
        <p:txBody>
          <a:bodyPr/>
          <a:lstStyle/>
          <a:p>
            <a:r>
              <a:rPr lang="en-US" sz="3200" b="1" i="0" dirty="0">
                <a:effectLst/>
                <a:latin typeface="Arial" panose="020B0604020202020204" pitchFamily="34" charset="0"/>
                <a:cs typeface="Arial" panose="020B0604020202020204" pitchFamily="34" charset="0"/>
              </a:rPr>
              <a:t>Security Audits</a:t>
            </a:r>
            <a:r>
              <a:rPr lang="en-US" sz="3200" b="0" i="0" dirty="0">
                <a:effectLst/>
                <a:latin typeface="Arial" panose="020B0604020202020204" pitchFamily="34" charset="0"/>
                <a:cs typeface="Arial" panose="020B0604020202020204" pitchFamily="34" charset="0"/>
              </a:rPr>
              <a:t> </a:t>
            </a:r>
            <a:endParaRPr lang="en-US" dirty="0"/>
          </a:p>
        </p:txBody>
      </p:sp>
      <p:sp>
        <p:nvSpPr>
          <p:cNvPr id="3" name="Content Placeholder 2">
            <a:extLst>
              <a:ext uri="{FF2B5EF4-FFF2-40B4-BE49-F238E27FC236}">
                <a16:creationId xmlns:a16="http://schemas.microsoft.com/office/drawing/2014/main" id="{57DE35A1-B7A3-B5E5-A638-06B67BEE8965}"/>
              </a:ext>
            </a:extLst>
          </p:cNvPr>
          <p:cNvSpPr>
            <a:spLocks noGrp="1"/>
          </p:cNvSpPr>
          <p:nvPr>
            <p:ph idx="1"/>
          </p:nvPr>
        </p:nvSpPr>
        <p:spPr/>
        <p:txBody>
          <a:bodyPr>
            <a:normAutofit/>
          </a:bodyPr>
          <a:lstStyle/>
          <a:p>
            <a:r>
              <a:rPr lang="en-US" sz="2400" b="1" i="0" dirty="0">
                <a:effectLst/>
                <a:latin typeface="Arial" panose="020B0604020202020204" pitchFamily="34" charset="0"/>
                <a:cs typeface="Arial" panose="020B0604020202020204" pitchFamily="34" charset="0"/>
              </a:rPr>
              <a:t>Security Audits</a:t>
            </a:r>
            <a:r>
              <a:rPr lang="en-US" sz="2400" b="0" i="0" dirty="0">
                <a:effectLst/>
                <a:latin typeface="Arial" panose="020B0604020202020204" pitchFamily="34" charset="0"/>
                <a:cs typeface="Arial" panose="020B0604020202020204" pitchFamily="34" charset="0"/>
              </a:rPr>
              <a:t> These involve periodic assessments of the system's security posture to identify vulnerabilities and ensure that security measures are up-to-date and effective.</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31279456"/>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9D5"/>
      </a:lt2>
      <a:accent1>
        <a:srgbClr val="FB8C29"/>
      </a:accent1>
      <a:accent2>
        <a:srgbClr val="F2C351"/>
      </a:accent2>
      <a:accent3>
        <a:srgbClr val="D0CBA5"/>
      </a:accent3>
      <a:accent4>
        <a:srgbClr val="A2C476"/>
      </a:accent4>
      <a:accent5>
        <a:srgbClr val="57C293"/>
      </a:accent5>
      <a:accent6>
        <a:srgbClr val="06BFDE"/>
      </a:accent6>
      <a:hlink>
        <a:srgbClr val="FBAE29"/>
      </a:hlink>
      <a:folHlink>
        <a:srgbClr val="EDC47E"/>
      </a:folHlink>
    </a:clrScheme>
    <a:fontScheme name="Gallery">
      <a:majorFont>
        <a:latin typeface="Rockwell" panose="020606030202050204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BB5F5D82-B5E9-469E-A815-C655ED4AF243}"/>
    </a:ext>
  </a:extLst>
</a:theme>
</file>

<file path=docProps/app.xml><?xml version="1.0" encoding="utf-8"?>
<Properties xmlns="http://schemas.openxmlformats.org/officeDocument/2006/extended-properties" xmlns:vt="http://schemas.openxmlformats.org/officeDocument/2006/docPropsVTypes">
  <Template>TM10001114[[fn=Gallery]]</Template>
  <TotalTime>34</TotalTime>
  <Words>572</Words>
  <Application>Microsoft Office PowerPoint</Application>
  <PresentationFormat>Widescreen</PresentationFormat>
  <Paragraphs>32</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Inter</vt:lpstr>
      <vt:lpstr>Arial</vt:lpstr>
      <vt:lpstr>Rockwell</vt:lpstr>
      <vt:lpstr>Gallery</vt:lpstr>
      <vt:lpstr>Operating system security</vt:lpstr>
      <vt:lpstr>What is operating system security ?</vt:lpstr>
      <vt:lpstr>Types of operating system security</vt:lpstr>
      <vt:lpstr> OS - Protection</vt:lpstr>
      <vt:lpstr>TYPES OF OS - PROTECTION</vt:lpstr>
      <vt:lpstr>Authentication </vt:lpstr>
      <vt:lpstr>Authorization</vt:lpstr>
      <vt:lpstr>Memory Protection </vt:lpstr>
      <vt:lpstr>File Protection</vt:lpstr>
      <vt:lpstr>Security Classifications </vt:lpstr>
      <vt:lpstr>OS - SECURTITY</vt:lpstr>
      <vt:lpstr>TYPES OF OS - SECURITY</vt:lpstr>
      <vt:lpstr>Intrusion Detection Systems (IDS)</vt:lpstr>
      <vt:lpstr>Firewalls</vt:lpstr>
      <vt:lpstr>Encryption</vt:lpstr>
      <vt:lpstr>Patch Management</vt:lpstr>
      <vt:lpstr>Security Audits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 security</dc:title>
  <dc:creator>hp</dc:creator>
  <cp:lastModifiedBy>Win10</cp:lastModifiedBy>
  <cp:revision>2</cp:revision>
  <dcterms:created xsi:type="dcterms:W3CDTF">2024-10-14T14:45:39Z</dcterms:created>
  <dcterms:modified xsi:type="dcterms:W3CDTF">2025-11-15T14:16:08Z</dcterms:modified>
</cp:coreProperties>
</file>