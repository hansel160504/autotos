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2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</p:sldIdLst>
  <p:sldSz cx="18288000" cy="10287000"/>
  <p:notesSz cx="6858000" cy="9144000"/>
  <p:embeddedFontLst>
    <p:embeddedFont>
      <p:font typeface="Calibri" panose="020F0502020204030204" pitchFamily="34" charset="0"/>
      <p:regular r:id="rId23"/>
      <p:bold r:id="rId24"/>
      <p:italic r:id="rId25"/>
      <p:boldItalic r:id="rId26"/>
    </p:embeddedFont>
    <p:embeddedFont>
      <p:font typeface="Horizon" panose="02010600030101010101" charset="0"/>
      <p:regular r:id="rId27"/>
    </p:embeddedFont>
    <p:embeddedFont>
      <p:font typeface="TT Hoves" panose="02010600030101010101" charset="0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3" d="100"/>
          <a:sy n="73" d="100"/>
        </p:scale>
        <p:origin x="594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9" y="1"/>
            <a:ext cx="3076575" cy="5127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10487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6763"/>
            <a:ext cx="5118100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0487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4" y="4862514"/>
            <a:ext cx="5680075" cy="46053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10487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9" y="9720264"/>
            <a:ext cx="3076575" cy="512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92" tIns="45745" rIns="91492" bIns="45745" numCol="1" anchor="b" anchorCtr="0" compatLnSpc="1">
            <a:prstTxWarp prst="textNoShape">
              <a:avLst/>
            </a:prstTxWarp>
          </a:bodyPr>
          <a:lstStyle>
            <a:lvl1pPr algn="r">
              <a:defRPr sz="1100"/>
            </a:lvl1pPr>
          </a:lstStyle>
          <a:p>
            <a:fld id="{A9A0EA98-5831-4853-B862-C702E6EB345C}" type="slidenum">
              <a:rPr lang="en-US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9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20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04872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104872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34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104873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9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50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51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1048752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3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55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6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5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1048758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59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61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>
            <a:normAutofit fontScale="95833" lnSpcReduction="20000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2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>
            <a:normAutofit fontScale="95833" lnSpcReduction="20000"/>
          </a:bodyPr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64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65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1048766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67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25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1048726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27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1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1048582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583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68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69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70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7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104877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7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38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48739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1048740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8741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1048742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3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4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45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46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1048747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48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8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729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730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1048731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48732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048577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48578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1048579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04858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4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43" name="Group 3"/>
          <p:cNvGrpSpPr/>
          <p:nvPr/>
        </p:nvGrpSpPr>
        <p:grpSpPr>
          <a:xfrm>
            <a:off x="-1602130" y="-207032"/>
            <a:ext cx="21615897" cy="10701065"/>
            <a:chOff x="0" y="0"/>
            <a:chExt cx="4940489" cy="2818387"/>
          </a:xfrm>
        </p:grpSpPr>
        <p:sp>
          <p:nvSpPr>
            <p:cNvPr id="1048625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626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627" name="Freeform 6"/>
          <p:cNvSpPr/>
          <p:nvPr/>
        </p:nvSpPr>
        <p:spPr>
          <a:xfrm>
            <a:off x="1028700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28" name="TextBox 7"/>
          <p:cNvSpPr txBox="1"/>
          <p:nvPr/>
        </p:nvSpPr>
        <p:spPr>
          <a:xfrm>
            <a:off x="1291616" y="3096007"/>
            <a:ext cx="15704769" cy="4094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22"/>
              </a:lnSpc>
            </a:pPr>
            <a:r>
              <a:rPr lang="en-US" sz="72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Title:</a:t>
            </a:r>
            <a:r>
              <a:rPr lang="en-US" altLang="en-PH" sz="7200" dirty="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 </a:t>
            </a:r>
            <a:r>
              <a:rPr lang="zh-CN" altLang="en-US" sz="7200" dirty="0">
                <a:solidFill>
                  <a:srgbClr val="FFFFFF"/>
                </a:solidFill>
              </a:rPr>
              <a:t>Privacy Laws and Regulations (e.g., GDPR, HIPAA)</a:t>
            </a:r>
            <a:endParaRPr lang="zh-CN" altLang="en-US" sz="4800" dirty="0"/>
          </a:p>
        </p:txBody>
      </p:sp>
      <p:sp>
        <p:nvSpPr>
          <p:cNvPr id="1048630" name="TextBox 17"/>
          <p:cNvSpPr txBox="1"/>
          <p:nvPr/>
        </p:nvSpPr>
        <p:spPr>
          <a:xfrm>
            <a:off x="5484590" y="8852535"/>
            <a:ext cx="140626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45" name="Group 3"/>
          <p:cNvGrpSpPr/>
          <p:nvPr/>
        </p:nvGrpSpPr>
        <p:grpSpPr>
          <a:xfrm>
            <a:off x="-470420" y="-207032"/>
            <a:ext cx="18758420" cy="10701065"/>
            <a:chOff x="0" y="0"/>
            <a:chExt cx="4940489" cy="2818387"/>
          </a:xfrm>
        </p:grpSpPr>
        <p:sp>
          <p:nvSpPr>
            <p:cNvPr id="1048633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634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635" name="Freeform 6"/>
          <p:cNvSpPr/>
          <p:nvPr/>
        </p:nvSpPr>
        <p:spPr>
          <a:xfrm>
            <a:off x="1028700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36" name="TextBox 7"/>
          <p:cNvSpPr txBox="1"/>
          <p:nvPr/>
        </p:nvSpPr>
        <p:spPr>
          <a:xfrm>
            <a:off x="1028699" y="2220262"/>
            <a:ext cx="7852453" cy="1085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Introduction to Privacy Laws</a:t>
            </a:r>
          </a:p>
        </p:txBody>
      </p:sp>
      <p:sp>
        <p:nvSpPr>
          <p:cNvPr id="1048637" name="TextBox 14"/>
          <p:cNvSpPr txBox="1"/>
          <p:nvPr/>
        </p:nvSpPr>
        <p:spPr>
          <a:xfrm>
            <a:off x="12748816" y="9045004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638" name="TextBox 17"/>
          <p:cNvSpPr txBox="1"/>
          <p:nvPr/>
        </p:nvSpPr>
        <p:spPr>
          <a:xfrm>
            <a:off x="5484590" y="8852535"/>
            <a:ext cx="140626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1048639" name="TextBox 1048638"/>
          <p:cNvSpPr txBox="1"/>
          <p:nvPr/>
        </p:nvSpPr>
        <p:spPr>
          <a:xfrm>
            <a:off x="2827619" y="940792"/>
            <a:ext cx="13677353" cy="16916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PH" sz="5400">
                <a:solidFill>
                  <a:srgbClr val="FFFFFF"/>
                </a:solidFill>
              </a:rPr>
              <a:t>Understanding Privacy and Data Protection
</a:t>
            </a:r>
            <a:endParaRPr lang="en-PH" sz="2800">
              <a:solidFill>
                <a:srgbClr val="FFFFFF"/>
              </a:solidFill>
            </a:endParaRPr>
          </a:p>
        </p:txBody>
      </p:sp>
      <p:sp>
        <p:nvSpPr>
          <p:cNvPr id="1048640" name="TextBox 1048639"/>
          <p:cNvSpPr txBox="1"/>
          <p:nvPr/>
        </p:nvSpPr>
        <p:spPr>
          <a:xfrm>
            <a:off x="1380990" y="3923277"/>
            <a:ext cx="12328880" cy="2186939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PH" sz="2800">
                <a:solidFill>
                  <a:srgbClr val="FFFFFF"/>
                </a:solidFill>
              </a:rPr>
              <a:t>What are privacy laws?
</a:t>
            </a:r>
          </a:p>
          <a:p>
            <a:pPr marL="457200" indent="-457200">
              <a:buFont typeface="Arial"/>
              <a:buChar char="•"/>
            </a:pPr>
            <a:r>
              <a:rPr lang="en-PH" sz="2800">
                <a:solidFill>
                  <a:srgbClr val="FFFFFF"/>
                </a:solidFill>
              </a:rPr>
              <a:t>Rules designed to protect personal data.</a:t>
            </a:r>
          </a:p>
          <a:p>
            <a:pPr marL="457200" indent="-457200">
              <a:buFont typeface="Arial"/>
              <a:buChar char="•"/>
            </a:pPr>
            <a:endParaRPr lang="en-PH" sz="2800">
              <a:solidFill>
                <a:srgbClr val="FFFFFF"/>
              </a:solidFill>
            </a:endParaRPr>
          </a:p>
          <a:p>
            <a:pPr marL="457200" indent="-457200">
              <a:buFont typeface="Arial"/>
              <a:buChar char="•"/>
            </a:pPr>
            <a:r>
              <a:rPr lang="en-PH" sz="2800">
                <a:solidFill>
                  <a:srgbClr val="FFFFFF"/>
                </a:solidFill>
              </a:rPr>
              <a:t>Ensure people’s privacy is respected in different sectors.</a:t>
            </a:r>
          </a:p>
        </p:txBody>
      </p:sp>
      <p:sp>
        <p:nvSpPr>
          <p:cNvPr id="1048641" name="TextBox 1048640"/>
          <p:cNvSpPr txBox="1"/>
          <p:nvPr/>
        </p:nvSpPr>
        <p:spPr>
          <a:xfrm>
            <a:off x="1460136" y="7018147"/>
            <a:ext cx="8206159" cy="1834388"/>
          </a:xfrm>
          <a:prstGeom prst="rect">
            <a:avLst/>
          </a:prstGeom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ts val="3431"/>
              </a:lnSpc>
            </a:pPr>
            <a:r>
              <a:rPr lang="en-US" altLang="en-PH" sz="2800">
                <a:solidFill>
                  <a:srgbClr val="FFFFFF"/>
                </a:solidFill>
              </a:rPr>
              <a:t>W</a:t>
            </a:r>
            <a:r>
              <a:rPr sz="2800">
                <a:solidFill>
                  <a:srgbClr val="FFFFFF"/>
                </a:solidFill>
              </a:rPr>
              <a:t>hy are they important?</a:t>
            </a:r>
          </a:p>
          <a:p>
            <a:pPr algn="l">
              <a:lnSpc>
                <a:spcPts val="3431"/>
              </a:lnSpc>
            </a:pPr>
            <a:endParaRPr sz="2800">
              <a:solidFill>
                <a:srgbClr val="FFFFFF"/>
              </a:solidFill>
            </a:endParaRPr>
          </a:p>
          <a:p>
            <a:pPr marL="457200" indent="-457200" algn="l">
              <a:lnSpc>
                <a:spcPts val="3431"/>
              </a:lnSpc>
              <a:buFont typeface="Arial"/>
              <a:buChar char="•"/>
            </a:pPr>
            <a:r>
              <a:rPr sz="2800">
                <a:solidFill>
                  <a:srgbClr val="FFFFFF"/>
                </a:solidFill>
              </a:rPr>
              <a:t>Protects individuals from</a:t>
            </a:r>
            <a:r>
              <a:rPr lang="en-US" altLang="en-PH" sz="2800">
                <a:solidFill>
                  <a:srgbClr val="FFFFFF"/>
                </a:solidFill>
              </a:rPr>
              <a:t> </a:t>
            </a:r>
            <a:r>
              <a:rPr sz="2800">
                <a:solidFill>
                  <a:srgbClr val="FFFFFF"/>
                </a:solidFill>
              </a:rPr>
              <a:t>misuse of their data.</a:t>
            </a:r>
          </a:p>
          <a:p>
            <a:pPr marL="457200" indent="-457200" algn="l">
              <a:lnSpc>
                <a:spcPts val="3431"/>
              </a:lnSpc>
              <a:buFont typeface="Arial"/>
              <a:buChar char="•"/>
            </a:pPr>
            <a:r>
              <a:rPr sz="2800">
                <a:solidFill>
                  <a:srgbClr val="FFFFFF"/>
                </a:solidFill>
              </a:rPr>
              <a:t>Helps businesses build trust with customers.</a:t>
            </a:r>
            <a:r>
              <a:rPr lang="en-PH" sz="2800">
                <a:solidFill>
                  <a:srgbClr val="FFFFFF"/>
                </a:solidFill>
                <a:latin typeface="Calibri"/>
              </a:rPr>
              <a:t>.</a:t>
            </a:r>
            <a:endParaRPr lang="en-PH"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47" name="Group 3"/>
          <p:cNvGrpSpPr/>
          <p:nvPr/>
        </p:nvGrpSpPr>
        <p:grpSpPr>
          <a:xfrm>
            <a:off x="-235210" y="-207032"/>
            <a:ext cx="18758420" cy="10701065"/>
            <a:chOff x="0" y="0"/>
            <a:chExt cx="4940489" cy="2818387"/>
          </a:xfrm>
        </p:grpSpPr>
        <p:sp>
          <p:nvSpPr>
            <p:cNvPr id="1048643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644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645" name="Freeform 6"/>
          <p:cNvSpPr/>
          <p:nvPr/>
        </p:nvSpPr>
        <p:spPr>
          <a:xfrm>
            <a:off x="1028700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46" name="TextBox 7"/>
          <p:cNvSpPr txBox="1"/>
          <p:nvPr/>
        </p:nvSpPr>
        <p:spPr>
          <a:xfrm>
            <a:off x="1028700" y="2287448"/>
            <a:ext cx="17593877" cy="2171702"/>
          </a:xfrm>
          <a:prstGeom prst="rect">
            <a:avLst/>
          </a:prstGeom>
        </p:spPr>
        <p:txBody>
          <a:bodyPr lIns="0" tIns="0" rIns="0" bIns="0" rtlCol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800" b="1">
                <a:solidFill>
                  <a:srgbClr val="FFFFFF"/>
                </a:solidFill>
              </a:rPr>
              <a:t>What is GDPR?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A regulation in the European Union to protect personaldata.</a:t>
            </a:r>
          </a:p>
        </p:txBody>
      </p:sp>
      <p:sp>
        <p:nvSpPr>
          <p:cNvPr id="1048647" name="TextBox 14"/>
          <p:cNvSpPr txBox="1"/>
          <p:nvPr/>
        </p:nvSpPr>
        <p:spPr>
          <a:xfrm>
            <a:off x="12878860" y="9673653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648" name="TextBox 7"/>
          <p:cNvSpPr txBox="1"/>
          <p:nvPr/>
        </p:nvSpPr>
        <p:spPr>
          <a:xfrm>
            <a:off x="1733280" y="-82954"/>
            <a:ext cx="15704769" cy="2047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6122"/>
              </a:lnSpc>
            </a:pPr>
            <a:r>
              <a:rPr lang="zh-CN" altLang="en-US" sz="4800">
                <a:solidFill>
                  <a:srgbClr val="FFFFFF"/>
                </a:solidFill>
              </a:rPr>
              <a:t>GDPR Overview (General Data Protection Regulation)</a:t>
            </a:r>
          </a:p>
        </p:txBody>
      </p:sp>
      <p:sp>
        <p:nvSpPr>
          <p:cNvPr id="1048649" name="TextBox 7"/>
          <p:cNvSpPr txBox="1"/>
          <p:nvPr/>
        </p:nvSpPr>
        <p:spPr>
          <a:xfrm>
            <a:off x="1028700" y="5143499"/>
            <a:ext cx="15704769" cy="434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 b="1">
                <a:solidFill>
                  <a:srgbClr val="FFFFFF"/>
                </a:solidFill>
              </a:rPr>
              <a:t>Key Principles</a:t>
            </a:r>
            <a:r>
              <a:rPr lang="zh-CN" altLang="en-US" sz="4800">
                <a:solidFill>
                  <a:srgbClr val="FFFFFF"/>
                </a:solidFill>
              </a:rPr>
              <a:t>: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Data must be collected fairly and for specific purposes.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Individuals have rights over their personal data (e.g., right to access, right to delete).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Companies must protect data with adequate security.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0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49" name="Group 3"/>
          <p:cNvGrpSpPr/>
          <p:nvPr/>
        </p:nvGrpSpPr>
        <p:grpSpPr>
          <a:xfrm>
            <a:off x="-235210" y="-207032"/>
            <a:ext cx="18758420" cy="10701065"/>
            <a:chOff x="0" y="0"/>
            <a:chExt cx="4940489" cy="2818387"/>
          </a:xfrm>
        </p:grpSpPr>
        <p:sp>
          <p:nvSpPr>
            <p:cNvPr id="1048651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652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653" name="Freeform 6"/>
          <p:cNvSpPr/>
          <p:nvPr/>
        </p:nvSpPr>
        <p:spPr>
          <a:xfrm>
            <a:off x="514348" y="359432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54" name="TextBox 14"/>
          <p:cNvSpPr txBox="1"/>
          <p:nvPr/>
        </p:nvSpPr>
        <p:spPr>
          <a:xfrm>
            <a:off x="13100301" y="9699992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655" name="TextBox 7"/>
          <p:cNvSpPr txBox="1"/>
          <p:nvPr/>
        </p:nvSpPr>
        <p:spPr>
          <a:xfrm>
            <a:off x="1586824" y="359431"/>
            <a:ext cx="15704769" cy="10134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 b="1">
                <a:solidFill>
                  <a:srgbClr val="FFFFFF"/>
                </a:solidFill>
              </a:rPr>
              <a:t>GDPR Key Terms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Personal Data: Any information that can identify a person (e.g., name, email, phone number).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Data Subject: The individual whose personal data is being collected.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Data Controller: The entity responsible for deciding how personal data is processed.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Data Processor: The entity that processes personal data on behalf of the controller.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51" name="Group 3"/>
          <p:cNvGrpSpPr/>
          <p:nvPr/>
        </p:nvGrpSpPr>
        <p:grpSpPr>
          <a:xfrm>
            <a:off x="-235210" y="-207032"/>
            <a:ext cx="18758420" cy="10701065"/>
            <a:chOff x="0" y="0"/>
            <a:chExt cx="4940489" cy="2818387"/>
          </a:xfrm>
        </p:grpSpPr>
        <p:sp>
          <p:nvSpPr>
            <p:cNvPr id="1048657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658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659" name="Freeform 6"/>
          <p:cNvSpPr/>
          <p:nvPr/>
        </p:nvSpPr>
        <p:spPr>
          <a:xfrm>
            <a:off x="1028700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60" name="TextBox 7"/>
          <p:cNvSpPr txBox="1"/>
          <p:nvPr/>
        </p:nvSpPr>
        <p:spPr>
          <a:xfrm>
            <a:off x="929286" y="2956496"/>
            <a:ext cx="17052669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What is HIPAA?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A U.S. law that protects sensitive patient health information.</a:t>
            </a:r>
          </a:p>
        </p:txBody>
      </p:sp>
      <p:sp>
        <p:nvSpPr>
          <p:cNvPr id="1048661" name="TextBox 14"/>
          <p:cNvSpPr txBox="1"/>
          <p:nvPr/>
        </p:nvSpPr>
        <p:spPr>
          <a:xfrm>
            <a:off x="13267959" y="9671214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662" name="TextBox 7"/>
          <p:cNvSpPr txBox="1"/>
          <p:nvPr/>
        </p:nvSpPr>
        <p:spPr>
          <a:xfrm>
            <a:off x="929286" y="5882988"/>
            <a:ext cx="15704769" cy="43434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Key Principles: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Ensures health information is kept confidential.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Requires healthcare providers to follow strict rules for handling medical records.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</p:txBody>
      </p:sp>
      <p:sp>
        <p:nvSpPr>
          <p:cNvPr id="1048663" name="TextBox 7"/>
          <p:cNvSpPr txBox="1"/>
          <p:nvPr/>
        </p:nvSpPr>
        <p:spPr>
          <a:xfrm>
            <a:off x="1174010" y="940793"/>
            <a:ext cx="15704769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HIPAA Overview (Health Insurance Portability and Accountability Act)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4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53" name="Group 3"/>
          <p:cNvGrpSpPr/>
          <p:nvPr/>
        </p:nvGrpSpPr>
        <p:grpSpPr>
          <a:xfrm>
            <a:off x="-235210" y="-207032"/>
            <a:ext cx="18758420" cy="10701065"/>
            <a:chOff x="0" y="0"/>
            <a:chExt cx="4940489" cy="2818387"/>
          </a:xfrm>
        </p:grpSpPr>
        <p:sp>
          <p:nvSpPr>
            <p:cNvPr id="1048665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666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667" name="Freeform 6"/>
          <p:cNvSpPr/>
          <p:nvPr/>
        </p:nvSpPr>
        <p:spPr>
          <a:xfrm>
            <a:off x="1028700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68" name="TextBox 7"/>
          <p:cNvSpPr txBox="1"/>
          <p:nvPr/>
        </p:nvSpPr>
        <p:spPr>
          <a:xfrm>
            <a:off x="1291616" y="2377429"/>
            <a:ext cx="15704769" cy="651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Protected Health Information (PHI): Any health information that identifies a person (e.g., medical records, diagnosis).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Covered Entities: Healthcare providers, insurance companies, and business associates.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Security and Privacy Rules: Protect how PHI is stored, shared, and accessed.</a:t>
            </a:r>
          </a:p>
        </p:txBody>
      </p:sp>
      <p:sp>
        <p:nvSpPr>
          <p:cNvPr id="1048669" name="TextBox 14"/>
          <p:cNvSpPr txBox="1"/>
          <p:nvPr/>
        </p:nvSpPr>
        <p:spPr>
          <a:xfrm>
            <a:off x="13551952" y="9666860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670" name="TextBox 7"/>
          <p:cNvSpPr txBox="1"/>
          <p:nvPr/>
        </p:nvSpPr>
        <p:spPr>
          <a:xfrm>
            <a:off x="1733280" y="9069706"/>
            <a:ext cx="15704769" cy="20474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6122"/>
              </a:lnSpc>
            </a:pPr>
            <a:endParaRPr lang="zh-CN" altLang="en-US" sz="4800"/>
          </a:p>
        </p:txBody>
      </p:sp>
      <p:sp>
        <p:nvSpPr>
          <p:cNvPr id="1048671" name="TextBox 7"/>
          <p:cNvSpPr txBox="1"/>
          <p:nvPr/>
        </p:nvSpPr>
        <p:spPr>
          <a:xfrm>
            <a:off x="2240560" y="879199"/>
            <a:ext cx="690343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HIPAA Key Components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55" name="Group 3"/>
          <p:cNvGrpSpPr/>
          <p:nvPr/>
        </p:nvGrpSpPr>
        <p:grpSpPr>
          <a:xfrm>
            <a:off x="-235210" y="-207032"/>
            <a:ext cx="18758420" cy="10701065"/>
            <a:chOff x="0" y="0"/>
            <a:chExt cx="4940489" cy="2818387"/>
          </a:xfrm>
        </p:grpSpPr>
        <p:sp>
          <p:nvSpPr>
            <p:cNvPr id="1048673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674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675" name="Freeform 6"/>
          <p:cNvSpPr/>
          <p:nvPr/>
        </p:nvSpPr>
        <p:spPr>
          <a:xfrm>
            <a:off x="1028700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76" name="TextBox 7"/>
          <p:cNvSpPr txBox="1"/>
          <p:nvPr/>
        </p:nvSpPr>
        <p:spPr>
          <a:xfrm>
            <a:off x="977890" y="2125523"/>
            <a:ext cx="16332221" cy="361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Geography: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GDPR applies to the EU and affects any company handling data of EU residents.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HIPAA applies to the U.S. and healthcare-related entities.</a:t>
            </a:r>
          </a:p>
        </p:txBody>
      </p:sp>
      <p:sp>
        <p:nvSpPr>
          <p:cNvPr id="1048677" name="TextBox 14"/>
          <p:cNvSpPr txBox="1"/>
          <p:nvPr/>
        </p:nvSpPr>
        <p:spPr>
          <a:xfrm>
            <a:off x="13154023" y="122786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678" name="TextBox 7"/>
          <p:cNvSpPr txBox="1"/>
          <p:nvPr/>
        </p:nvSpPr>
        <p:spPr>
          <a:xfrm>
            <a:off x="1380990" y="6267448"/>
            <a:ext cx="16541765" cy="361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Scope: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GDPR covers a wide range of data types (not just health-related).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HIPAA focuses specifically on health-related information.</a:t>
            </a:r>
          </a:p>
        </p:txBody>
      </p:sp>
      <p:sp>
        <p:nvSpPr>
          <p:cNvPr id="1048679" name="TextBox 7"/>
          <p:cNvSpPr txBox="1"/>
          <p:nvPr/>
        </p:nvSpPr>
        <p:spPr>
          <a:xfrm>
            <a:off x="2677618" y="879198"/>
            <a:ext cx="11149103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Differences Between GDPR and HIPAA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0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57" name="Group 3"/>
          <p:cNvGrpSpPr/>
          <p:nvPr/>
        </p:nvGrpSpPr>
        <p:grpSpPr>
          <a:xfrm>
            <a:off x="-235210" y="-207032"/>
            <a:ext cx="18758420" cy="10701065"/>
            <a:chOff x="0" y="0"/>
            <a:chExt cx="4940489" cy="2818387"/>
          </a:xfrm>
        </p:grpSpPr>
        <p:sp>
          <p:nvSpPr>
            <p:cNvPr id="1048681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682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683" name="Freeform 6"/>
          <p:cNvSpPr/>
          <p:nvPr/>
        </p:nvSpPr>
        <p:spPr>
          <a:xfrm>
            <a:off x="2406371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84" name="TextBox 7"/>
          <p:cNvSpPr txBox="1"/>
          <p:nvPr/>
        </p:nvSpPr>
        <p:spPr>
          <a:xfrm>
            <a:off x="2406371" y="2247900"/>
            <a:ext cx="15704769" cy="289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Anonymization: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Removing identifying information from data so individuals cannot be identified.</a:t>
            </a:r>
          </a:p>
        </p:txBody>
      </p:sp>
      <p:sp>
        <p:nvSpPr>
          <p:cNvPr id="1048685" name="TextBox 14"/>
          <p:cNvSpPr txBox="1"/>
          <p:nvPr/>
        </p:nvSpPr>
        <p:spPr>
          <a:xfrm>
            <a:off x="13551952" y="9666860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686" name="TextBox 7"/>
          <p:cNvSpPr txBox="1"/>
          <p:nvPr/>
        </p:nvSpPr>
        <p:spPr>
          <a:xfrm>
            <a:off x="2406370" y="5905500"/>
            <a:ext cx="15704769" cy="361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Pseudonymization: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Replacing identifying information with pseudonyms (e.g., codes) to protect identity.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</p:txBody>
      </p:sp>
      <p:sp>
        <p:nvSpPr>
          <p:cNvPr id="1048687" name="TextBox 7"/>
          <p:cNvSpPr txBox="1"/>
          <p:nvPr/>
        </p:nvSpPr>
        <p:spPr>
          <a:xfrm>
            <a:off x="3869716" y="879199"/>
            <a:ext cx="8515400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Data Protection Techniques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8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59" name="Group 3"/>
          <p:cNvGrpSpPr/>
          <p:nvPr/>
        </p:nvGrpSpPr>
        <p:grpSpPr>
          <a:xfrm>
            <a:off x="-235210" y="-207032"/>
            <a:ext cx="18758420" cy="10701065"/>
            <a:chOff x="0" y="0"/>
            <a:chExt cx="4940489" cy="2818387"/>
          </a:xfrm>
        </p:grpSpPr>
        <p:sp>
          <p:nvSpPr>
            <p:cNvPr id="1048689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690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691" name="Freeform 6"/>
          <p:cNvSpPr/>
          <p:nvPr/>
        </p:nvSpPr>
        <p:spPr>
          <a:xfrm>
            <a:off x="1028700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92" name="TextBox 7"/>
          <p:cNvSpPr txBox="1"/>
          <p:nvPr/>
        </p:nvSpPr>
        <p:spPr>
          <a:xfrm>
            <a:off x="1733279" y="2687499"/>
            <a:ext cx="15704769" cy="651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Privacy laws like GDPR and HIPAA are critical for protecting personal data.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Organizations must follow these regulations to avoid penalties and maintain trust.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Understanding these laws helps both individuals and companies safeguard sensitive information.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</p:txBody>
      </p:sp>
      <p:sp>
        <p:nvSpPr>
          <p:cNvPr id="1048693" name="TextBox 14"/>
          <p:cNvSpPr txBox="1"/>
          <p:nvPr/>
        </p:nvSpPr>
        <p:spPr>
          <a:xfrm>
            <a:off x="13551952" y="9666860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694" name="TextBox 7"/>
          <p:cNvSpPr txBox="1"/>
          <p:nvPr/>
        </p:nvSpPr>
        <p:spPr>
          <a:xfrm>
            <a:off x="2199967" y="879199"/>
            <a:ext cx="5270751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Conclusion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5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61" name="Group 3"/>
          <p:cNvGrpSpPr/>
          <p:nvPr/>
        </p:nvGrpSpPr>
        <p:grpSpPr>
          <a:xfrm>
            <a:off x="-1602130" y="-207032"/>
            <a:ext cx="21615897" cy="10701065"/>
            <a:chOff x="0" y="0"/>
            <a:chExt cx="4940489" cy="2818387"/>
          </a:xfrm>
        </p:grpSpPr>
        <p:sp>
          <p:nvSpPr>
            <p:cNvPr id="1048696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697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698" name="Freeform 6"/>
          <p:cNvSpPr/>
          <p:nvPr/>
        </p:nvSpPr>
        <p:spPr>
          <a:xfrm>
            <a:off x="1028700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99" name="TextBox 7"/>
          <p:cNvSpPr txBox="1"/>
          <p:nvPr/>
        </p:nvSpPr>
        <p:spPr>
          <a:xfrm>
            <a:off x="1291616" y="3096007"/>
            <a:ext cx="15704769" cy="4094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6122"/>
              </a:lnSpc>
            </a:pPr>
            <a:r>
              <a:rPr lang="en-US" altLang="en-US" sz="7200">
                <a:solidFill>
                  <a:srgbClr val="FFFFFF"/>
                </a:solidFill>
                <a:latin typeface="Horizon"/>
                <a:ea typeface="Horizon"/>
                <a:cs typeface="Horizon"/>
                <a:sym typeface="Horizon"/>
              </a:rPr>
              <a:t>Anonymization and Pseudonymization Techniques</a:t>
            </a:r>
            <a:endParaRPr lang="zh-CN" altLang="en-US" sz="4800"/>
          </a:p>
        </p:txBody>
      </p:sp>
      <p:sp>
        <p:nvSpPr>
          <p:cNvPr id="1048700" name="TextBox 14"/>
          <p:cNvSpPr txBox="1"/>
          <p:nvPr/>
        </p:nvSpPr>
        <p:spPr>
          <a:xfrm>
            <a:off x="12748816" y="9045004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701" name="TextBox 17"/>
          <p:cNvSpPr txBox="1"/>
          <p:nvPr/>
        </p:nvSpPr>
        <p:spPr>
          <a:xfrm>
            <a:off x="5484590" y="8852535"/>
            <a:ext cx="1406261" cy="4057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-</a:t>
            </a:r>
          </a:p>
        </p:txBody>
      </p:sp>
      <p:sp>
        <p:nvSpPr>
          <p:cNvPr id="1048702" name="TextBox 1048701"/>
          <p:cNvSpPr txBox="1"/>
          <p:nvPr/>
        </p:nvSpPr>
        <p:spPr>
          <a:xfrm>
            <a:off x="2066439" y="1016675"/>
            <a:ext cx="7077561" cy="510540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en-US" altLang="en-PH" sz="2800">
                <a:solidFill>
                  <a:srgbClr val="FFFFFF"/>
                </a:solidFill>
              </a:rPr>
              <a:t>Present by: June Dave  Omar B. Buctot</a:t>
            </a:r>
            <a:endParaRPr lang="en-PH" sz="2800">
              <a:solidFill>
                <a:srgbClr val="00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3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63" name="Group 3"/>
          <p:cNvGrpSpPr/>
          <p:nvPr/>
        </p:nvGrpSpPr>
        <p:grpSpPr>
          <a:xfrm>
            <a:off x="-235210" y="-207032"/>
            <a:ext cx="18758420" cy="10701065"/>
            <a:chOff x="0" y="0"/>
            <a:chExt cx="4940489" cy="2818387"/>
          </a:xfrm>
        </p:grpSpPr>
        <p:sp>
          <p:nvSpPr>
            <p:cNvPr id="1048704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705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706" name="Freeform 6"/>
          <p:cNvSpPr/>
          <p:nvPr/>
        </p:nvSpPr>
        <p:spPr>
          <a:xfrm>
            <a:off x="1028700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707" name="TextBox 7"/>
          <p:cNvSpPr txBox="1"/>
          <p:nvPr/>
        </p:nvSpPr>
        <p:spPr>
          <a:xfrm>
            <a:off x="1733279" y="3385630"/>
            <a:ext cx="15704769" cy="289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What is Anonymization?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The process of removing or altering information so that individuals cannot be identified.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</p:txBody>
      </p:sp>
      <p:sp>
        <p:nvSpPr>
          <p:cNvPr id="1048708" name="TextBox 14"/>
          <p:cNvSpPr txBox="1"/>
          <p:nvPr/>
        </p:nvSpPr>
        <p:spPr>
          <a:xfrm>
            <a:off x="13197041" y="45088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709" name="TextBox 7"/>
          <p:cNvSpPr txBox="1"/>
          <p:nvPr/>
        </p:nvSpPr>
        <p:spPr>
          <a:xfrm>
            <a:off x="2811366" y="940793"/>
            <a:ext cx="12665269" cy="14478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Understanding Data Protection Methods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</p:txBody>
      </p:sp>
      <p:sp>
        <p:nvSpPr>
          <p:cNvPr id="1048710" name="TextBox 7"/>
          <p:cNvSpPr txBox="1"/>
          <p:nvPr/>
        </p:nvSpPr>
        <p:spPr>
          <a:xfrm>
            <a:off x="1380989" y="2026644"/>
            <a:ext cx="423742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Introduction</a:t>
            </a:r>
          </a:p>
        </p:txBody>
      </p:sp>
      <p:sp>
        <p:nvSpPr>
          <p:cNvPr id="1048711" name="TextBox 7"/>
          <p:cNvSpPr txBox="1"/>
          <p:nvPr/>
        </p:nvSpPr>
        <p:spPr>
          <a:xfrm>
            <a:off x="1733279" y="6281230"/>
            <a:ext cx="15704769" cy="361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What is Pseudonymization?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Replacing identifying information with artificial identifiers (e.g., codes), so that the data can no longer be linked to an individual without additional information.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65" name="Group 3"/>
          <p:cNvGrpSpPr/>
          <p:nvPr/>
        </p:nvGrpSpPr>
        <p:grpSpPr>
          <a:xfrm>
            <a:off x="-235210" y="-299844"/>
            <a:ext cx="18758420" cy="10793877"/>
            <a:chOff x="0" y="0"/>
            <a:chExt cx="4940489" cy="2818387"/>
          </a:xfrm>
        </p:grpSpPr>
        <p:sp>
          <p:nvSpPr>
            <p:cNvPr id="1048713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714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715" name="Freeform 6"/>
          <p:cNvSpPr/>
          <p:nvPr/>
        </p:nvSpPr>
        <p:spPr>
          <a:xfrm>
            <a:off x="1028700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716" name="TextBox 14"/>
          <p:cNvSpPr txBox="1"/>
          <p:nvPr/>
        </p:nvSpPr>
        <p:spPr>
          <a:xfrm>
            <a:off x="13551952" y="9666860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717" name="TextBox 7"/>
          <p:cNvSpPr txBox="1"/>
          <p:nvPr/>
        </p:nvSpPr>
        <p:spPr>
          <a:xfrm>
            <a:off x="1733280" y="2739379"/>
            <a:ext cx="15704769" cy="5791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Protects privacy by ensuring personal data is not easily identifiable.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Helps businesses comply with privacy laws like GDPR and HIPAA.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Reduces the risk of identity theft and misuse of personal information.</a:t>
            </a:r>
          </a:p>
        </p:txBody>
      </p:sp>
      <p:sp>
        <p:nvSpPr>
          <p:cNvPr id="1048718" name="TextBox 7"/>
          <p:cNvSpPr txBox="1"/>
          <p:nvPr/>
        </p:nvSpPr>
        <p:spPr>
          <a:xfrm>
            <a:off x="3596396" y="879199"/>
            <a:ext cx="11095208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Why Are These Techniques Important?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41" name="Group 3"/>
          <p:cNvGrpSpPr/>
          <p:nvPr/>
        </p:nvGrpSpPr>
        <p:grpSpPr>
          <a:xfrm>
            <a:off x="-235210" y="-207032"/>
            <a:ext cx="18758420" cy="10701065"/>
            <a:chOff x="0" y="0"/>
            <a:chExt cx="4940489" cy="2818387"/>
          </a:xfrm>
        </p:grpSpPr>
        <p:sp>
          <p:nvSpPr>
            <p:cNvPr id="1048617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618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619" name="Freeform 6"/>
          <p:cNvSpPr/>
          <p:nvPr/>
        </p:nvSpPr>
        <p:spPr>
          <a:xfrm>
            <a:off x="1028700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20" name="TextBox 7"/>
          <p:cNvSpPr txBox="1"/>
          <p:nvPr/>
        </p:nvSpPr>
        <p:spPr>
          <a:xfrm>
            <a:off x="1733280" y="2561651"/>
            <a:ext cx="15704769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Definition: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Anonymization removes or irreversibly alters identifiable information.</a:t>
            </a:r>
          </a:p>
        </p:txBody>
      </p:sp>
      <p:sp>
        <p:nvSpPr>
          <p:cNvPr id="1048621" name="TextBox 14"/>
          <p:cNvSpPr txBox="1"/>
          <p:nvPr/>
        </p:nvSpPr>
        <p:spPr>
          <a:xfrm>
            <a:off x="13551952" y="9666860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622" name="TextBox 7"/>
          <p:cNvSpPr txBox="1"/>
          <p:nvPr/>
        </p:nvSpPr>
        <p:spPr>
          <a:xfrm>
            <a:off x="1733279" y="5803942"/>
            <a:ext cx="15704769" cy="3619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Process: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Data is stripped of personal identifiers (name, address, etc.).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Once anonymized, data cannot be linked back to the individual.</a:t>
            </a:r>
          </a:p>
        </p:txBody>
      </p:sp>
      <p:sp>
        <p:nvSpPr>
          <p:cNvPr id="1048623" name="TextBox 7"/>
          <p:cNvSpPr txBox="1"/>
          <p:nvPr/>
        </p:nvSpPr>
        <p:spPr>
          <a:xfrm>
            <a:off x="3294296" y="984757"/>
            <a:ext cx="11699408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Anonymization: Definition and Process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7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39" name="Group 3"/>
          <p:cNvGrpSpPr/>
          <p:nvPr/>
        </p:nvGrpSpPr>
        <p:grpSpPr>
          <a:xfrm>
            <a:off x="-235210" y="-207032"/>
            <a:ext cx="18758420" cy="10701065"/>
            <a:chOff x="0" y="0"/>
            <a:chExt cx="4940489" cy="2818387"/>
          </a:xfrm>
        </p:grpSpPr>
        <p:sp>
          <p:nvSpPr>
            <p:cNvPr id="1048608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609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610" name="Freeform 6"/>
          <p:cNvSpPr/>
          <p:nvPr/>
        </p:nvSpPr>
        <p:spPr>
          <a:xfrm>
            <a:off x="1028700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11" name="TextBox 7"/>
          <p:cNvSpPr txBox="1"/>
          <p:nvPr/>
        </p:nvSpPr>
        <p:spPr>
          <a:xfrm>
            <a:off x="2406368" y="5466550"/>
            <a:ext cx="15704769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After Anonymization: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Data: (Removed name, address)</a:t>
            </a:r>
          </a:p>
        </p:txBody>
      </p:sp>
      <p:sp>
        <p:nvSpPr>
          <p:cNvPr id="1048612" name="TextBox 14"/>
          <p:cNvSpPr txBox="1"/>
          <p:nvPr/>
        </p:nvSpPr>
        <p:spPr>
          <a:xfrm>
            <a:off x="13551952" y="9666860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613" name="TextBox 7"/>
          <p:cNvSpPr txBox="1"/>
          <p:nvPr/>
        </p:nvSpPr>
        <p:spPr>
          <a:xfrm>
            <a:off x="2406366" y="2694198"/>
            <a:ext cx="15704769" cy="2171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Before Anonymization: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Name: John Doe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Address: 123 Main St.</a:t>
            </a:r>
          </a:p>
        </p:txBody>
      </p:sp>
      <p:sp>
        <p:nvSpPr>
          <p:cNvPr id="1048614" name="TextBox 7"/>
          <p:cNvSpPr txBox="1"/>
          <p:nvPr/>
        </p:nvSpPr>
        <p:spPr>
          <a:xfrm>
            <a:off x="1380990" y="7767129"/>
            <a:ext cx="1570476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Result: The data is no longer able to identify the person.</a:t>
            </a:r>
          </a:p>
        </p:txBody>
      </p:sp>
      <p:sp>
        <p:nvSpPr>
          <p:cNvPr id="1048615" name="TextBox 7"/>
          <p:cNvSpPr txBox="1"/>
          <p:nvPr/>
        </p:nvSpPr>
        <p:spPr>
          <a:xfrm>
            <a:off x="3958904" y="879199"/>
            <a:ext cx="7325729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Example of Anonymization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9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37" name="Group 3"/>
          <p:cNvGrpSpPr/>
          <p:nvPr/>
        </p:nvGrpSpPr>
        <p:grpSpPr>
          <a:xfrm>
            <a:off x="-235210" y="-207032"/>
            <a:ext cx="18758420" cy="10701065"/>
            <a:chOff x="0" y="0"/>
            <a:chExt cx="4940489" cy="2818387"/>
          </a:xfrm>
        </p:grpSpPr>
        <p:sp>
          <p:nvSpPr>
            <p:cNvPr id="1048600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601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602" name="Freeform 6"/>
          <p:cNvSpPr/>
          <p:nvPr/>
        </p:nvSpPr>
        <p:spPr>
          <a:xfrm>
            <a:off x="1028700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603" name="TextBox 7"/>
          <p:cNvSpPr txBox="1"/>
          <p:nvPr/>
        </p:nvSpPr>
        <p:spPr>
          <a:xfrm>
            <a:off x="1028700" y="2494364"/>
            <a:ext cx="15704769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800" b="1">
                <a:solidFill>
                  <a:srgbClr val="FFFFFF"/>
                </a:solidFill>
              </a:rPr>
              <a:t>Definition</a:t>
            </a:r>
            <a:r>
              <a:rPr lang="zh-CN" altLang="en-US" sz="4800">
                <a:solidFill>
                  <a:srgbClr val="FFFFFF"/>
                </a:solidFill>
              </a:rPr>
              <a:t>: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Pseudonymization replaces identifiable information with pseudonyms (e.g., codes or fake names).</a:t>
            </a:r>
          </a:p>
        </p:txBody>
      </p:sp>
      <p:sp>
        <p:nvSpPr>
          <p:cNvPr id="1048604" name="TextBox 14"/>
          <p:cNvSpPr txBox="1"/>
          <p:nvPr/>
        </p:nvSpPr>
        <p:spPr>
          <a:xfrm>
            <a:off x="13551952" y="9666860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605" name="TextBox 7"/>
          <p:cNvSpPr txBox="1"/>
          <p:nvPr/>
        </p:nvSpPr>
        <p:spPr>
          <a:xfrm>
            <a:off x="1028699" y="5219700"/>
            <a:ext cx="15704769" cy="5067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 b="1">
                <a:solidFill>
                  <a:srgbClr val="FFFFFF"/>
                </a:solidFill>
              </a:rPr>
              <a:t>Process</a:t>
            </a:r>
            <a:r>
              <a:rPr lang="zh-CN" altLang="en-US" sz="4800">
                <a:solidFill>
                  <a:srgbClr val="FFFFFF"/>
                </a:solidFill>
              </a:rPr>
              <a:t>: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Personal information is replaced by an artificial identifier.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The original data can be restored with a separate key or code.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</p:txBody>
      </p:sp>
      <p:sp>
        <p:nvSpPr>
          <p:cNvPr id="1048606" name="TextBox 7"/>
          <p:cNvSpPr txBox="1"/>
          <p:nvPr/>
        </p:nvSpPr>
        <p:spPr>
          <a:xfrm>
            <a:off x="3321049" y="879199"/>
            <a:ext cx="11824651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Pseudonymization: Definition and Process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33" name="Group 3"/>
          <p:cNvGrpSpPr/>
          <p:nvPr/>
        </p:nvGrpSpPr>
        <p:grpSpPr>
          <a:xfrm>
            <a:off x="-235210" y="-207032"/>
            <a:ext cx="18758420" cy="10701065"/>
            <a:chOff x="0" y="0"/>
            <a:chExt cx="4940489" cy="2818387"/>
          </a:xfrm>
        </p:grpSpPr>
        <p:sp>
          <p:nvSpPr>
            <p:cNvPr id="1048585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586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587" name="Freeform 6"/>
          <p:cNvSpPr/>
          <p:nvPr/>
        </p:nvSpPr>
        <p:spPr>
          <a:xfrm>
            <a:off x="1028700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588" name="TextBox 7"/>
          <p:cNvSpPr txBox="1"/>
          <p:nvPr/>
        </p:nvSpPr>
        <p:spPr>
          <a:xfrm>
            <a:off x="2406371" y="5035005"/>
            <a:ext cx="15704769" cy="289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After Pseudonymization: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Pseudonymized Data: ID-1234, Address-XY456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The key to decode this is kept separate.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</p:txBody>
      </p:sp>
      <p:sp>
        <p:nvSpPr>
          <p:cNvPr id="1048589" name="TextBox 14"/>
          <p:cNvSpPr txBox="1"/>
          <p:nvPr/>
        </p:nvSpPr>
        <p:spPr>
          <a:xfrm>
            <a:off x="13551952" y="9666860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590" name="TextBox 7"/>
          <p:cNvSpPr txBox="1"/>
          <p:nvPr/>
        </p:nvSpPr>
        <p:spPr>
          <a:xfrm>
            <a:off x="2406372" y="2258884"/>
            <a:ext cx="15704769" cy="289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Before Pseudonymization: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Name: John Doe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Address: 123 Main St.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</p:txBody>
      </p:sp>
      <p:sp>
        <p:nvSpPr>
          <p:cNvPr id="1048591" name="TextBox 7"/>
          <p:cNvSpPr txBox="1"/>
          <p:nvPr/>
        </p:nvSpPr>
        <p:spPr>
          <a:xfrm>
            <a:off x="1028700" y="7921753"/>
            <a:ext cx="16674228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>
              <a:lnSpc>
                <a:spcPct val="100000"/>
              </a:lnSpc>
              <a:buNone/>
            </a:pPr>
            <a:r>
              <a:rPr lang="zh-CN" altLang="en-US" sz="4800">
                <a:solidFill>
                  <a:srgbClr val="FFFFFF"/>
                </a:solidFill>
              </a:rPr>
              <a:t>Result: The data looks anonymous but can be traced back to the individual if needed with the key.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</p:txBody>
      </p:sp>
      <p:sp>
        <p:nvSpPr>
          <p:cNvPr id="1048592" name="TextBox 7"/>
          <p:cNvSpPr txBox="1"/>
          <p:nvPr/>
        </p:nvSpPr>
        <p:spPr>
          <a:xfrm>
            <a:off x="4836583" y="909996"/>
            <a:ext cx="8614834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Example of Pseudonymization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3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35" name="Group 3"/>
          <p:cNvGrpSpPr/>
          <p:nvPr/>
        </p:nvGrpSpPr>
        <p:grpSpPr>
          <a:xfrm>
            <a:off x="-235210" y="-207032"/>
            <a:ext cx="18758420" cy="10701065"/>
            <a:chOff x="0" y="0"/>
            <a:chExt cx="4940489" cy="2818387"/>
          </a:xfrm>
        </p:grpSpPr>
        <p:sp>
          <p:nvSpPr>
            <p:cNvPr id="1048594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595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596" name="Freeform 6"/>
          <p:cNvSpPr/>
          <p:nvPr/>
        </p:nvSpPr>
        <p:spPr>
          <a:xfrm>
            <a:off x="1028700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597" name="TextBox 7"/>
          <p:cNvSpPr txBox="1"/>
          <p:nvPr/>
        </p:nvSpPr>
        <p:spPr>
          <a:xfrm>
            <a:off x="2390289" y="940792"/>
            <a:ext cx="15106360" cy="2171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Differences Between Anonymization and Pseudonymization</a:t>
            </a:r>
          </a:p>
          <a:p>
            <a:pPr algn="ctr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3124FC71-9282-4CBA-80BC-3C4514B6EE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5338799"/>
              </p:ext>
            </p:extLst>
          </p:nvPr>
        </p:nvGraphicFramePr>
        <p:xfrm>
          <a:off x="381000" y="2247900"/>
          <a:ext cx="17678400" cy="7211928"/>
        </p:xfrm>
        <a:graphic>
          <a:graphicData uri="http://schemas.openxmlformats.org/drawingml/2006/table">
            <a:tbl>
              <a:tblPr/>
              <a:tblGrid>
                <a:gridCol w="5892800">
                  <a:extLst>
                    <a:ext uri="{9D8B030D-6E8A-4147-A177-3AD203B41FA5}">
                      <a16:colId xmlns:a16="http://schemas.microsoft.com/office/drawing/2014/main" val="3041378962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1605302929"/>
                    </a:ext>
                  </a:extLst>
                </a:gridCol>
                <a:gridCol w="5892800">
                  <a:extLst>
                    <a:ext uri="{9D8B030D-6E8A-4147-A177-3AD203B41FA5}">
                      <a16:colId xmlns:a16="http://schemas.microsoft.com/office/drawing/2014/main" val="905253437"/>
                    </a:ext>
                  </a:extLst>
                </a:gridCol>
              </a:tblGrid>
              <a:tr h="1153908">
                <a:tc>
                  <a:txBody>
                    <a:bodyPr/>
                    <a:lstStyle/>
                    <a:p>
                      <a:r>
                        <a:rPr lang="en-PH" sz="28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</a:t>
                      </a:r>
                      <a:endParaRPr lang="en-PH" sz="280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PH" sz="28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Anonymization</a:t>
                      </a:r>
                      <a:endParaRPr lang="en-PH" sz="280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PH" sz="28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Pseudonymization</a:t>
                      </a:r>
                      <a:endParaRPr lang="en-PH" sz="280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2378227"/>
                  </a:ext>
                </a:extLst>
              </a:tr>
              <a:tr h="2019340">
                <a:tc>
                  <a:txBody>
                    <a:bodyPr/>
                    <a:lstStyle/>
                    <a:p>
                      <a:r>
                        <a:rPr lang="en-PH" sz="2800" b="1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Link</a:t>
                      </a:r>
                      <a:endParaRPr lang="en-PH" sz="2800" dirty="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PH" sz="2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Cannot be linked back to the individual.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PH" sz="2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Can be linked back with additional info.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720959"/>
                  </a:ext>
                </a:extLst>
              </a:tr>
              <a:tr h="2019340">
                <a:tc>
                  <a:txBody>
                    <a:bodyPr/>
                    <a:lstStyle/>
                    <a:p>
                      <a:r>
                        <a:rPr lang="en-PH" sz="28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Use</a:t>
                      </a:r>
                      <a:endParaRPr lang="en-PH" sz="280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PH" sz="2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is completely unidentifiable.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PH" sz="2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Data can still be traced if necessary.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46029181"/>
                  </a:ext>
                </a:extLst>
              </a:tr>
              <a:tr h="2019340">
                <a:tc>
                  <a:txBody>
                    <a:bodyPr/>
                    <a:lstStyle/>
                    <a:p>
                      <a:r>
                        <a:rPr lang="en-PH" sz="2800" b="1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Example</a:t>
                      </a:r>
                      <a:endParaRPr lang="en-PH" sz="2800">
                        <a:solidFill>
                          <a:schemeClr val="bg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PH" sz="280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Removing names, addresses completely.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PH" sz="2800" dirty="0">
                          <a:solidFill>
                            <a:schemeClr val="bg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Replacing names with codes.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625023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85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92" name="Group 3"/>
          <p:cNvGrpSpPr/>
          <p:nvPr/>
        </p:nvGrpSpPr>
        <p:grpSpPr>
          <a:xfrm>
            <a:off x="-235210" y="-207032"/>
            <a:ext cx="18758420" cy="10701065"/>
            <a:chOff x="0" y="0"/>
            <a:chExt cx="4940489" cy="2818387"/>
          </a:xfrm>
        </p:grpSpPr>
        <p:sp>
          <p:nvSpPr>
            <p:cNvPr id="1048786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787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788" name="Freeform 6"/>
          <p:cNvSpPr/>
          <p:nvPr/>
        </p:nvSpPr>
        <p:spPr>
          <a:xfrm>
            <a:off x="1028700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789" name="TextBox 7"/>
          <p:cNvSpPr txBox="1"/>
          <p:nvPr/>
        </p:nvSpPr>
        <p:spPr>
          <a:xfrm>
            <a:off x="1733280" y="3111109"/>
            <a:ext cx="15704769" cy="651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Privacy Protection: Guarantees that no personal data can be identified.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Compliance: Helps meet legal privacy requirements like GDPR.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Risk Reduction: Decreases the chance of data breaches affecting individuals.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</p:txBody>
      </p:sp>
      <p:sp>
        <p:nvSpPr>
          <p:cNvPr id="1048790" name="TextBox 14"/>
          <p:cNvSpPr txBox="1"/>
          <p:nvPr/>
        </p:nvSpPr>
        <p:spPr>
          <a:xfrm>
            <a:off x="13551952" y="9666860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814" name="TextBox 7"/>
          <p:cNvSpPr txBox="1"/>
          <p:nvPr/>
        </p:nvSpPr>
        <p:spPr>
          <a:xfrm>
            <a:off x="5263386" y="1002519"/>
            <a:ext cx="7761227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Benefits of Anonymization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96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108" name="Group 3"/>
          <p:cNvGrpSpPr/>
          <p:nvPr/>
        </p:nvGrpSpPr>
        <p:grpSpPr>
          <a:xfrm>
            <a:off x="-235210" y="-207032"/>
            <a:ext cx="18758420" cy="10701065"/>
            <a:chOff x="0" y="0"/>
            <a:chExt cx="4940489" cy="2818387"/>
          </a:xfrm>
        </p:grpSpPr>
        <p:sp>
          <p:nvSpPr>
            <p:cNvPr id="1048797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798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799" name="Freeform 6"/>
          <p:cNvSpPr/>
          <p:nvPr/>
        </p:nvSpPr>
        <p:spPr>
          <a:xfrm>
            <a:off x="1028700" y="940793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800" name="TextBox 7"/>
          <p:cNvSpPr txBox="1"/>
          <p:nvPr/>
        </p:nvSpPr>
        <p:spPr>
          <a:xfrm>
            <a:off x="1398173" y="3089162"/>
            <a:ext cx="15491652" cy="65151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Data Utility: Allows data to be used for analysis while maintaining privacy.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Flexibility: Can be used for cases where data may need to be re-identified (e.g., medical research).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Legal Compliance: Helps in compliance with data protection laws without losing data’s value.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</p:txBody>
      </p:sp>
      <p:sp>
        <p:nvSpPr>
          <p:cNvPr id="1048801" name="TextBox 14"/>
          <p:cNvSpPr txBox="1"/>
          <p:nvPr/>
        </p:nvSpPr>
        <p:spPr>
          <a:xfrm>
            <a:off x="13551952" y="9666860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817" name="TextBox 7"/>
          <p:cNvSpPr txBox="1"/>
          <p:nvPr/>
        </p:nvSpPr>
        <p:spPr>
          <a:xfrm>
            <a:off x="4654462" y="958627"/>
            <a:ext cx="8979073" cy="1447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 Benefits of Pseudonymization</a:t>
            </a:r>
          </a:p>
          <a:p>
            <a:pPr algn="l">
              <a:lnSpc>
                <a:spcPct val="100000"/>
              </a:lnSpc>
            </a:pPr>
            <a:endParaRPr lang="zh-CN" altLang="en-US" sz="4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807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3" r="-223"/>
            </a:stretch>
          </a:blipFill>
        </p:spPr>
      </p:sp>
      <p:grpSp>
        <p:nvGrpSpPr>
          <p:cNvPr id="124" name="Group 3"/>
          <p:cNvGrpSpPr/>
          <p:nvPr/>
        </p:nvGrpSpPr>
        <p:grpSpPr>
          <a:xfrm>
            <a:off x="-235210" y="-207032"/>
            <a:ext cx="18758420" cy="10701065"/>
            <a:chOff x="0" y="0"/>
            <a:chExt cx="4940489" cy="2818387"/>
          </a:xfrm>
        </p:grpSpPr>
        <p:sp>
          <p:nvSpPr>
            <p:cNvPr id="1048808" name="Freeform 4"/>
            <p:cNvSpPr/>
            <p:nvPr/>
          </p:nvSpPr>
          <p:spPr>
            <a:xfrm>
              <a:off x="0" y="0"/>
              <a:ext cx="4940489" cy="2818387"/>
            </a:xfrm>
            <a:custGeom>
              <a:avLst/>
              <a:gdLst/>
              <a:ahLst/>
              <a:cxnLst/>
              <a:rect l="l" t="t" r="r" b="b"/>
              <a:pathLst>
                <a:path w="4940489" h="2818387">
                  <a:moveTo>
                    <a:pt x="0" y="0"/>
                  </a:moveTo>
                  <a:lnTo>
                    <a:pt x="4940489" y="0"/>
                  </a:lnTo>
                  <a:lnTo>
                    <a:pt x="4940489" y="2818387"/>
                  </a:lnTo>
                  <a:lnTo>
                    <a:pt x="0" y="2818387"/>
                  </a:lnTo>
                  <a:close/>
                </a:path>
              </a:pathLst>
            </a:custGeom>
            <a:gradFill rotWithShape="1">
              <a:gsLst>
                <a:gs pos="0">
                  <a:srgbClr val="0D2650">
                    <a:alpha val="95000"/>
                  </a:srgbClr>
                </a:gs>
                <a:gs pos="100000">
                  <a:srgbClr val="0C1566">
                    <a:alpha val="95000"/>
                  </a:srgbClr>
                </a:gs>
              </a:gsLst>
              <a:lin ang="0"/>
            </a:gradFill>
          </p:spPr>
        </p:sp>
        <p:sp>
          <p:nvSpPr>
            <p:cNvPr id="1048809" name="TextBox 5"/>
            <p:cNvSpPr txBox="1"/>
            <p:nvPr/>
          </p:nvSpPr>
          <p:spPr>
            <a:xfrm>
              <a:off x="0" y="-57150"/>
              <a:ext cx="4940489" cy="287553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431"/>
                </a:lnSpc>
              </a:pPr>
              <a:endParaRPr>
                <a:solidFill>
                  <a:srgbClr val="FFFFFF"/>
                </a:solidFill>
              </a:endParaRPr>
            </a:p>
          </p:txBody>
        </p:sp>
      </p:grpSp>
      <p:sp>
        <p:nvSpPr>
          <p:cNvPr id="1048810" name="Freeform 6"/>
          <p:cNvSpPr/>
          <p:nvPr/>
        </p:nvSpPr>
        <p:spPr>
          <a:xfrm>
            <a:off x="1380990" y="278486"/>
            <a:ext cx="704580" cy="662306"/>
          </a:xfrm>
          <a:custGeom>
            <a:avLst/>
            <a:gdLst/>
            <a:ahLst/>
            <a:cxnLst/>
            <a:rect l="l" t="t" r="r" b="b"/>
            <a:pathLst>
              <a:path w="704580" h="662306">
                <a:moveTo>
                  <a:pt x="0" y="0"/>
                </a:moveTo>
                <a:lnTo>
                  <a:pt x="704580" y="0"/>
                </a:lnTo>
                <a:lnTo>
                  <a:pt x="704580" y="662306"/>
                </a:lnTo>
                <a:lnTo>
                  <a:pt x="0" y="66230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48811" name="TextBox 7"/>
          <p:cNvSpPr txBox="1"/>
          <p:nvPr/>
        </p:nvSpPr>
        <p:spPr>
          <a:xfrm>
            <a:off x="1291616" y="1632444"/>
            <a:ext cx="15704769" cy="79629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Both anonymization and pseudonymization are essential techniques in protecting personal data.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Anonymization is irreversible and provides the highest level of privacy protection.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Pseudonymization keeps data usable while still offering a layer of protection.</a:t>
            </a: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endParaRPr lang="zh-CN" altLang="en-US" sz="4800">
              <a:solidFill>
                <a:srgbClr val="FFFFFF"/>
              </a:solidFill>
            </a:endParaRPr>
          </a:p>
          <a:p>
            <a:pPr marL="685800" indent="-685800" algn="l">
              <a:lnSpc>
                <a:spcPct val="100000"/>
              </a:lnSpc>
              <a:buFont typeface="Arial"/>
              <a:buChar char="•"/>
            </a:pPr>
            <a:r>
              <a:rPr lang="zh-CN" altLang="en-US" sz="4800">
                <a:solidFill>
                  <a:srgbClr val="FFFFFF"/>
                </a:solidFill>
              </a:rPr>
              <a:t>Both methods help businesses comply with privacy laws and reduce privacy risks.</a:t>
            </a:r>
          </a:p>
        </p:txBody>
      </p:sp>
      <p:sp>
        <p:nvSpPr>
          <p:cNvPr id="1048812" name="TextBox 14"/>
          <p:cNvSpPr txBox="1"/>
          <p:nvPr/>
        </p:nvSpPr>
        <p:spPr>
          <a:xfrm>
            <a:off x="13551952" y="9666860"/>
            <a:ext cx="4559187" cy="4265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  <a:spcBef>
                <a:spcPct val="0"/>
              </a:spcBef>
            </a:pP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Presentation </a:t>
            </a:r>
            <a:r>
              <a:rPr lang="en-US" altLang="en-PH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Nov 15, </a:t>
            </a:r>
            <a:r>
              <a:rPr lang="en-US" sz="2399">
                <a:solidFill>
                  <a:srgbClr val="EFEFEF"/>
                </a:solidFill>
                <a:latin typeface="TT Hoves"/>
                <a:ea typeface="TT Hoves"/>
                <a:cs typeface="TT Hoves"/>
                <a:sym typeface="TT Hoves"/>
              </a:rPr>
              <a:t>2024</a:t>
            </a:r>
            <a:endParaRPr lang="zh-CN" altLang="en-US"/>
          </a:p>
        </p:txBody>
      </p:sp>
      <p:sp>
        <p:nvSpPr>
          <p:cNvPr id="1048830" name="TextBox 7"/>
          <p:cNvSpPr txBox="1"/>
          <p:nvPr/>
        </p:nvSpPr>
        <p:spPr>
          <a:xfrm>
            <a:off x="3047942" y="278485"/>
            <a:ext cx="3534867" cy="723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</a:pPr>
            <a:r>
              <a:rPr lang="zh-CN" altLang="en-US" sz="4800">
                <a:solidFill>
                  <a:srgbClr val="FFFFFF"/>
                </a:solidFill>
              </a:rPr>
              <a:t>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TH Sarabun PSK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TH Sarabun PSK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4295</Words>
  <Application>Microsoft Office PowerPoint</Application>
  <PresentationFormat>Custom</PresentationFormat>
  <Paragraphs>161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Calibri</vt:lpstr>
      <vt:lpstr>TT Hoves</vt:lpstr>
      <vt:lpstr>Horizon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Modern Computer Presentation</dc:title>
  <dc:creator>RMX3834</dc:creator>
  <cp:lastModifiedBy>Win10</cp:lastModifiedBy>
  <cp:revision>3</cp:revision>
  <dcterms:created xsi:type="dcterms:W3CDTF">2006-08-14T16:00:00Z</dcterms:created>
  <dcterms:modified xsi:type="dcterms:W3CDTF">2025-11-15T14:16:31Z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d19ee7383f21404fab8f343599b2455d</vt:lpwstr>
  </property>
</Properties>
</file>