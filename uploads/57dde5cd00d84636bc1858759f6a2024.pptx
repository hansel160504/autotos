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830ED-6B78-4F63-BB60-10648BC0037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54AC-0719-42A1-9B67-7A97275AAD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830ED-6B78-4F63-BB60-10648BC0037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54AC-0719-42A1-9B67-7A97275AAD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830ED-6B78-4F63-BB60-10648BC0037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54AC-0719-42A1-9B67-7A97275AAD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830ED-6B78-4F63-BB60-10648BC0037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54AC-0719-42A1-9B67-7A97275AAD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830ED-6B78-4F63-BB60-10648BC00375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54AC-0719-42A1-9B67-7A97275AAD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830ED-6B78-4F63-BB60-10648BC00375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54AC-0719-42A1-9B67-7A97275AAD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830ED-6B78-4F63-BB60-10648BC00375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54AC-0719-42A1-9B67-7A97275AAD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830ED-6B78-4F63-BB60-10648BC0037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54AC-0719-42A1-9B67-7A97275AAD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830ED-6B78-4F63-BB60-10648BC00375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54AC-0719-42A1-9B67-7A97275AAD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830ED-6B78-4F63-BB60-10648BC0037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54AC-0719-42A1-9B67-7A97275AAD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830ED-6B78-4F63-BB60-10648BC0037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54AC-0719-42A1-9B67-7A97275AADF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830ED-6B78-4F63-BB60-10648BC00375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954AC-0719-42A1-9B67-7A97275AADF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ybercrime is the biggest fraud threat facing most businesses today.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PH" sz="6600" b="1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Crime prevention strategies</a:t>
            </a:r>
            <a:br>
              <a:rPr lang="en-US" sz="1800" dirty="0">
                <a:solidFill>
                  <a:srgbClr val="FFFF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60" name="Picture 12" descr="grunge background  Abstract Stock Photo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6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9" name="AutoShape 8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62607" y="361127"/>
            <a:ext cx="40991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0" dirty="0">
                <a:solidFill>
                  <a:srgbClr val="FFFF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 Strong Passwords</a:t>
            </a:r>
            <a:endParaRPr lang="en-US" sz="28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2607" y="1030288"/>
            <a:ext cx="11461531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0" i="0" dirty="0">
                <a:solidFill>
                  <a:schemeClr val="bg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Use different user ID / password combinations for different accounts and avoid writing them down. Make the passwords more complicated by combining letters, numbers, special characters (minimum 10 characters in total) and change them on a regular basis.</a:t>
            </a:r>
            <a:endParaRPr lang="en-US" sz="32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60" name="Picture 12" descr="grunge background  Abstract Stock Photo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6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9" name="AutoShape 8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62607" y="361127"/>
            <a:ext cx="41465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0" dirty="0">
                <a:solidFill>
                  <a:srgbClr val="FFFF00"/>
                </a:solidFill>
                <a:effectLst/>
                <a:latin typeface="Open Sans" panose="020B0606030504020204" pitchFamily="34" charset="0"/>
              </a:rPr>
              <a:t>Secure your computer</a:t>
            </a:r>
            <a:endParaRPr lang="en-US" sz="28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2607" y="1030288"/>
            <a:ext cx="11461531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0" i="0" dirty="0">
                <a:solidFill>
                  <a:schemeClr val="bg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Activate your firewall – Firewalls are the first line of cyber defense; they block connections to unknown or bogus sites and will keep out some types of viruses and hackers.</a:t>
            </a:r>
            <a:br>
              <a:rPr lang="en-US" sz="32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</a:br>
            <a:r>
              <a:rPr lang="en-US" sz="3200" b="0" i="0" dirty="0">
                <a:solidFill>
                  <a:schemeClr val="bg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Use anti-virus/malware software</a:t>
            </a:r>
            <a:br>
              <a:rPr lang="en-US" sz="32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</a:br>
            <a:r>
              <a:rPr lang="en-US" sz="3200" b="0" i="0" dirty="0">
                <a:solidFill>
                  <a:schemeClr val="bg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Prevent viruses from infecting your computer by installing and regularly updating anti-virus software.</a:t>
            </a:r>
            <a:endParaRPr lang="en-US" sz="32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60" name="Picture 12" descr="grunge background  Abstract Stock Photo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6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9" name="AutoShape 8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62607" y="361127"/>
            <a:ext cx="41465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0" dirty="0">
                <a:solidFill>
                  <a:srgbClr val="FFFF00"/>
                </a:solidFill>
                <a:effectLst/>
                <a:latin typeface="Open Sans" panose="020B0606030504020204" pitchFamily="34" charset="0"/>
              </a:rPr>
              <a:t>Block spyware attacks</a:t>
            </a:r>
            <a:endParaRPr lang="en-US" sz="28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2607" y="1030288"/>
            <a:ext cx="11461531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0" i="0" dirty="0">
                <a:solidFill>
                  <a:schemeClr val="bg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Prevent spyware from infiltrating your computer by installing and updating anti-spyware software.</a:t>
            </a:r>
            <a:endParaRPr lang="en-US" sz="32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60" name="Picture 12" descr="grunge background  Abstract Stock Photo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6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9" name="AutoShape 8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62607" y="361127"/>
            <a:ext cx="41465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0" dirty="0">
                <a:solidFill>
                  <a:srgbClr val="FFFF00"/>
                </a:solidFill>
                <a:effectLst/>
                <a:latin typeface="Open Sans" panose="020B0606030504020204" pitchFamily="34" charset="0"/>
              </a:rPr>
              <a:t>Be Social-Media Savvy</a:t>
            </a:r>
            <a:endParaRPr lang="en-US" sz="28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2607" y="1030288"/>
            <a:ext cx="11461531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0" i="0" dirty="0">
                <a:solidFill>
                  <a:schemeClr val="bg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Make sure your social networking profiles (e.g. Facebook, Twitter, YouTube, MSN, etc.) are set to private.</a:t>
            </a:r>
            <a:endParaRPr lang="en-US" sz="3200" b="0" i="0" dirty="0">
              <a:solidFill>
                <a:schemeClr val="bg1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  <a:p>
            <a:pPr algn="l"/>
            <a:r>
              <a:rPr lang="en-US" sz="3200" b="0" i="0" dirty="0">
                <a:solidFill>
                  <a:schemeClr val="bg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Check your security settings.</a:t>
            </a:r>
            <a:endParaRPr lang="en-US" sz="3200" b="0" i="0" dirty="0">
              <a:solidFill>
                <a:schemeClr val="bg1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  <a:p>
            <a:pPr algn="l"/>
            <a:r>
              <a:rPr lang="en-US" sz="3200" b="0" i="0" dirty="0">
                <a:solidFill>
                  <a:schemeClr val="bg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Be careful what information you post online. Once it is on the Internet, it is there forever!</a:t>
            </a:r>
            <a:endParaRPr lang="en-US" sz="3200" b="0" i="0" dirty="0">
              <a:solidFill>
                <a:schemeClr val="bg1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60" name="Picture 12" descr="grunge background  Abstract Stock Photo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6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9" name="AutoShape 8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62607" y="361127"/>
            <a:ext cx="5061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0" dirty="0">
                <a:solidFill>
                  <a:srgbClr val="FFFF00"/>
                </a:solidFill>
                <a:effectLst/>
                <a:latin typeface="Open Sans" panose="020B0606030504020204" pitchFamily="34" charset="0"/>
              </a:rPr>
              <a:t>Secure your Mobile Devices</a:t>
            </a:r>
            <a:endParaRPr lang="en-US" sz="28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2607" y="1030288"/>
            <a:ext cx="11461531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0" i="0" dirty="0">
                <a:solidFill>
                  <a:schemeClr val="bg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Be aware that your mobile device is vulnerable to viruses and hackers.</a:t>
            </a:r>
            <a:endParaRPr lang="en-US" sz="3200" b="0" i="0" dirty="0">
              <a:solidFill>
                <a:schemeClr val="bg1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  <a:p>
            <a:pPr algn="l"/>
            <a:r>
              <a:rPr lang="en-US" sz="3200" b="0" i="0" dirty="0">
                <a:solidFill>
                  <a:schemeClr val="bg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Download applications from trusted sources.</a:t>
            </a:r>
            <a:br>
              <a:rPr lang="en-US" sz="3200" b="0" i="0" dirty="0">
                <a:solidFill>
                  <a:schemeClr val="bg1"/>
                </a:solidFill>
                <a:effectLst/>
                <a:latin typeface="Calibri" panose="020F0502020204030204" charset="0"/>
                <a:cs typeface="Calibri" panose="020F0502020204030204" charset="0"/>
              </a:rPr>
            </a:br>
            <a:r>
              <a:rPr lang="en-US" sz="3200" b="0" i="0" dirty="0">
                <a:solidFill>
                  <a:schemeClr val="bg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Install the latest operating system updates</a:t>
            </a:r>
            <a:br>
              <a:rPr lang="en-US" sz="3200" b="0" i="0" dirty="0">
                <a:solidFill>
                  <a:schemeClr val="bg1"/>
                </a:solidFill>
                <a:effectLst/>
                <a:latin typeface="Calibri" panose="020F0502020204030204" charset="0"/>
                <a:cs typeface="Calibri" panose="020F0502020204030204" charset="0"/>
              </a:rPr>
            </a:br>
            <a:r>
              <a:rPr lang="en-US" sz="3200" b="0" i="0" dirty="0">
                <a:solidFill>
                  <a:schemeClr val="bg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Keep your applications and operating system (e.g. Windows, Mac, Linux) current with the latest system updates.</a:t>
            </a:r>
            <a:endParaRPr lang="en-US" sz="3200" b="0" i="0" dirty="0">
              <a:solidFill>
                <a:schemeClr val="bg1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  <a:p>
            <a:pPr algn="l"/>
            <a:r>
              <a:rPr lang="en-US" sz="3200" b="0" i="0" dirty="0">
                <a:solidFill>
                  <a:schemeClr val="bg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Turn on automatic updates to prevent potential attacks on older software.</a:t>
            </a:r>
            <a:endParaRPr lang="en-US" sz="3200" b="0" i="0" dirty="0">
              <a:solidFill>
                <a:schemeClr val="bg1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60" name="Picture 12" descr="grunge background  Abstract Stock Photo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6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9" name="AutoShape 8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62607" y="361127"/>
            <a:ext cx="33626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0" dirty="0">
                <a:solidFill>
                  <a:srgbClr val="FFFF00"/>
                </a:solidFill>
                <a:effectLst/>
                <a:latin typeface="Open Sans" panose="020B0606030504020204" pitchFamily="34" charset="0"/>
              </a:rPr>
              <a:t>Protect your Data</a:t>
            </a:r>
            <a:endParaRPr lang="en-US" sz="28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2607" y="1030288"/>
            <a:ext cx="11461531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0" i="0" dirty="0">
                <a:solidFill>
                  <a:schemeClr val="bg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Use encryption for your most sensitive files such as tax returns or financial records</a:t>
            </a:r>
            <a:endParaRPr lang="en-US" sz="3200" b="0" i="0" dirty="0">
              <a:solidFill>
                <a:schemeClr val="bg1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  <a:p>
            <a:pPr algn="just"/>
            <a:r>
              <a:rPr lang="en-US" sz="3200" b="0" i="0" dirty="0">
                <a:solidFill>
                  <a:schemeClr val="bg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Make regular back-ups of all your important data, and store it in another location.</a:t>
            </a:r>
            <a:endParaRPr lang="en-US" sz="3200" b="0" i="0" dirty="0">
              <a:solidFill>
                <a:schemeClr val="bg1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60" name="Picture 12" descr="grunge background  Abstract Stock Photo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6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9" name="AutoShape 8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62607" y="361127"/>
            <a:ext cx="54666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0" dirty="0">
                <a:solidFill>
                  <a:srgbClr val="FFFF00"/>
                </a:solidFill>
                <a:effectLst/>
                <a:latin typeface="Open Sans" panose="020B0606030504020204" pitchFamily="34" charset="0"/>
              </a:rPr>
              <a:t>Secure your wireless network</a:t>
            </a:r>
            <a:endParaRPr lang="en-US" sz="28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2607" y="1030288"/>
            <a:ext cx="11461531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b="0" i="0" dirty="0">
                <a:solidFill>
                  <a:schemeClr val="bg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Wi-Fi (wireless) networks are vulnerable to intrusion if they are not properly secured.</a:t>
            </a:r>
            <a:endParaRPr lang="en-US" sz="3200" b="0" i="0" dirty="0">
              <a:solidFill>
                <a:schemeClr val="bg1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  <a:p>
            <a:pPr algn="l"/>
            <a:r>
              <a:rPr lang="en-US" sz="3200" b="0" i="0" dirty="0">
                <a:solidFill>
                  <a:schemeClr val="bg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Review and modify default settings.</a:t>
            </a:r>
            <a:endParaRPr lang="en-US" sz="3200" b="0" i="0" dirty="0">
              <a:solidFill>
                <a:schemeClr val="bg1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  <a:p>
            <a:pPr algn="just"/>
            <a:r>
              <a:rPr lang="en-US" sz="3200" b="0" i="0" dirty="0">
                <a:solidFill>
                  <a:schemeClr val="bg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Public Wi-Fi, a.k.a. “Hot Spots”, are also vulnerable. Avoid conducting financial or corporate transactions on these networks.</a:t>
            </a:r>
            <a:endParaRPr lang="en-US" sz="3200" b="0" i="0" dirty="0">
              <a:solidFill>
                <a:schemeClr val="bg1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60" name="Picture 12" descr="grunge background  Abstract Stock Photo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6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9" name="AutoShape 8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62607" y="361127"/>
            <a:ext cx="42427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0" dirty="0">
                <a:solidFill>
                  <a:srgbClr val="FFFF00"/>
                </a:solidFill>
                <a:effectLst/>
                <a:latin typeface="Open Sans" panose="020B0606030504020204" pitchFamily="34" charset="0"/>
              </a:rPr>
              <a:t>Protect your e-identity</a:t>
            </a:r>
            <a:endParaRPr lang="en-US" sz="28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2607" y="1030288"/>
            <a:ext cx="11461531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0" i="0" dirty="0">
                <a:solidFill>
                  <a:schemeClr val="bg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Be cautious when giving out personal information such as your name, address, phone number or financial information on the Internet.</a:t>
            </a:r>
            <a:endParaRPr lang="en-US" sz="3200" b="0" i="0" dirty="0">
              <a:solidFill>
                <a:schemeClr val="bg1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  <a:p>
            <a:pPr algn="just"/>
            <a:r>
              <a:rPr lang="en-US" sz="3200" b="0" i="0" dirty="0">
                <a:solidFill>
                  <a:schemeClr val="bg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Make sure that websites are secure (e.g. when making online purchases) or that you’ve enabled privacy settings (e.g. when accessing/using social networking sites).</a:t>
            </a:r>
            <a:endParaRPr lang="en-US" sz="3200" b="0" i="0" dirty="0">
              <a:solidFill>
                <a:schemeClr val="bg1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60" name="Picture 12" descr="grunge background  Abstract Stock Photo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6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9" name="AutoShape 8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62607" y="361127"/>
            <a:ext cx="42427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0" dirty="0">
                <a:solidFill>
                  <a:srgbClr val="FFFF00"/>
                </a:solidFill>
                <a:effectLst/>
                <a:latin typeface="Open Sans" panose="020B0606030504020204" pitchFamily="34" charset="0"/>
              </a:rPr>
              <a:t>Avoid being scammed</a:t>
            </a:r>
            <a:endParaRPr lang="en-US" sz="28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2607" y="1030288"/>
            <a:ext cx="11461531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0" i="0" dirty="0">
                <a:solidFill>
                  <a:schemeClr val="bg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Always think before you click on a link or file of unknown origin.</a:t>
            </a:r>
            <a:endParaRPr lang="en-US" sz="3200" b="0" i="0" dirty="0">
              <a:solidFill>
                <a:schemeClr val="bg1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  <a:p>
            <a:pPr algn="just"/>
            <a:r>
              <a:rPr lang="en-US" sz="3200" b="0" i="0" dirty="0">
                <a:solidFill>
                  <a:schemeClr val="bg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Don’t feel pressured by any emails. Check the source of the message. When in doubt, verify the source.</a:t>
            </a:r>
            <a:endParaRPr lang="en-US" sz="3200" b="0" i="0" dirty="0">
              <a:solidFill>
                <a:schemeClr val="bg1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  <a:p>
            <a:pPr algn="just"/>
            <a:r>
              <a:rPr lang="en-US" sz="3200" b="0" i="0" dirty="0">
                <a:solidFill>
                  <a:schemeClr val="bg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Never reply to emails that ask you to verify your information or confirm your user ID or password.</a:t>
            </a:r>
            <a:endParaRPr lang="en-US" sz="3200" b="0" i="0" dirty="0">
              <a:solidFill>
                <a:schemeClr val="bg1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60" name="Picture 12" descr="grunge background  Abstract Stock Photo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6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9" name="AutoShape 8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62607" y="361127"/>
            <a:ext cx="53319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i="0" dirty="0">
                <a:solidFill>
                  <a:srgbClr val="FFFF00"/>
                </a:solidFill>
                <a:effectLst/>
                <a:latin typeface="Open Sans" panose="020B0606030504020204" pitchFamily="34" charset="0"/>
              </a:rPr>
              <a:t>Call the right person for help</a:t>
            </a:r>
            <a:endParaRPr lang="en-US" sz="28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2607" y="1030288"/>
            <a:ext cx="11461531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0" i="0" dirty="0">
                <a:solidFill>
                  <a:schemeClr val="bg1"/>
                </a:solidFill>
                <a:effectLst/>
                <a:latin typeface="Calibri" panose="020F0502020204030204" charset="0"/>
                <a:cs typeface="Calibri" panose="020F0502020204030204" charset="0"/>
              </a:rPr>
              <a:t>Don’t panic! If you are a victim, if you encounter illegal Internet content (e.g. child exploitation) or if you suspect a computer crime, identity theft or a commercial scam, report this to your local police. If you need help with maintenance or software installation on your computer, consult with your service provider or a certified computer technician.</a:t>
            </a:r>
            <a:endParaRPr lang="en-US" sz="3200" b="0" i="0" dirty="0">
              <a:solidFill>
                <a:schemeClr val="bg1"/>
              </a:solidFill>
              <a:effectLst/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PH" altLang="en-US" b="1">
                <a:sym typeface="+mn-ea"/>
              </a:rPr>
              <a:t>Thank you!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2821</Words>
  <Application>WPS Presentation</Application>
  <PresentationFormat>Widescreen</PresentationFormat>
  <Paragraphs>54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Open Sans</vt:lpstr>
      <vt:lpstr>Segoe Print</vt:lpstr>
      <vt:lpstr>Calibri Light</vt:lpstr>
      <vt:lpstr>Microsoft YaHei</vt:lpstr>
      <vt:lpstr>Arial Unicode MS</vt:lpstr>
      <vt:lpstr>Office Theme</vt:lpstr>
      <vt:lpstr>Crime prevention strategies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Crime prevention strategies </dc:title>
  <dc:creator>HP</dc:creator>
  <cp:lastModifiedBy>eddiecenitajr NEMSU</cp:lastModifiedBy>
  <cp:revision>32</cp:revision>
  <dcterms:created xsi:type="dcterms:W3CDTF">2024-05-08T14:06:00Z</dcterms:created>
  <dcterms:modified xsi:type="dcterms:W3CDTF">2025-01-31T06:18:01Z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43CF4C6D44B6430B957B37E6B1EA2B31_12</vt:lpwstr>
  </property>
  <property fmtid="{D5CDD505-2E9C-101B-9397-08002B2CF9AE}" pid="3" name="KSOProductBuildVer">
    <vt:lpwstr>1033-12.2.0.19805</vt:lpwstr>
  </property>
</Properties>
</file>