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0" r:id="rId4"/>
    <p:sldId id="263" r:id="rId5"/>
    <p:sldId id="261"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8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4417" y="1297623"/>
            <a:ext cx="10943167" cy="1082675"/>
          </a:xfrm>
        </p:spPr>
        <p:txBody>
          <a:bodyPr/>
          <a:lstStyle/>
          <a:p>
            <a:pPr algn="ctr"/>
            <a:r>
              <a:rPr lang="en-PH" altLang="en-US" sz="8800" b="1" dirty="0">
                <a:latin typeface="Mistral" panose="03090702030407020403" charset="0"/>
                <a:cs typeface="Mistral" panose="03090702030407020403" charset="0"/>
              </a:rPr>
              <a:t>COMPUTER ETHICS</a:t>
            </a:r>
            <a:endParaRPr lang="en-PH" altLang="en-US" sz="8800" b="1" dirty="0">
              <a:latin typeface="Mistral" panose="03090702030407020403" charset="0"/>
              <a:cs typeface="Mistral" panose="03090702030407020403" charset="0"/>
            </a:endParaRP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306070"/>
            <a:ext cx="10972800" cy="582613"/>
          </a:xfrm>
        </p:spPr>
        <p:txBody>
          <a:bodyPr/>
          <a:p>
            <a:r>
              <a:rPr lang="en-PH" altLang="en-US" b="1"/>
              <a:t>Computer Ethics</a:t>
            </a:r>
            <a:endParaRPr lang="en-PH" altLang="en-US" b="1"/>
          </a:p>
        </p:txBody>
      </p:sp>
      <p:sp>
        <p:nvSpPr>
          <p:cNvPr id="3" name="Content Placeholder 2"/>
          <p:cNvSpPr>
            <a:spLocks noGrp="1"/>
          </p:cNvSpPr>
          <p:nvPr>
            <p:ph idx="1"/>
          </p:nvPr>
        </p:nvSpPr>
        <p:spPr/>
        <p:txBody>
          <a:bodyPr/>
          <a:p>
            <a:pPr algn="just"/>
            <a:r>
              <a:rPr lang="en-US"/>
              <a:t>Computer ethics is a part of practical philosophy concerned with how computing professionals should make decisions regarding professional and social conduct</a:t>
            </a:r>
            <a:r>
              <a:rPr lang="en-PH" altLang="en-US"/>
              <a:t>.</a:t>
            </a:r>
            <a:endParaRPr lang="en-PH" altLang="en-US"/>
          </a:p>
          <a:p>
            <a:pPr algn="just"/>
            <a:r>
              <a:rPr lang="en-PH" altLang="en-US"/>
              <a:t>Computer ethics deals with the procedures, values and practices that govern the process of consuming computing technology and its related disciplines without damaging or violating the moral values and beliefs of any individual, organization or entity.</a:t>
            </a:r>
            <a:endParaRPr lang="en-PH" altLang="en-US"/>
          </a:p>
        </p:txBody>
      </p:sp>
      <p:pic>
        <p:nvPicPr>
          <p:cNvPr id="4" name="Picture 3" descr="computer ethics"/>
          <p:cNvPicPr>
            <a:picLocks noChangeAspect="1"/>
          </p:cNvPicPr>
          <p:nvPr/>
        </p:nvPicPr>
        <p:blipFill>
          <a:blip r:embed="rId1"/>
          <a:stretch>
            <a:fillRect/>
          </a:stretch>
        </p:blipFill>
        <p:spPr>
          <a:xfrm>
            <a:off x="10702290" y="5352415"/>
            <a:ext cx="1381125" cy="15055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844550"/>
            <a:ext cx="10972800" cy="4953000"/>
          </a:xfrm>
        </p:spPr>
        <p:txBody>
          <a:bodyPr/>
          <a:p>
            <a:pPr algn="just"/>
            <a:r>
              <a:rPr lang="en-PH" altLang="en-US"/>
              <a:t>As technology advances , computers continue to have a greater impact on society. </a:t>
            </a:r>
            <a:endParaRPr lang="en-PH" altLang="en-US"/>
          </a:p>
          <a:p>
            <a:pPr algn="just"/>
            <a:r>
              <a:rPr lang="en-PH" altLang="en-US"/>
              <a:t>Therefore, computer ethics promote the discussion of how much influence computers should have in areas such as artificial intelligence and human communication.</a:t>
            </a:r>
            <a:endParaRPr lang="en-PH" altLang="en-US"/>
          </a:p>
          <a:p>
            <a:pPr algn="just"/>
            <a:r>
              <a:rPr lang="en-PH" altLang="en-US"/>
              <a:t>As the world of computers evolves, computer ethics continues to create ethical standards that address new issues raised by new technologies.</a:t>
            </a:r>
            <a:endParaRPr lang="en-PH" altLang="en-US"/>
          </a:p>
        </p:txBody>
      </p:sp>
      <p:sp>
        <p:nvSpPr>
          <p:cNvPr id="5" name="Title 4"/>
          <p:cNvSpPr/>
          <p:nvPr>
            <p:ph type="title"/>
          </p:nvPr>
        </p:nvSpPr>
        <p:spPr/>
        <p:txBody>
          <a:bodyPr/>
          <a:p>
            <a:endParaRPr lang="en-US"/>
          </a:p>
        </p:txBody>
      </p:sp>
      <p:pic>
        <p:nvPicPr>
          <p:cNvPr id="6" name="Picture 5" descr="computer ethics"/>
          <p:cNvPicPr>
            <a:picLocks noChangeAspect="1"/>
          </p:cNvPicPr>
          <p:nvPr/>
        </p:nvPicPr>
        <p:blipFill>
          <a:blip r:embed="rId1"/>
          <a:stretch>
            <a:fillRect/>
          </a:stretch>
        </p:blipFill>
        <p:spPr>
          <a:xfrm>
            <a:off x="10702290" y="5352415"/>
            <a:ext cx="1381125" cy="15055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0070" y="190500"/>
            <a:ext cx="10972800" cy="582613"/>
          </a:xfrm>
        </p:spPr>
        <p:txBody>
          <a:bodyPr/>
          <a:p>
            <a:r>
              <a:rPr lang="en-PH" altLang="en-US" b="1"/>
              <a:t>History of Computer Ethics</a:t>
            </a:r>
            <a:endParaRPr lang="en-PH" altLang="en-US" b="1"/>
          </a:p>
        </p:txBody>
      </p:sp>
      <p:sp>
        <p:nvSpPr>
          <p:cNvPr id="3" name="Content Placeholder 2"/>
          <p:cNvSpPr>
            <a:spLocks noGrp="1"/>
          </p:cNvSpPr>
          <p:nvPr>
            <p:ph idx="1"/>
          </p:nvPr>
        </p:nvSpPr>
        <p:spPr>
          <a:xfrm>
            <a:off x="224790" y="943610"/>
            <a:ext cx="11741785" cy="4953000"/>
          </a:xfrm>
        </p:spPr>
        <p:txBody>
          <a:bodyPr/>
          <a:p>
            <a:pPr algn="just"/>
            <a:r>
              <a:rPr lang="en-US"/>
              <a:t>The concept of computer ethics originated in the 1940s with MIT professor </a:t>
            </a:r>
            <a:r>
              <a:rPr lang="en-US" i="1"/>
              <a:t>Norbert Wiener</a:t>
            </a:r>
            <a:r>
              <a:rPr lang="en-US"/>
              <a:t>, the American mathematician and philosopher. While working on anti-aircraft artillery during World War II, Wiener and his fellow engineers developed a system of communication between the part of a cannon that tracked a warplane, the part that performed calculations to estimate a trajectory, and the part responsible for firing.[1] Wiener termed the science of such information feedback systems, "cybernetics," and he discussed this new field with its related ethical concerns in his 1948 book</a:t>
            </a:r>
            <a:r>
              <a:rPr lang="en-PH" altLang="en-US"/>
              <a:t>.</a:t>
            </a:r>
            <a:endParaRPr lang="en-PH" altLang="en-US"/>
          </a:p>
        </p:txBody>
      </p:sp>
      <p:pic>
        <p:nvPicPr>
          <p:cNvPr id="6" name="Picture 5" descr="computer ethics"/>
          <p:cNvPicPr>
            <a:picLocks noChangeAspect="1"/>
          </p:cNvPicPr>
          <p:nvPr/>
        </p:nvPicPr>
        <p:blipFill>
          <a:blip r:embed="rId1"/>
          <a:stretch>
            <a:fillRect/>
          </a:stretch>
        </p:blipFill>
        <p:spPr>
          <a:xfrm>
            <a:off x="10702290" y="5352415"/>
            <a:ext cx="1381125" cy="15055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606425"/>
            <a:ext cx="10972800" cy="4953000"/>
          </a:xfrm>
        </p:spPr>
        <p:txBody>
          <a:bodyPr/>
          <a:p>
            <a:pPr algn="just"/>
            <a:r>
              <a:rPr lang="en-PH" altLang="en-US" sz="3000" b="1" i="1">
                <a:solidFill>
                  <a:srgbClr val="FF0000"/>
                </a:solidFill>
              </a:rPr>
              <a:t>1950 </a:t>
            </a:r>
            <a:r>
              <a:rPr lang="en-PH" altLang="en-US" sz="3000"/>
              <a:t>- Wiener's second book, “</a:t>
            </a:r>
            <a:r>
              <a:rPr lang="en-PH" altLang="en-US" sz="3000" i="1"/>
              <a:t>The Human Use of Human Beings”. </a:t>
            </a:r>
            <a:r>
              <a:rPr lang="en-PH" altLang="en-US" sz="3000"/>
              <a:t>Delved deeper into the ethical issues surrounding information technology and laid out the basic foundations of computer ethics</a:t>
            </a:r>
            <a:endParaRPr lang="en-PH" altLang="en-US" sz="3000"/>
          </a:p>
          <a:p>
            <a:pPr algn="just"/>
            <a:r>
              <a:rPr lang="en-PH" altLang="en-US" sz="3000" b="1" i="1">
                <a:solidFill>
                  <a:srgbClr val="FF0000"/>
                </a:solidFill>
              </a:rPr>
              <a:t>1973</a:t>
            </a:r>
            <a:r>
              <a:rPr lang="en-PH" altLang="en-US" sz="3000"/>
              <a:t>, the Association for Computing Machinery (ACM) adopted its first code of ethics. </a:t>
            </a:r>
            <a:r>
              <a:rPr lang="en-PH" altLang="en-US" sz="3000" i="1"/>
              <a:t>SRI International's Donn Parker</a:t>
            </a:r>
            <a:r>
              <a:rPr lang="en-PH" altLang="en-US" sz="3000"/>
              <a:t>, an author on computer crimes, led the committee that developed the code.</a:t>
            </a:r>
            <a:endParaRPr lang="en-PH" altLang="en-US" sz="3000"/>
          </a:p>
          <a:p>
            <a:pPr algn="just"/>
            <a:r>
              <a:rPr lang="en-PH" altLang="en-US" sz="3000" b="1" i="1">
                <a:solidFill>
                  <a:srgbClr val="FF0000"/>
                </a:solidFill>
                <a:sym typeface="+mn-ea"/>
              </a:rPr>
              <a:t>1978</a:t>
            </a:r>
            <a:r>
              <a:rPr lang="en-PH" altLang="en-US" sz="3000">
                <a:sym typeface="+mn-ea"/>
              </a:rPr>
              <a:t> - the </a:t>
            </a:r>
            <a:r>
              <a:rPr lang="en-PH" altLang="en-US" sz="3000" i="1">
                <a:sym typeface="+mn-ea"/>
              </a:rPr>
              <a:t>Right to Financial Privacy Act</a:t>
            </a:r>
            <a:r>
              <a:rPr lang="en-PH" altLang="en-US" sz="3000">
                <a:sym typeface="+mn-ea"/>
              </a:rPr>
              <a:t> was adopted by the United States Congress, drastically limiting the government's ability to search bank records.</a:t>
            </a:r>
            <a:endParaRPr lang="en-PH" altLang="en-US" sz="3000"/>
          </a:p>
          <a:p>
            <a:pPr algn="just"/>
            <a:endParaRPr lang="en-PH" altLang="en-US" sz="3000"/>
          </a:p>
        </p:txBody>
      </p:sp>
      <p:sp>
        <p:nvSpPr>
          <p:cNvPr id="5" name="Title 4"/>
          <p:cNvSpPr/>
          <p:nvPr>
            <p:ph type="title"/>
          </p:nvPr>
        </p:nvSpPr>
        <p:spPr/>
        <p:txBody>
          <a:bodyPr/>
          <a:p>
            <a:endParaRPr lang="en-US"/>
          </a:p>
        </p:txBody>
      </p:sp>
      <p:pic>
        <p:nvPicPr>
          <p:cNvPr id="7" name="Picture 6" descr="computer ethics"/>
          <p:cNvPicPr>
            <a:picLocks noChangeAspect="1"/>
          </p:cNvPicPr>
          <p:nvPr/>
        </p:nvPicPr>
        <p:blipFill>
          <a:blip r:embed="rId1"/>
          <a:stretch>
            <a:fillRect/>
          </a:stretch>
        </p:blipFill>
        <p:spPr>
          <a:xfrm>
            <a:off x="10702290" y="5352415"/>
            <a:ext cx="1381125" cy="15055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tile tx="0" ty="0" sx="100000" sy="100000" flip="none" algn="tl"/>
        </a:blipFill>
        <a:effectLst/>
      </p:bgPr>
    </p:bg>
    <p:spTree>
      <p:nvGrpSpPr>
        <p:cNvPr id="1" name=""/>
        <p:cNvGrpSpPr/>
        <p:nvPr/>
      </p:nvGrpSpPr>
      <p:grpSpPr/>
      <p:sp>
        <p:nvSpPr>
          <p:cNvPr id="3" name="Content Placeholder 2"/>
          <p:cNvSpPr>
            <a:spLocks noGrp="1"/>
          </p:cNvSpPr>
          <p:nvPr>
            <p:ph idx="1"/>
          </p:nvPr>
        </p:nvSpPr>
        <p:spPr>
          <a:xfrm>
            <a:off x="461010" y="127635"/>
            <a:ext cx="10972800" cy="4953000"/>
          </a:xfrm>
        </p:spPr>
        <p:txBody>
          <a:bodyPr/>
          <a:p>
            <a:pPr algn="just"/>
            <a:r>
              <a:rPr lang="en-PH" altLang="en-US" sz="3000" b="1" i="1">
                <a:solidFill>
                  <a:srgbClr val="FF0000"/>
                </a:solidFill>
              </a:rPr>
              <a:t>1979 - </a:t>
            </a:r>
            <a:r>
              <a:rPr lang="en-PH" altLang="en-US" sz="3000">
                <a:solidFill>
                  <a:schemeClr val="tx1"/>
                </a:solidFill>
              </a:rPr>
              <a:t>During the next year </a:t>
            </a:r>
            <a:r>
              <a:rPr lang="en-PH" altLang="en-US" sz="3000" i="1">
                <a:solidFill>
                  <a:schemeClr val="tx1"/>
                </a:solidFill>
              </a:rPr>
              <a:t>Terrell Ward Bynum</a:t>
            </a:r>
            <a:r>
              <a:rPr lang="en-PH" altLang="en-US" sz="3000">
                <a:solidFill>
                  <a:schemeClr val="tx1"/>
                </a:solidFill>
              </a:rPr>
              <a:t>, the professor of philosophy at Southern Connecticut State University as well as Director of the Research Center on Computing and Society there, developed curriculum for a university course on computer ethics.</a:t>
            </a:r>
            <a:endParaRPr lang="en-PH" altLang="en-US" sz="3000">
              <a:solidFill>
                <a:schemeClr val="tx1"/>
              </a:solidFill>
            </a:endParaRPr>
          </a:p>
          <a:p>
            <a:pPr algn="just"/>
            <a:r>
              <a:rPr lang="en-PH" altLang="en-US" sz="3000" b="1" i="1">
                <a:solidFill>
                  <a:srgbClr val="FF0000"/>
                </a:solidFill>
              </a:rPr>
              <a:t>1983</a:t>
            </a:r>
            <a:r>
              <a:rPr lang="en-PH" altLang="en-US" sz="3000" b="1" i="1">
                <a:solidFill>
                  <a:schemeClr val="tx1"/>
                </a:solidFill>
              </a:rPr>
              <a:t> -</a:t>
            </a:r>
            <a:r>
              <a:rPr lang="en-PH" altLang="en-US" sz="3000">
                <a:solidFill>
                  <a:schemeClr val="tx1"/>
                </a:solidFill>
              </a:rPr>
              <a:t> the journal held an essay contest on the topic of computer ethics and published the winning essays in its best-selling 1985 special issue, “</a:t>
            </a:r>
            <a:r>
              <a:rPr lang="en-PH" altLang="en-US" sz="3000" i="1">
                <a:solidFill>
                  <a:schemeClr val="tx1"/>
                </a:solidFill>
              </a:rPr>
              <a:t>Computers and Ethics”.</a:t>
            </a:r>
            <a:endParaRPr lang="en-PH" altLang="en-US" sz="3000" i="1">
              <a:solidFill>
                <a:schemeClr val="tx1"/>
              </a:solidFill>
            </a:endParaRPr>
          </a:p>
          <a:p>
            <a:pPr algn="just"/>
            <a:r>
              <a:rPr lang="en-PH" altLang="en-US" sz="3000" b="1" i="1">
                <a:solidFill>
                  <a:srgbClr val="FF0000"/>
                </a:solidFill>
              </a:rPr>
              <a:t>1984 </a:t>
            </a:r>
            <a:r>
              <a:rPr lang="en-PH" altLang="en-US" sz="3000" b="1" i="1">
                <a:solidFill>
                  <a:schemeClr val="tx1"/>
                </a:solidFill>
              </a:rPr>
              <a:t>- </a:t>
            </a:r>
            <a:r>
              <a:rPr lang="en-PH" altLang="en-US" sz="3000">
                <a:solidFill>
                  <a:schemeClr val="tx1"/>
                </a:solidFill>
              </a:rPr>
              <a:t>the United States Congress passed the Small Business Computer Security and Education Act, which created a Small Business Administration advisory council to focus on computer security related to small businesses</a:t>
            </a:r>
            <a:endParaRPr lang="en-PH" altLang="en-US" sz="3000">
              <a:solidFill>
                <a:schemeClr val="tx1"/>
              </a:solidFill>
            </a:endParaRPr>
          </a:p>
        </p:txBody>
      </p:sp>
      <p:sp>
        <p:nvSpPr>
          <p:cNvPr id="5" name="Title 4"/>
          <p:cNvSpPr/>
          <p:nvPr>
            <p:ph type="title"/>
          </p:nvPr>
        </p:nvSpPr>
        <p:spPr/>
        <p:txBody>
          <a:bodyPr/>
          <a:p>
            <a:endParaRPr lang="en-US"/>
          </a:p>
        </p:txBody>
      </p:sp>
      <p:pic>
        <p:nvPicPr>
          <p:cNvPr id="6" name="Picture 5" descr="computer ethics"/>
          <p:cNvPicPr>
            <a:picLocks noChangeAspect="1"/>
          </p:cNvPicPr>
          <p:nvPr/>
        </p:nvPicPr>
        <p:blipFill>
          <a:blip r:embed="rId2"/>
          <a:stretch>
            <a:fillRect/>
          </a:stretch>
        </p:blipFill>
        <p:spPr>
          <a:xfrm>
            <a:off x="10810875" y="5352415"/>
            <a:ext cx="1381125" cy="15055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61010" y="276225"/>
            <a:ext cx="10972800" cy="4953000"/>
          </a:xfrm>
        </p:spPr>
        <p:txBody>
          <a:bodyPr/>
          <a:p>
            <a:pPr marL="0" indent="0" algn="just">
              <a:buNone/>
            </a:pPr>
            <a:endParaRPr lang="en-PH" altLang="en-US">
              <a:solidFill>
                <a:schemeClr val="tx1"/>
              </a:solidFill>
            </a:endParaRPr>
          </a:p>
        </p:txBody>
      </p:sp>
      <p:pic>
        <p:nvPicPr>
          <p:cNvPr id="4" name="Picture 3" descr="computer ethics"/>
          <p:cNvPicPr>
            <a:picLocks noChangeAspect="1"/>
          </p:cNvPicPr>
          <p:nvPr/>
        </p:nvPicPr>
        <p:blipFill>
          <a:blip r:embed="rId1"/>
          <a:stretch>
            <a:fillRect/>
          </a:stretch>
        </p:blipFill>
        <p:spPr>
          <a:xfrm>
            <a:off x="10843260" y="5580380"/>
            <a:ext cx="1096645" cy="1195070"/>
          </a:xfrm>
          <a:prstGeom prst="rect">
            <a:avLst/>
          </a:prstGeom>
        </p:spPr>
      </p:pic>
      <p:sp>
        <p:nvSpPr>
          <p:cNvPr id="5" name="Title 4"/>
          <p:cNvSpPr/>
          <p:nvPr>
            <p:ph type="title"/>
          </p:nvPr>
        </p:nvSpPr>
        <p:spPr>
          <a:xfrm>
            <a:off x="295910" y="909955"/>
            <a:ext cx="10972800" cy="3890010"/>
          </a:xfrm>
        </p:spPr>
        <p:txBody>
          <a:bodyPr/>
          <a:p>
            <a:pPr marL="457200" indent="-457200" algn="just">
              <a:buFont typeface="Arial" panose="020B0604020202020204" pitchFamily="34" charset="0"/>
              <a:buChar char="•"/>
            </a:pPr>
            <a:r>
              <a:rPr lang="en-US" sz="3000" b="1" i="1">
                <a:solidFill>
                  <a:srgbClr val="FF0000"/>
                </a:solidFill>
              </a:rPr>
              <a:t>1985</a:t>
            </a:r>
            <a:r>
              <a:rPr lang="en-PH" altLang="en-US" sz="3000"/>
              <a:t> - </a:t>
            </a:r>
            <a:r>
              <a:rPr lang="en-US" sz="3000"/>
              <a:t>James Moor, professor of philosophy at Dartmouth College in New Hampshire, published an essay called "What is Computer Ethics?" In this essay Moor states the computer ethics includes the following: "(1) identification of computer-generated policy vacuums, (2) clarification of conceptual muddles, (3) formulation of policies for the use of computer technology, and (4) ethical justification of such policies.</a:t>
            </a:r>
            <a:br>
              <a:rPr lang="en-US" sz="3000"/>
            </a:br>
            <a:br>
              <a:rPr lang="en-US" sz="3000"/>
            </a:br>
            <a:endParaRPr lang="en-US" sz="3000"/>
          </a:p>
        </p:txBody>
      </p:sp>
      <p:pic>
        <p:nvPicPr>
          <p:cNvPr id="6" name="Picture 5" descr="computer ethics"/>
          <p:cNvPicPr>
            <a:picLocks noChangeAspect="1"/>
          </p:cNvPicPr>
          <p:nvPr/>
        </p:nvPicPr>
        <p:blipFill>
          <a:blip r:embed="rId1"/>
          <a:stretch>
            <a:fillRect/>
          </a:stretch>
        </p:blipFill>
        <p:spPr>
          <a:xfrm>
            <a:off x="10916920" y="5352415"/>
            <a:ext cx="1381125" cy="15055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61010" y="276225"/>
            <a:ext cx="10972800" cy="4953000"/>
          </a:xfrm>
        </p:spPr>
        <p:txBody>
          <a:bodyPr/>
          <a:p>
            <a:pPr marL="0" indent="0" algn="just">
              <a:buNone/>
            </a:pPr>
            <a:endParaRPr lang="en-PH" altLang="en-US">
              <a:solidFill>
                <a:schemeClr val="tx1"/>
              </a:solidFill>
            </a:endParaRPr>
          </a:p>
        </p:txBody>
      </p:sp>
      <p:pic>
        <p:nvPicPr>
          <p:cNvPr id="4" name="Picture 3" descr="computer ethics"/>
          <p:cNvPicPr>
            <a:picLocks noChangeAspect="1"/>
          </p:cNvPicPr>
          <p:nvPr/>
        </p:nvPicPr>
        <p:blipFill>
          <a:blip r:embed="rId1"/>
          <a:stretch>
            <a:fillRect/>
          </a:stretch>
        </p:blipFill>
        <p:spPr>
          <a:xfrm>
            <a:off x="10843260" y="5580380"/>
            <a:ext cx="1096645" cy="1195070"/>
          </a:xfrm>
          <a:prstGeom prst="rect">
            <a:avLst/>
          </a:prstGeom>
        </p:spPr>
      </p:pic>
      <p:sp>
        <p:nvSpPr>
          <p:cNvPr id="5" name="Title 4"/>
          <p:cNvSpPr/>
          <p:nvPr>
            <p:ph type="title"/>
          </p:nvPr>
        </p:nvSpPr>
        <p:spPr>
          <a:xfrm>
            <a:off x="411480" y="398145"/>
            <a:ext cx="10972800" cy="5307965"/>
          </a:xfrm>
        </p:spPr>
        <p:txBody>
          <a:bodyPr/>
          <a:p>
            <a:pPr marL="457200" indent="-457200" algn="just">
              <a:buFont typeface="Arial" panose="020B0604020202020204" pitchFamily="34" charset="0"/>
              <a:buChar char="•"/>
            </a:pPr>
            <a:r>
              <a:rPr sz="3000" b="1" i="1">
                <a:solidFill>
                  <a:srgbClr val="FF0000"/>
                </a:solidFill>
              </a:rPr>
              <a:t>1988</a:t>
            </a:r>
            <a:r>
              <a:rPr lang="en-PH" sz="3000"/>
              <a:t> - </a:t>
            </a:r>
            <a:r>
              <a:rPr sz="3000"/>
              <a:t>Robert Hauptman, a librarian at St. Cloud University, came up with "information ethics", a term that was used to describe the storage, production, access and dissemination of information.</a:t>
            </a:r>
            <a:r>
              <a:rPr lang="en-PH" sz="3000"/>
              <a:t> Near the same time, the Computer Matching and Privacy Act was adopted and this act restricted United States government programs identifying debtors.</a:t>
            </a:r>
            <a:br>
              <a:rPr lang="en-PH" sz="3000"/>
            </a:br>
            <a:br>
              <a:rPr lang="en-PH" sz="3000"/>
            </a:br>
            <a:r>
              <a:rPr lang="en-PH" sz="3000" b="1" i="1">
                <a:solidFill>
                  <a:srgbClr val="FF0000"/>
                </a:solidFill>
              </a:rPr>
              <a:t>1992 </a:t>
            </a:r>
            <a:r>
              <a:rPr lang="en-PH" sz="3000"/>
              <a:t>- ACM adopted a new set of ethical rules called </a:t>
            </a:r>
            <a:r>
              <a:rPr lang="en-PH" sz="3000" i="1"/>
              <a:t>"ACM code of Ethics and Professional Conduct"</a:t>
            </a:r>
            <a:r>
              <a:rPr lang="en-PH" sz="3000"/>
              <a:t> which consisted of 24 statements of personal responsibility.</a:t>
            </a:r>
            <a:br>
              <a:rPr lang="en-PH" sz="3000"/>
            </a:br>
            <a:endParaRPr lang="en-PH" sz="3000"/>
          </a:p>
        </p:txBody>
      </p:sp>
      <p:pic>
        <p:nvPicPr>
          <p:cNvPr id="6" name="Picture 5" descr="computer ethics"/>
          <p:cNvPicPr>
            <a:picLocks noChangeAspect="1"/>
          </p:cNvPicPr>
          <p:nvPr/>
        </p:nvPicPr>
        <p:blipFill>
          <a:blip r:embed="rId1"/>
          <a:stretch>
            <a:fillRect/>
          </a:stretch>
        </p:blipFill>
        <p:spPr>
          <a:xfrm>
            <a:off x="10916920" y="5352415"/>
            <a:ext cx="1381125" cy="15055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61010" y="276225"/>
            <a:ext cx="10972800" cy="4953000"/>
          </a:xfrm>
        </p:spPr>
        <p:txBody>
          <a:bodyPr/>
          <a:p>
            <a:pPr marL="0" indent="0" algn="just">
              <a:buNone/>
            </a:pPr>
            <a:endParaRPr lang="en-PH" altLang="en-US">
              <a:solidFill>
                <a:schemeClr val="tx1"/>
              </a:solidFill>
            </a:endParaRPr>
          </a:p>
        </p:txBody>
      </p:sp>
      <p:pic>
        <p:nvPicPr>
          <p:cNvPr id="4" name="Picture 3" descr="computer ethics"/>
          <p:cNvPicPr>
            <a:picLocks noChangeAspect="1"/>
          </p:cNvPicPr>
          <p:nvPr/>
        </p:nvPicPr>
        <p:blipFill>
          <a:blip r:embed="rId1"/>
          <a:stretch>
            <a:fillRect/>
          </a:stretch>
        </p:blipFill>
        <p:spPr>
          <a:xfrm>
            <a:off x="10843260" y="5580380"/>
            <a:ext cx="1096645" cy="1195070"/>
          </a:xfrm>
          <a:prstGeom prst="rect">
            <a:avLst/>
          </a:prstGeom>
        </p:spPr>
      </p:pic>
      <p:sp>
        <p:nvSpPr>
          <p:cNvPr id="5" name="Title 4"/>
          <p:cNvSpPr/>
          <p:nvPr>
            <p:ph type="title"/>
          </p:nvPr>
        </p:nvSpPr>
        <p:spPr>
          <a:xfrm>
            <a:off x="411480" y="398145"/>
            <a:ext cx="10972800" cy="5307965"/>
          </a:xfrm>
        </p:spPr>
        <p:txBody>
          <a:bodyPr/>
          <a:p>
            <a:pPr marL="457200" indent="-457200" algn="just">
              <a:buFont typeface="Arial" panose="020B0604020202020204" pitchFamily="34" charset="0"/>
              <a:buChar char="•"/>
            </a:pPr>
            <a:r>
              <a:rPr sz="3000" b="1" i="1">
                <a:solidFill>
                  <a:srgbClr val="FF0000"/>
                </a:solidFill>
              </a:rPr>
              <a:t>1995</a:t>
            </a:r>
            <a:r>
              <a:rPr lang="en-PH" sz="3000"/>
              <a:t> - </a:t>
            </a:r>
            <a:r>
              <a:rPr sz="3000" i="1"/>
              <a:t>Krystyna Górniak-Kocikowska</a:t>
            </a:r>
            <a:r>
              <a:rPr sz="3000"/>
              <a:t>, a professor of philosophy at Southern Connecticut State University, Coordinator of the Religious Studies Program, as well as a senior research associate in the Research Center on Computing and Society, came up with the idea that computer ethics will eventually become a global ethical system and soon after, computer ethics would replace ethics altogether as it would become the standard ethics of the information age</a:t>
            </a:r>
            <a:r>
              <a:rPr lang="en-PH" sz="3000"/>
              <a:t>.</a:t>
            </a:r>
            <a:endParaRPr lang="en-PH" sz="3000"/>
          </a:p>
        </p:txBody>
      </p:sp>
      <p:pic>
        <p:nvPicPr>
          <p:cNvPr id="6" name="Picture 5" descr="computer ethics"/>
          <p:cNvPicPr>
            <a:picLocks noChangeAspect="1"/>
          </p:cNvPicPr>
          <p:nvPr/>
        </p:nvPicPr>
        <p:blipFill>
          <a:blip r:embed="rId1"/>
          <a:stretch>
            <a:fillRect/>
          </a:stretch>
        </p:blipFill>
        <p:spPr>
          <a:xfrm>
            <a:off x="10916920" y="5352415"/>
            <a:ext cx="1381125" cy="15055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5755" y="323850"/>
            <a:ext cx="11398250" cy="2498725"/>
          </a:xfrm>
        </p:spPr>
        <p:txBody>
          <a:bodyPr/>
          <a:p>
            <a:pPr algn="just">
              <a:buFont typeface="Arial" panose="020B0604020202020204" pitchFamily="34" charset="0"/>
              <a:buChar char="•"/>
            </a:pPr>
            <a:r>
              <a:rPr b="1" i="1">
                <a:solidFill>
                  <a:srgbClr val="FF0000"/>
                </a:solidFill>
                <a:sym typeface="+mn-ea"/>
              </a:rPr>
              <a:t>1999</a:t>
            </a:r>
            <a:r>
              <a:rPr lang="en-PH">
                <a:sym typeface="+mn-ea"/>
              </a:rPr>
              <a:t> - </a:t>
            </a:r>
            <a:r>
              <a:rPr i="1">
                <a:sym typeface="+mn-ea"/>
              </a:rPr>
              <a:t>Deborah Johnson</a:t>
            </a:r>
            <a:r>
              <a:rPr>
                <a:sym typeface="+mn-ea"/>
              </a:rPr>
              <a:t> revealed her view, which was quite contrary to </a:t>
            </a:r>
            <a:r>
              <a:rPr i="1">
                <a:sym typeface="+mn-ea"/>
              </a:rPr>
              <a:t>Górniak-Kocikowska's</a:t>
            </a:r>
            <a:r>
              <a:rPr>
                <a:sym typeface="+mn-ea"/>
              </a:rPr>
              <a:t> belief, and stated that computer ethics will not evolve but rather be our old ethics with a slight twist.</a:t>
            </a:r>
            <a:endParaRPr>
              <a:sym typeface="+mn-ea"/>
            </a:endParaRPr>
          </a:p>
          <a:p>
            <a:pPr algn="just">
              <a:buFont typeface="Arial" panose="020B0604020202020204" pitchFamily="34" charset="0"/>
              <a:buChar char="•"/>
            </a:pPr>
            <a:r>
              <a:rPr b="1" i="1">
                <a:solidFill>
                  <a:srgbClr val="FF0000"/>
                </a:solidFill>
                <a:sym typeface="+mn-ea"/>
              </a:rPr>
              <a:t>Post 20th century</a:t>
            </a:r>
            <a:r>
              <a:rPr lang="en-PH" b="1" i="1">
                <a:solidFill>
                  <a:srgbClr val="FF0000"/>
                </a:solidFill>
                <a:sym typeface="+mn-ea"/>
              </a:rPr>
              <a:t> </a:t>
            </a:r>
            <a:r>
              <a:rPr lang="en-PH" b="1" i="1">
                <a:solidFill>
                  <a:schemeClr val="tx1"/>
                </a:solidFill>
                <a:sym typeface="+mn-ea"/>
              </a:rPr>
              <a:t>- </a:t>
            </a:r>
            <a:r>
              <a:rPr>
                <a:sym typeface="+mn-ea"/>
              </a:rPr>
              <a:t>as a result to much debate of ethical guidelines, many organizations such as ABET[15] offer ethical accreditation to University or College applications such as "Applied and Natural Science, Computing, Engineering and Engineering Technology at the associate, bachelor, and master levels" to try and promote quality works that follow sound ethical and moral guidelines.</a:t>
            </a:r>
            <a:endParaRPr>
              <a:sym typeface="+mn-ea"/>
            </a:endParaRPr>
          </a:p>
          <a:p>
            <a:pPr marL="0" indent="0" algn="just">
              <a:buNone/>
            </a:pPr>
            <a:endParaRPr>
              <a:sym typeface="+mn-ea"/>
            </a:endParaRPr>
          </a:p>
          <a:p>
            <a:pPr marL="0" indent="0" algn="just">
              <a:buNone/>
            </a:pPr>
          </a:p>
          <a:p>
            <a:pPr marL="0" indent="0" algn="just">
              <a:buNone/>
            </a:pPr>
            <a:endParaRPr lang="en-PH" altLang="en-US">
              <a:solidFill>
                <a:schemeClr val="tx1"/>
              </a:solidFill>
            </a:endParaRPr>
          </a:p>
        </p:txBody>
      </p:sp>
      <p:pic>
        <p:nvPicPr>
          <p:cNvPr id="4" name="Picture 3" descr="computer ethics"/>
          <p:cNvPicPr>
            <a:picLocks noChangeAspect="1"/>
          </p:cNvPicPr>
          <p:nvPr/>
        </p:nvPicPr>
        <p:blipFill>
          <a:blip r:embed="rId1"/>
          <a:stretch>
            <a:fillRect/>
          </a:stretch>
        </p:blipFill>
        <p:spPr>
          <a:xfrm>
            <a:off x="10843260" y="5580380"/>
            <a:ext cx="1096645" cy="1195070"/>
          </a:xfrm>
          <a:prstGeom prst="rect">
            <a:avLst/>
          </a:prstGeom>
        </p:spPr>
      </p:pic>
      <p:pic>
        <p:nvPicPr>
          <p:cNvPr id="6" name="Picture 5" descr="computer ethics"/>
          <p:cNvPicPr>
            <a:picLocks noChangeAspect="1"/>
          </p:cNvPicPr>
          <p:nvPr/>
        </p:nvPicPr>
        <p:blipFill>
          <a:blip r:embed="rId1"/>
          <a:stretch>
            <a:fillRect/>
          </a:stretch>
        </p:blipFill>
        <p:spPr>
          <a:xfrm>
            <a:off x="10916920" y="5352415"/>
            <a:ext cx="1381125" cy="15055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91490" y="715645"/>
            <a:ext cx="11142345" cy="3957955"/>
          </a:xfrm>
        </p:spPr>
        <p:txBody>
          <a:bodyPr/>
          <a:p>
            <a:pPr marL="0" indent="0" algn="just">
              <a:buNone/>
            </a:pPr>
            <a:r>
              <a:rPr lang="en-US" sz="3200" b="1" i="1">
                <a:solidFill>
                  <a:srgbClr val="FF0000"/>
                </a:solidFill>
              </a:rPr>
              <a:t>2018</a:t>
            </a:r>
            <a:r>
              <a:rPr lang="en-PH" altLang="en-US" sz="3200"/>
              <a:t> - </a:t>
            </a:r>
            <a:r>
              <a:rPr lang="en-US" sz="3200"/>
              <a:t>The Guardian and The New York Times reported that Facebook took data from 87 million Facebook users to sell to Cambridge Analytica.</a:t>
            </a:r>
            <a:br>
              <a:rPr lang="en-US" sz="3200"/>
            </a:br>
            <a:br>
              <a:rPr lang="en-US" sz="3200"/>
            </a:br>
            <a:r>
              <a:rPr lang="en-US" sz="3200" b="1" i="1">
                <a:solidFill>
                  <a:srgbClr val="FF0000"/>
                </a:solidFill>
              </a:rPr>
              <a:t>2019</a:t>
            </a:r>
            <a:r>
              <a:rPr lang="en-PH" altLang="en-US" sz="3200"/>
              <a:t> -</a:t>
            </a:r>
            <a:r>
              <a:rPr lang="en-US" sz="3200"/>
              <a:t> Facebook started a fund to build an ethics center at the Technical University of Munich, located in Germany. This was the first time that Facebook funded an academic institute for matters regarding computer ethics.</a:t>
            </a:r>
            <a:endParaRPr lang="en-US" sz="3200"/>
          </a:p>
        </p:txBody>
      </p:sp>
      <p:pic>
        <p:nvPicPr>
          <p:cNvPr id="6" name="Picture 5" descr="computer ethics"/>
          <p:cNvPicPr>
            <a:picLocks noChangeAspect="1"/>
          </p:cNvPicPr>
          <p:nvPr/>
        </p:nvPicPr>
        <p:blipFill>
          <a:blip r:embed="rId1"/>
          <a:stretch>
            <a:fillRect/>
          </a:stretch>
        </p:blipFill>
        <p:spPr>
          <a:xfrm>
            <a:off x="10916920" y="5352415"/>
            <a:ext cx="1381125" cy="15055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91490" y="715645"/>
            <a:ext cx="11142345" cy="3957955"/>
          </a:xfrm>
        </p:spPr>
        <p:txBody>
          <a:bodyPr/>
          <a:p>
            <a:pPr marL="0" indent="0" algn="just">
              <a:buNone/>
            </a:pPr>
            <a:r>
              <a:rPr lang="en-US" sz="3200" b="1" i="1">
                <a:solidFill>
                  <a:srgbClr val="FF0000"/>
                </a:solidFill>
              </a:rPr>
              <a:t>2018</a:t>
            </a:r>
            <a:r>
              <a:rPr lang="en-PH" altLang="en-US" sz="3200"/>
              <a:t> - </a:t>
            </a:r>
            <a:r>
              <a:rPr lang="en-US" sz="3200"/>
              <a:t>The Guardian and The New York Times reported that Facebook took data from 87 million Facebook users to sell to Cambridge Analytica.</a:t>
            </a:r>
            <a:br>
              <a:rPr lang="en-US" sz="3200"/>
            </a:br>
            <a:br>
              <a:rPr lang="en-US" sz="3200"/>
            </a:br>
            <a:r>
              <a:rPr lang="en-US" sz="3200" b="1" i="1">
                <a:solidFill>
                  <a:srgbClr val="FF0000"/>
                </a:solidFill>
              </a:rPr>
              <a:t>2019</a:t>
            </a:r>
            <a:r>
              <a:rPr lang="en-PH" altLang="en-US" sz="3200"/>
              <a:t> -</a:t>
            </a:r>
            <a:r>
              <a:rPr lang="en-US" sz="3200"/>
              <a:t> Facebook started a fund to build an ethics center at the Technical University of Munich, located in Germany. This was the first time that Facebook funded an academic institute for matters regarding computer ethics.</a:t>
            </a:r>
            <a:endParaRPr lang="en-US" sz="3200"/>
          </a:p>
        </p:txBody>
      </p:sp>
      <p:pic>
        <p:nvPicPr>
          <p:cNvPr id="6" name="Picture 5" descr="computer ethics"/>
          <p:cNvPicPr>
            <a:picLocks noChangeAspect="1"/>
          </p:cNvPicPr>
          <p:nvPr/>
        </p:nvPicPr>
        <p:blipFill>
          <a:blip r:embed="rId1"/>
          <a:stretch>
            <a:fillRect/>
          </a:stretch>
        </p:blipFill>
        <p:spPr>
          <a:xfrm>
            <a:off x="10916920" y="5352415"/>
            <a:ext cx="1381125" cy="15055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5450" y="913765"/>
            <a:ext cx="11142345" cy="1657350"/>
          </a:xfrm>
        </p:spPr>
        <p:txBody>
          <a:bodyPr/>
          <a:p>
            <a:pPr marL="0" indent="0" algn="just">
              <a:buNone/>
            </a:pPr>
            <a:br>
              <a:rPr sz="3200"/>
            </a:br>
            <a:r>
              <a:rPr sz="3200"/>
              <a:t>Computer crime, privacy, anonymity, freedom, and intellectual property fall under topics that will be present in the future of computer ethics</a:t>
            </a:r>
            <a:endParaRPr sz="3200"/>
          </a:p>
        </p:txBody>
      </p:sp>
      <p:sp>
        <p:nvSpPr>
          <p:cNvPr id="3" name="Text Box 2"/>
          <p:cNvSpPr txBox="1"/>
          <p:nvPr/>
        </p:nvSpPr>
        <p:spPr>
          <a:xfrm>
            <a:off x="491490" y="400685"/>
            <a:ext cx="4064000" cy="645160"/>
          </a:xfrm>
          <a:prstGeom prst="rect">
            <a:avLst/>
          </a:prstGeom>
          <a:noFill/>
        </p:spPr>
        <p:txBody>
          <a:bodyPr wrap="square" rtlCol="0">
            <a:spAutoFit/>
          </a:bodyPr>
          <a:p>
            <a:r>
              <a:rPr lang="en-PH" sz="3600" b="1">
                <a:sym typeface="+mn-ea"/>
              </a:rPr>
              <a:t>Concerns</a:t>
            </a:r>
            <a:endParaRPr lang="en-US" sz="3600"/>
          </a:p>
        </p:txBody>
      </p:sp>
      <p:sp>
        <p:nvSpPr>
          <p:cNvPr id="4" name="Text Box 3"/>
          <p:cNvSpPr txBox="1"/>
          <p:nvPr/>
        </p:nvSpPr>
        <p:spPr>
          <a:xfrm>
            <a:off x="491490" y="2891155"/>
            <a:ext cx="10971530" cy="3046095"/>
          </a:xfrm>
          <a:prstGeom prst="rect">
            <a:avLst/>
          </a:prstGeom>
          <a:noFill/>
        </p:spPr>
        <p:txBody>
          <a:bodyPr wrap="square" rtlCol="0">
            <a:spAutoFit/>
          </a:bodyPr>
          <a:p>
            <a:pPr algn="just"/>
            <a:r>
              <a:rPr lang="en-US" sz="3200"/>
              <a:t>Ethical considerations have been linked to the Internet of Things (IoT) with many physical devices being connected to the internet.</a:t>
            </a:r>
            <a:endParaRPr lang="en-US" sz="3200"/>
          </a:p>
          <a:p>
            <a:pPr algn="just"/>
            <a:r>
              <a:rPr lang="en-US" sz="3200"/>
              <a:t>Virtual Crypto-currencies in regards to the balance of the current purchasing relationship between the buyer and seller.[</a:t>
            </a:r>
            <a:endParaRPr lang="en-US" sz="3200"/>
          </a:p>
        </p:txBody>
      </p:sp>
      <p:pic>
        <p:nvPicPr>
          <p:cNvPr id="6" name="Picture 5" descr="computer ethics"/>
          <p:cNvPicPr>
            <a:picLocks noChangeAspect="1"/>
          </p:cNvPicPr>
          <p:nvPr/>
        </p:nvPicPr>
        <p:blipFill>
          <a:blip r:embed="rId1"/>
          <a:stretch>
            <a:fillRect/>
          </a:stretch>
        </p:blipFill>
        <p:spPr>
          <a:xfrm>
            <a:off x="10916920" y="5352415"/>
            <a:ext cx="1381125" cy="15055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88925" y="164465"/>
            <a:ext cx="10971530" cy="6092825"/>
          </a:xfrm>
          <a:prstGeom prst="rect">
            <a:avLst/>
          </a:prstGeom>
          <a:noFill/>
        </p:spPr>
        <p:txBody>
          <a:bodyPr wrap="square" rtlCol="0">
            <a:spAutoFit/>
          </a:bodyPr>
          <a:p>
            <a:pPr algn="just"/>
            <a:r>
              <a:rPr lang="en-US" sz="3000"/>
              <a:t>Autonomous technology such as self-driving cars forced to make human decisions. There is also concern over how autonomous vehicles would behave in different countries with different culture values.</a:t>
            </a:r>
            <a:endParaRPr lang="en-US" sz="3000"/>
          </a:p>
          <a:p>
            <a:pPr algn="just"/>
            <a:endParaRPr lang="en-US" sz="3000"/>
          </a:p>
          <a:p>
            <a:pPr algn="just"/>
            <a:r>
              <a:rPr lang="en-US" sz="3000"/>
              <a:t>Security risks have been identified with cloud-based technology with every user interaction being sent and analyzed to central computing hubs.</a:t>
            </a:r>
            <a:r>
              <a:rPr lang="en-PH" altLang="en-US" sz="3000"/>
              <a:t> </a:t>
            </a:r>
            <a:r>
              <a:rPr lang="en-US" sz="3000"/>
              <a:t>Artificial intelligence devices like the Amazon Alexa and Google Home are collecting personal data from users while at home and uploading it to the cloud. Apple's Siri and Microsoft's Cortana smartphone assistants are collecting user information, analyzing the information, and then sending the information back to the user.</a:t>
            </a:r>
            <a:endParaRPr lang="en-US" sz="3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88925" y="164465"/>
            <a:ext cx="10971530" cy="6554470"/>
          </a:xfrm>
          <a:prstGeom prst="rect">
            <a:avLst/>
          </a:prstGeom>
          <a:noFill/>
        </p:spPr>
        <p:txBody>
          <a:bodyPr wrap="square" rtlCol="0">
            <a:spAutoFit/>
          </a:bodyPr>
          <a:p>
            <a:pPr algn="just"/>
            <a:r>
              <a:rPr lang="en-PH" sz="3000" b="1"/>
              <a:t>Internet Privacy</a:t>
            </a:r>
            <a:endParaRPr lang="en-PH" sz="3000" b="1"/>
          </a:p>
          <a:p>
            <a:pPr algn="just"/>
            <a:endParaRPr lang="en-PH" sz="3000" b="1"/>
          </a:p>
          <a:p>
            <a:pPr algn="just"/>
            <a:r>
              <a:rPr lang="en-PH" sz="3000"/>
              <a:t>Computers and information technology have caused privacy concerns surrounding collection and use of personal data. For example, Google was sued in 2018 for tracking user location without permission, also In July 2019, Facebook reached a $5 billion settlement with the U.S. Federal Trade Commission for violating an agreement with the agency to protect user privacy.</a:t>
            </a:r>
            <a:endParaRPr lang="en-PH" sz="3000"/>
          </a:p>
          <a:p>
            <a:pPr algn="just"/>
            <a:endParaRPr lang="en-PH" sz="3000"/>
          </a:p>
          <a:p>
            <a:pPr algn="just"/>
            <a:r>
              <a:rPr lang="en-PH" sz="3000"/>
              <a:t>A whole industry of privacy and ethical tools has grown over time, giving people the choice to not share their data online. These are often open source software, which allows the users to ensure that their data is not saved to be used without their consent.</a:t>
            </a:r>
            <a:endParaRPr lang="en-PH" sz="3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88925" y="164465"/>
            <a:ext cx="10971530" cy="6554470"/>
          </a:xfrm>
          <a:prstGeom prst="rect">
            <a:avLst/>
          </a:prstGeom>
          <a:noFill/>
        </p:spPr>
        <p:txBody>
          <a:bodyPr wrap="square" rtlCol="0">
            <a:spAutoFit/>
          </a:bodyPr>
          <a:p>
            <a:pPr algn="just"/>
            <a:r>
              <a:rPr lang="en-PH" sz="3000" b="1"/>
              <a:t>Internet Privacy</a:t>
            </a:r>
            <a:endParaRPr lang="en-PH" sz="3000" b="1"/>
          </a:p>
          <a:p>
            <a:pPr algn="just"/>
            <a:endParaRPr lang="en-PH" sz="3000" b="1"/>
          </a:p>
          <a:p>
            <a:pPr algn="just"/>
            <a:r>
              <a:rPr lang="en-PH" sz="3000"/>
              <a:t>Computers and information technology have caused privacy concerns surrounding collection and use of personal data. For example, Google was sued in 2018 for tracking user location without permission, also In July 2019, Facebook reached a $5 billion settlement with the U.S. Federal Trade Commission for violating an agreement with the agency to protect user privacy.</a:t>
            </a:r>
            <a:endParaRPr lang="en-PH" sz="3000"/>
          </a:p>
          <a:p>
            <a:pPr algn="just"/>
            <a:endParaRPr lang="en-PH" sz="3000"/>
          </a:p>
          <a:p>
            <a:pPr algn="just"/>
            <a:r>
              <a:rPr lang="en-PH" sz="3000"/>
              <a:t>A whole industry of privacy and ethical tools has grown over time, giving people the choice to not share their data online. These are often open source software, which allows the users to ensure that their data is not saved to be used without their consent.</a:t>
            </a:r>
            <a:endParaRPr lang="en-PH" sz="3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88925" y="164465"/>
            <a:ext cx="11363325" cy="5169535"/>
          </a:xfrm>
          <a:prstGeom prst="rect">
            <a:avLst/>
          </a:prstGeom>
          <a:noFill/>
        </p:spPr>
        <p:txBody>
          <a:bodyPr wrap="square" rtlCol="0">
            <a:spAutoFit/>
          </a:bodyPr>
          <a:p>
            <a:pPr algn="just"/>
            <a:r>
              <a:rPr lang="en-PH" sz="3000" b="1"/>
              <a:t>The effects of Infringing copying</a:t>
            </a:r>
            <a:endParaRPr lang="en-PH" sz="3000" b="1"/>
          </a:p>
          <a:p>
            <a:pPr algn="just"/>
            <a:endParaRPr lang="en-PH" sz="3000" b="1"/>
          </a:p>
          <a:p>
            <a:pPr algn="just"/>
            <a:r>
              <a:rPr lang="en-PH" sz="3000"/>
              <a:t>The effects of infringing copying in the digital realm, particularly studied in computer software and recorded music industries, have raised significant concerns among empirically-oriented economists. While the software industry manages to thrive despite digital copying, the recorded music sector witnesses a sharp decline in revenues, especially with the rise of file-sharing of MP3 files. Establishing the impact of unpaid consumption on paid consumption is challenging due to difficulties in obtaining data on unpaid consumption and drawing causal inferences. </a:t>
            </a:r>
            <a:endParaRPr lang="en-PH" sz="3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05435" y="610235"/>
            <a:ext cx="11363325" cy="3784600"/>
          </a:xfrm>
          <a:prstGeom prst="rect">
            <a:avLst/>
          </a:prstGeom>
          <a:noFill/>
        </p:spPr>
        <p:txBody>
          <a:bodyPr wrap="square" rtlCol="0">
            <a:spAutoFit/>
          </a:bodyPr>
          <a:p>
            <a:pPr algn="just"/>
            <a:r>
              <a:rPr lang="en-PH" sz="3000"/>
              <a:t>Empirical studies consistently suggest a depressing impact on paid music consumption, indicating a likely contribution to the downturn in recorded music sales. The emergence of cyberlockers and rapid technological changes further complicate the analysis of revenue impacts on content industries, highlighting the need for ongoing research and a nuanced approach to copyright policy that considers user welfare effects and rewards distribution to artists and creators.</a:t>
            </a:r>
            <a:endParaRPr lang="en-PH" sz="3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05435" y="610235"/>
            <a:ext cx="11363325" cy="5631180"/>
          </a:xfrm>
          <a:prstGeom prst="rect">
            <a:avLst/>
          </a:prstGeom>
          <a:noFill/>
        </p:spPr>
        <p:txBody>
          <a:bodyPr wrap="square" rtlCol="0">
            <a:spAutoFit/>
          </a:bodyPr>
          <a:p>
            <a:pPr algn="just"/>
            <a:r>
              <a:rPr lang="en-PH" sz="3000" b="1"/>
              <a:t>Ethical standards</a:t>
            </a:r>
            <a:endParaRPr lang="en-PH" sz="3000" b="1"/>
          </a:p>
          <a:p>
            <a:pPr algn="just"/>
            <a:endParaRPr lang="en-PH" sz="3000" b="1"/>
          </a:p>
          <a:p>
            <a:pPr algn="just"/>
            <a:r>
              <a:rPr lang="en-PH" sz="3000"/>
              <a:t>Various national and international professional societies and organizations have produced code of ethics documents to give basic behavioral guidelines to computing professionals and users. They include:</a:t>
            </a:r>
            <a:endParaRPr lang="en-PH" sz="3000"/>
          </a:p>
          <a:p>
            <a:pPr algn="just"/>
            <a:endParaRPr lang="en-PH" sz="3000"/>
          </a:p>
          <a:p>
            <a:pPr marL="457200" indent="-457200" algn="just">
              <a:buFont typeface="Arial" panose="020B0604020202020204" pitchFamily="34" charset="0"/>
              <a:buChar char="•"/>
            </a:pPr>
            <a:r>
              <a:rPr lang="en-PH" sz="3000" b="1"/>
              <a:t>Association for Computing Machinery</a:t>
            </a:r>
            <a:endParaRPr lang="en-PH" sz="3000" b="1"/>
          </a:p>
          <a:p>
            <a:pPr indent="0" algn="just">
              <a:buFont typeface="Arial" panose="020B0604020202020204" pitchFamily="34" charset="0"/>
              <a:buNone/>
            </a:pPr>
            <a:r>
              <a:rPr lang="en-PH" sz="3000"/>
              <a:t>    		- ACM Code of Ethics and Professional Conduc</a:t>
            </a:r>
            <a:endParaRPr lang="en-PH" sz="3000"/>
          </a:p>
          <a:p>
            <a:pPr marL="457200" indent="-457200" algn="just">
              <a:buFont typeface="Arial" panose="020B0604020202020204" pitchFamily="34" charset="0"/>
              <a:buChar char="•"/>
            </a:pPr>
            <a:r>
              <a:rPr lang="en-PH" sz="3000" b="1"/>
              <a:t>Australian Computer Society</a:t>
            </a:r>
            <a:endParaRPr lang="en-PH" sz="3000" b="1"/>
          </a:p>
          <a:p>
            <a:pPr marL="1371600" lvl="3" indent="457200" algn="just">
              <a:buFont typeface="Arial" panose="020B0604020202020204" pitchFamily="34" charset="0"/>
              <a:buNone/>
            </a:pPr>
            <a:r>
              <a:rPr lang="en-PH" sz="3000"/>
              <a:t>- ACS Code of Ethics[26]</a:t>
            </a:r>
            <a:endParaRPr lang="en-PH" sz="3000"/>
          </a:p>
          <a:p>
            <a:pPr marL="1371600" lvl="3" indent="457200" algn="just">
              <a:buFont typeface="Arial" panose="020B0604020202020204" pitchFamily="34" charset="0"/>
              <a:buNone/>
            </a:pPr>
            <a:r>
              <a:rPr lang="en-PH" sz="3000"/>
              <a:t>- ACS Code of Professional Conduct[</a:t>
            </a:r>
            <a:endParaRPr lang="en-PH" sz="3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05435" y="197485"/>
            <a:ext cx="11363325" cy="6554470"/>
          </a:xfrm>
          <a:prstGeom prst="rect">
            <a:avLst/>
          </a:prstGeom>
          <a:noFill/>
        </p:spPr>
        <p:txBody>
          <a:bodyPr wrap="square" rtlCol="0">
            <a:spAutoFit/>
          </a:bodyPr>
          <a:p>
            <a:pPr marL="457200" indent="-457200" algn="just">
              <a:buFont typeface="Arial" panose="020B0604020202020204" pitchFamily="34" charset="0"/>
              <a:buChar char="•"/>
            </a:pPr>
            <a:r>
              <a:rPr lang="en-PH" sz="3000" b="1">
                <a:sym typeface="+mn-ea"/>
              </a:rPr>
              <a:t>British Computer Society</a:t>
            </a:r>
            <a:endParaRPr lang="en-PH" sz="3000" b="1">
              <a:sym typeface="+mn-ea"/>
            </a:endParaRPr>
          </a:p>
          <a:p>
            <a:pPr marL="914400" lvl="2" indent="457200" algn="just">
              <a:buFont typeface="Arial" panose="020B0604020202020204" pitchFamily="34" charset="0"/>
              <a:buNone/>
            </a:pPr>
            <a:r>
              <a:rPr lang="en-PH" sz="3000" b="1">
                <a:sym typeface="+mn-ea"/>
              </a:rPr>
              <a:t>- </a:t>
            </a:r>
            <a:r>
              <a:rPr lang="en-PH" sz="3000">
                <a:sym typeface="+mn-ea"/>
              </a:rPr>
              <a:t>BCS Code of Conduct[28]</a:t>
            </a:r>
            <a:endParaRPr lang="en-PH" sz="3000">
              <a:sym typeface="+mn-ea"/>
            </a:endParaRPr>
          </a:p>
          <a:p>
            <a:pPr marL="914400" lvl="2" indent="457200" algn="just">
              <a:buFont typeface="Arial" panose="020B0604020202020204" pitchFamily="34" charset="0"/>
              <a:buNone/>
            </a:pPr>
            <a:r>
              <a:rPr lang="en-PH" sz="3000">
                <a:sym typeface="+mn-ea"/>
              </a:rPr>
              <a:t>- Code of Good Practice (retired May 2011)</a:t>
            </a:r>
            <a:endParaRPr lang="en-PH" sz="3000">
              <a:sym typeface="+mn-ea"/>
            </a:endParaRPr>
          </a:p>
          <a:p>
            <a:pPr marL="457200" indent="-457200" algn="just">
              <a:buFont typeface="Arial" panose="020B0604020202020204" pitchFamily="34" charset="0"/>
              <a:buChar char="•"/>
            </a:pPr>
            <a:r>
              <a:rPr lang="en-PH" sz="3000" b="1">
                <a:sym typeface="+mn-ea"/>
              </a:rPr>
              <a:t>German Informatics Society</a:t>
            </a:r>
            <a:endParaRPr lang="en-PH" sz="3000" b="1">
              <a:sym typeface="+mn-ea"/>
            </a:endParaRPr>
          </a:p>
          <a:p>
            <a:pPr marL="914400" lvl="2" indent="457200" algn="just">
              <a:buFont typeface="Arial" panose="020B0604020202020204" pitchFamily="34" charset="0"/>
              <a:buNone/>
            </a:pPr>
            <a:r>
              <a:rPr lang="en-PH" sz="3000">
                <a:sym typeface="+mn-ea"/>
              </a:rPr>
              <a:t>- Ethical Guidelines of the German Informatics Society      	(revised June 29, 2018)</a:t>
            </a:r>
            <a:endParaRPr lang="en-PH" sz="3000">
              <a:sym typeface="+mn-ea"/>
            </a:endParaRPr>
          </a:p>
          <a:p>
            <a:pPr marL="457200" indent="-457200" algn="just">
              <a:buFont typeface="Arial" panose="020B0604020202020204" pitchFamily="34" charset="0"/>
              <a:buChar char="•"/>
            </a:pPr>
            <a:r>
              <a:rPr lang="en-PH" sz="3000" b="1">
                <a:sym typeface="+mn-ea"/>
              </a:rPr>
              <a:t>Computer Ethics Institute</a:t>
            </a:r>
            <a:endParaRPr lang="en-PH" sz="3000" b="1">
              <a:sym typeface="+mn-ea"/>
            </a:endParaRPr>
          </a:p>
          <a:p>
            <a:pPr marL="914400" lvl="2" indent="457200" algn="just">
              <a:buFont typeface="Arial" panose="020B0604020202020204" pitchFamily="34" charset="0"/>
              <a:buNone/>
            </a:pPr>
            <a:r>
              <a:rPr lang="en-PH" sz="3000">
                <a:sym typeface="+mn-ea"/>
              </a:rPr>
              <a:t>- Ten Commandments of Computer Ethics</a:t>
            </a:r>
            <a:endParaRPr lang="en-PH" sz="3000">
              <a:sym typeface="+mn-ea"/>
            </a:endParaRPr>
          </a:p>
          <a:p>
            <a:pPr marL="457200" indent="-457200" algn="just">
              <a:buFont typeface="Arial" panose="020B0604020202020204" pitchFamily="34" charset="0"/>
              <a:buChar char="•"/>
            </a:pPr>
            <a:r>
              <a:rPr lang="en-PH" sz="3000" b="1">
                <a:sym typeface="+mn-ea"/>
              </a:rPr>
              <a:t>IEEE (Institute of Electrical and Electronics Engineers)</a:t>
            </a:r>
            <a:endParaRPr lang="en-PH" sz="3000" b="1">
              <a:sym typeface="+mn-ea"/>
            </a:endParaRPr>
          </a:p>
          <a:p>
            <a:pPr marL="914400" lvl="2" indent="457200" algn="just">
              <a:buFont typeface="Arial" panose="020B0604020202020204" pitchFamily="34" charset="0"/>
              <a:buNone/>
            </a:pPr>
            <a:r>
              <a:rPr lang="en-PH" sz="3000">
                <a:sym typeface="+mn-ea"/>
              </a:rPr>
              <a:t>- IEEE Code of Ethics</a:t>
            </a:r>
            <a:endParaRPr lang="en-PH" sz="3000">
              <a:sym typeface="+mn-ea"/>
            </a:endParaRPr>
          </a:p>
          <a:p>
            <a:pPr marL="914400" lvl="2" indent="457200" algn="just">
              <a:buFont typeface="Arial" panose="020B0604020202020204" pitchFamily="34" charset="0"/>
              <a:buNone/>
            </a:pPr>
            <a:r>
              <a:rPr lang="en-PH" sz="3000">
                <a:sym typeface="+mn-ea"/>
              </a:rPr>
              <a:t>- IEEE Code of Conduct</a:t>
            </a:r>
            <a:endParaRPr lang="en-PH" sz="3000">
              <a:sym typeface="+mn-ea"/>
            </a:endParaRPr>
          </a:p>
          <a:p>
            <a:pPr marL="457200" indent="-457200" algn="just">
              <a:buFont typeface="Arial" panose="020B0604020202020204" pitchFamily="34" charset="0"/>
              <a:buChar char="•"/>
            </a:pPr>
            <a:r>
              <a:rPr lang="en-PH" sz="3000" b="1">
                <a:sym typeface="+mn-ea"/>
              </a:rPr>
              <a:t>League of Professional System Administrators</a:t>
            </a:r>
            <a:endParaRPr lang="en-PH" sz="3000" b="1">
              <a:sym typeface="+mn-ea"/>
            </a:endParaRPr>
          </a:p>
          <a:p>
            <a:pPr marL="914400" lvl="2" indent="457200" algn="just">
              <a:buFont typeface="Arial" panose="020B0604020202020204" pitchFamily="34" charset="0"/>
              <a:buNone/>
            </a:pPr>
            <a:r>
              <a:rPr lang="en-PH" sz="3000">
                <a:sym typeface="+mn-ea"/>
              </a:rPr>
              <a:t>- The System Administrators' Code of Ethics</a:t>
            </a:r>
            <a:endParaRPr lang="en-PH" sz="3000">
              <a:sym typeface="+mn-ea"/>
            </a:endParaRPr>
          </a:p>
          <a:p>
            <a:pPr marL="914400" lvl="2" indent="457200" algn="just">
              <a:buFont typeface="Arial" panose="020B0604020202020204" pitchFamily="34" charset="0"/>
              <a:buNone/>
            </a:pPr>
            <a:endParaRPr lang="en-PH" sz="300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lgn="ctr">
              <a:buNone/>
            </a:pPr>
            <a:r>
              <a:rPr lang="en-PH" altLang="en-US" sz="4400"/>
              <a:t>Thank you!</a:t>
            </a:r>
            <a:endParaRPr lang="en-PH" altLang="en-US" sz="4400"/>
          </a:p>
        </p:txBody>
      </p:sp>
    </p:spTree>
  </p:cSld>
  <p:clrMapOvr>
    <a:masterClrMapping/>
  </p:clrMapOvr>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9539</Words>
  <Application>WPS Presentation</Application>
  <PresentationFormat>Widescreen</PresentationFormat>
  <Paragraphs>95</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Arial</vt:lpstr>
      <vt:lpstr>SimSun</vt:lpstr>
      <vt:lpstr>Wingdings</vt:lpstr>
      <vt:lpstr>Mistral</vt:lpstr>
      <vt:lpstr>Microsoft YaHei</vt:lpstr>
      <vt:lpstr>Arial Unicode MS</vt:lpstr>
      <vt:lpstr>Calibri</vt:lpstr>
      <vt:lpstr>Orange Waves</vt:lpstr>
      <vt:lpstr>COMPUTER ETHICS</vt:lpstr>
      <vt:lpstr>Computer Ethics</vt:lpstr>
      <vt:lpstr>PowerPoint 演示文稿</vt:lpstr>
      <vt:lpstr>History of Computer Ethics</vt:lpstr>
      <vt:lpstr>PowerPoint 演示文稿</vt:lpstr>
      <vt:lpstr>PowerPoint 演示文稿</vt:lpstr>
      <vt:lpstr>1985 - James Moor, professor of philosophy at Dartmouth College in New Hampshire, published an essay called "What is Computer Ethics?" In this essay Moor states the computer ethics includes the following: "(1) identification of computer-generated policy vacuums, (2) clarification of conceptual muddles, (3) formulation of policies for the use of computer technology, and (4) ethical justification of such policies.  </vt:lpstr>
      <vt:lpstr>1988 - Robert Hauptman, a librarian at St. Cloud University, came up with "information ethics", a term that was used to describe the storage, production, access and dissemination of information. Near the same time, the Computer Matching and Privacy Act was adopted and this act restricted United States government programs identifying debtors.  1992 - ACM adopted a new set of ethical rules called "ACM code of Ethics and Professional Conduct" which consisted of 24 statements of personal responsibility. </vt:lpstr>
      <vt:lpstr>1995 - Krystyna Górniak-Kocikowska, a professor of philosophy at Southern Connecticut State University, Coordinator of the Religious Studies Program, as well as a senior research associate in the Research Center on Computing and Society, came up with the idea that computer ethics will eventually become a global ethical system and soon after, computer ethics would replace ethics altogether as it would become the standard ethics of the information age.</vt:lpstr>
      <vt:lpstr>PowerPoint 演示文稿</vt:lpstr>
      <vt:lpstr>2018 - The Guardian and The New York Times reported that Facebook took data from 87 million Facebook users to sell to Cambridge Analytica.  2019 - Facebook started a fund to build an ethics center at the Technical University of Munich, located in Germany. This was the first time that Facebook funded an academic institute for matters regarding computer ethics.</vt:lpstr>
      <vt:lpstr>2018 - The Guardian and The New York Times reported that Facebook took data from 87 million Facebook users to sell to Cambridge Analytica.  2019 - Facebook started a fund to build an ethics center at the Technical University of Munich, located in Germany. This was the first time that Facebook funded an academic institute for matters regarding computer ethics.</vt:lpstr>
      <vt:lpstr> Computer crime, privacy, anonymity, freedom, and intellectual property fall under topics that will be present in the future of computer ethics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ETHICS</dc:title>
  <dc:creator/>
  <cp:lastModifiedBy>eddiecenitajr NEMSU</cp:lastModifiedBy>
  <cp:revision>112</cp:revision>
  <dcterms:created xsi:type="dcterms:W3CDTF">2024-03-03T13:35:00Z</dcterms:created>
  <dcterms:modified xsi:type="dcterms:W3CDTF">2025-01-31T06:08:49Z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EAE065C6E1F44F539FC64E4E76E613BF_11</vt:lpwstr>
  </property>
  <property fmtid="{D5CDD505-2E9C-101B-9397-08002B2CF9AE}" pid="3" name="KSOProductBuildVer">
    <vt:lpwstr>1033-12.2.0.19805</vt:lpwstr>
  </property>
</Properties>
</file>