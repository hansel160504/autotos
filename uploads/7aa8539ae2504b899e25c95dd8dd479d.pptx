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70" r:id="rId5"/>
    <p:sldId id="266" r:id="rId6"/>
    <p:sldId id="259" r:id="rId7"/>
    <p:sldId id="267" r:id="rId8"/>
    <p:sldId id="260" r:id="rId9"/>
    <p:sldId id="268" r:id="rId10"/>
    <p:sldId id="269"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11/15/2025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11/15/2025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11/15/2025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7959-49BB-6383-28F9-567B23735307}"/>
              </a:ext>
            </a:extLst>
          </p:cNvPr>
          <p:cNvSpPr>
            <a:spLocks noGrp="1"/>
          </p:cNvSpPr>
          <p:nvPr>
            <p:ph type="ctrTitle"/>
          </p:nvPr>
        </p:nvSpPr>
        <p:spPr>
          <a:xfrm>
            <a:off x="1112520" y="1503660"/>
            <a:ext cx="9966960" cy="3035808"/>
          </a:xfrm>
        </p:spPr>
        <p:txBody>
          <a:bodyPr/>
          <a:lstStyle/>
          <a:p>
            <a:r>
              <a:rPr lang="en-PH" sz="7200" b="1" dirty="0">
                <a:latin typeface="Arial" panose="020B0604020202020204" pitchFamily="34" charset="0"/>
                <a:ea typeface="Abadi" panose="02000000000000000000" pitchFamily="2" charset="0"/>
                <a:cs typeface="Arial" panose="020B0604020202020204" pitchFamily="34" charset="0"/>
              </a:rPr>
              <a:t>Data protection and privacy </a:t>
            </a:r>
            <a:endParaRPr lang="en-US" sz="7200" b="1" dirty="0">
              <a:latin typeface="Arial" panose="020B0604020202020204" pitchFamily="34" charset="0"/>
              <a:ea typeface="Abadi" panose="02000000000000000000" pitchFamily="2" charset="0"/>
              <a:cs typeface="Arial" panose="020B0604020202020204" pitchFamily="34" charset="0"/>
            </a:endParaRPr>
          </a:p>
        </p:txBody>
      </p:sp>
    </p:spTree>
    <p:extLst>
      <p:ext uri="{BB962C8B-B14F-4D97-AF65-F5344CB8AC3E}">
        <p14:creationId xmlns:p14="http://schemas.microsoft.com/office/powerpoint/2010/main" val="998452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CF84-704E-E5B6-6133-D150804CD2EC}"/>
              </a:ext>
            </a:extLst>
          </p:cNvPr>
          <p:cNvSpPr>
            <a:spLocks noGrp="1"/>
          </p:cNvSpPr>
          <p:nvPr>
            <p:ph type="title"/>
          </p:nvPr>
        </p:nvSpPr>
        <p:spPr>
          <a:xfrm>
            <a:off x="1066800" y="556069"/>
            <a:ext cx="10058400" cy="1609344"/>
          </a:xfrm>
        </p:spPr>
        <p:txBody>
          <a:bodyPr>
            <a:normAutofit/>
          </a:bodyPr>
          <a:lstStyle/>
          <a:p>
            <a:pPr algn="ctr"/>
            <a:r>
              <a:rPr lang="en-PH" sz="4000" b="1" dirty="0">
                <a:latin typeface="Arial" panose="020B0604020202020204" pitchFamily="34" charset="0"/>
                <a:cs typeface="Arial" panose="020B0604020202020204" pitchFamily="34" charset="0"/>
              </a:rPr>
              <a:t>Data Protection and privacy</a:t>
            </a:r>
            <a:endParaRPr lang="en-US" sz="40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6EB3631-C5AB-3767-A005-FFFA3E7C5A17}"/>
              </a:ext>
            </a:extLst>
          </p:cNvPr>
          <p:cNvSpPr>
            <a:spLocks noGrp="1"/>
          </p:cNvSpPr>
          <p:nvPr>
            <p:ph idx="1"/>
          </p:nvPr>
        </p:nvSpPr>
        <p:spPr>
          <a:xfrm>
            <a:off x="452985" y="2313529"/>
            <a:ext cx="6621589" cy="3988402"/>
          </a:xfrm>
        </p:spPr>
        <p:txBody>
          <a:bodyPr>
            <a:normAutofit/>
          </a:bodyPr>
          <a:lstStyle/>
          <a:p>
            <a:r>
              <a:rPr lang="en-PH" b="0" i="0" u="none" strike="noStrike" dirty="0">
                <a:solidFill>
                  <a:srgbClr val="000000"/>
                </a:solidFill>
                <a:effectLst/>
                <a:latin typeface="Arial" panose="020B0604020202020204" pitchFamily="34" charset="0"/>
                <a:cs typeface="Arial" panose="020B0604020202020204" pitchFamily="34" charset="0"/>
              </a:rPr>
              <a:t>Data protection and privacy are essential for safeguarding individuals' personal information in an increasingly digital world. Data protection involves securing personal data from unauthorized access and misuse, while privacy ensures individuals have control over their personal information. With growing reliance on digital services, regulatory frameworks like the GDPR and CCPA have emerged to protect users’ data rights, requiring organizations to be transparent about data collection and provide options for user consent and data management. Effective data protection builds trust, helps prevent data breaches, and ensures that privacy rights are respected in all digital interactions.</a:t>
            </a: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B03D767-4E96-04D3-D3D7-EFD9CA9158F2}"/>
              </a:ext>
            </a:extLst>
          </p:cNvPr>
          <p:cNvPicPr>
            <a:picLocks noChangeAspect="1"/>
          </p:cNvPicPr>
          <p:nvPr/>
        </p:nvPicPr>
        <p:blipFill>
          <a:blip r:embed="rId2"/>
          <a:stretch>
            <a:fillRect/>
          </a:stretch>
        </p:blipFill>
        <p:spPr>
          <a:xfrm>
            <a:off x="7246963" y="2776173"/>
            <a:ext cx="4589564" cy="3063113"/>
          </a:xfrm>
          <a:prstGeom prst="rect">
            <a:avLst/>
          </a:prstGeom>
        </p:spPr>
      </p:pic>
    </p:spTree>
    <p:extLst>
      <p:ext uri="{BB962C8B-B14F-4D97-AF65-F5344CB8AC3E}">
        <p14:creationId xmlns:p14="http://schemas.microsoft.com/office/powerpoint/2010/main" val="4011217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E4AE-7466-A4F6-C06A-6BCE963CF469}"/>
              </a:ext>
            </a:extLst>
          </p:cNvPr>
          <p:cNvSpPr>
            <a:spLocks noGrp="1"/>
          </p:cNvSpPr>
          <p:nvPr>
            <p:ph type="title"/>
          </p:nvPr>
        </p:nvSpPr>
        <p:spPr>
          <a:xfrm>
            <a:off x="1319880" y="1127569"/>
            <a:ext cx="10058400" cy="1609344"/>
          </a:xfrm>
        </p:spPr>
        <p:txBody>
          <a:bodyPr>
            <a:normAutofit/>
          </a:bodyPr>
          <a:lstStyle/>
          <a:p>
            <a:pPr algn="ctr"/>
            <a:r>
              <a:rPr lang="en-PH" sz="4000" b="1" dirty="0">
                <a:latin typeface="Arial" panose="020B0604020202020204" pitchFamily="34" charset="0"/>
                <a:cs typeface="Arial" panose="020B0604020202020204" pitchFamily="34" charset="0"/>
              </a:rPr>
              <a:t>Data classification and labeling</a:t>
            </a:r>
            <a:endParaRPr lang="en-US" sz="40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EEBFFF5-037F-A7AA-6AB1-53603197EF94}"/>
              </a:ext>
            </a:extLst>
          </p:cNvPr>
          <p:cNvSpPr>
            <a:spLocks noGrp="1"/>
          </p:cNvSpPr>
          <p:nvPr>
            <p:ph idx="1"/>
          </p:nvPr>
        </p:nvSpPr>
        <p:spPr>
          <a:xfrm>
            <a:off x="927831" y="3300126"/>
            <a:ext cx="10842498" cy="4415123"/>
          </a:xfrm>
        </p:spPr>
        <p:txBody>
          <a:bodyPr>
            <a:normAutofit/>
          </a:bodyPr>
          <a:lstStyle/>
          <a:p>
            <a:r>
              <a:rPr lang="en-PH" sz="2400" b="1" i="0" u="none" strike="noStrike" dirty="0">
                <a:solidFill>
                  <a:srgbClr val="000000"/>
                </a:solidFill>
                <a:effectLst/>
                <a:latin typeface="Arial" panose="020B0604020202020204" pitchFamily="34" charset="0"/>
                <a:cs typeface="Arial" panose="020B0604020202020204" pitchFamily="34" charset="0"/>
              </a:rPr>
              <a:t>Data Classification </a:t>
            </a:r>
            <a:r>
              <a:rPr lang="en-PH" sz="2400" b="0" i="0" u="none" strike="noStrike" dirty="0">
                <a:solidFill>
                  <a:srgbClr val="000000"/>
                </a:solidFill>
                <a:effectLst/>
                <a:latin typeface="Arial" panose="020B0604020202020204" pitchFamily="34" charset="0"/>
                <a:cs typeface="Arial" panose="020B0604020202020204" pitchFamily="34" charset="0"/>
              </a:rPr>
              <a:t>is the process of organizing data into categories based on its sensitivity, value, and risk level, helping determine appropriate access and protection measures.</a:t>
            </a:r>
            <a:endParaRPr lang="en-PH" sz="2400" dirty="0">
              <a:solidFill>
                <a:srgbClr val="000000"/>
              </a:solidFill>
              <a:latin typeface="Arial" panose="020B0604020202020204" pitchFamily="34" charset="0"/>
              <a:cs typeface="Arial" panose="020B0604020202020204" pitchFamily="34" charset="0"/>
            </a:endParaRPr>
          </a:p>
          <a:p>
            <a:pPr marL="0" indent="0" rtl="0">
              <a:buNone/>
            </a:pPr>
            <a:endParaRPr lang="en-PH" sz="2400" dirty="0">
              <a:effectLst/>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4370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009B745-0012-84F9-F10A-973219200372}"/>
              </a:ext>
            </a:extLst>
          </p:cNvPr>
          <p:cNvPicPr>
            <a:picLocks noGrp="1" noChangeAspect="1"/>
          </p:cNvPicPr>
          <p:nvPr>
            <p:ph idx="1"/>
          </p:nvPr>
        </p:nvPicPr>
        <p:blipFill>
          <a:blip r:embed="rId2"/>
          <a:stretch>
            <a:fillRect/>
          </a:stretch>
        </p:blipFill>
        <p:spPr>
          <a:xfrm>
            <a:off x="2143125" y="964407"/>
            <a:ext cx="7905750" cy="5429250"/>
          </a:xfrm>
        </p:spPr>
      </p:pic>
    </p:spTree>
    <p:extLst>
      <p:ext uri="{BB962C8B-B14F-4D97-AF65-F5344CB8AC3E}">
        <p14:creationId xmlns:p14="http://schemas.microsoft.com/office/powerpoint/2010/main" val="754201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5D8280-217C-C500-725E-2CC209F19C5E}"/>
              </a:ext>
            </a:extLst>
          </p:cNvPr>
          <p:cNvSpPr>
            <a:spLocks noGrp="1"/>
          </p:cNvSpPr>
          <p:nvPr>
            <p:ph idx="1"/>
          </p:nvPr>
        </p:nvSpPr>
        <p:spPr>
          <a:xfrm>
            <a:off x="1095375" y="619125"/>
            <a:ext cx="10589419" cy="6417468"/>
          </a:xfrm>
        </p:spPr>
        <p:txBody>
          <a:bodyPr>
            <a:normAutofit/>
          </a:bodyPr>
          <a:lstStyle/>
          <a:p>
            <a:pPr marL="0" indent="0" algn="ctr" rtl="0">
              <a:buNone/>
            </a:pPr>
            <a:r>
              <a:rPr lang="en-PH" sz="2400" b="1" i="0" u="none" strike="noStrike" dirty="0">
                <a:solidFill>
                  <a:srgbClr val="000000"/>
                </a:solidFill>
                <a:effectLst/>
                <a:latin typeface="Arial" panose="020B0604020202020204" pitchFamily="34" charset="0"/>
                <a:cs typeface="Arial" panose="020B0604020202020204" pitchFamily="34" charset="0"/>
              </a:rPr>
              <a:t>Types of Data Classifications</a:t>
            </a:r>
          </a:p>
          <a:p>
            <a:pPr marL="0" indent="0" rtl="0">
              <a:buNone/>
            </a:pPr>
            <a:endParaRPr lang="en-PH" sz="2400" b="1" dirty="0">
              <a:effectLst/>
              <a:latin typeface="Arial" panose="020B0604020202020204" pitchFamily="34" charset="0"/>
              <a:cs typeface="Arial" panose="020B0604020202020204" pitchFamily="34" charset="0"/>
            </a:endParaRPr>
          </a:p>
          <a:p>
            <a:r>
              <a:rPr lang="en-PH" sz="2400" b="1" i="0" u="none" strike="noStrike" dirty="0">
                <a:solidFill>
                  <a:srgbClr val="000000"/>
                </a:solidFill>
                <a:effectLst/>
                <a:latin typeface="Arial" panose="020B0604020202020204" pitchFamily="34" charset="0"/>
                <a:cs typeface="Arial" panose="020B0604020202020204" pitchFamily="34" charset="0"/>
              </a:rPr>
              <a:t>Public</a:t>
            </a:r>
            <a:r>
              <a:rPr lang="en-PH" sz="2400" b="0" i="0" u="none" strike="noStrike" dirty="0">
                <a:solidFill>
                  <a:srgbClr val="000000"/>
                </a:solidFill>
                <a:effectLst/>
                <a:latin typeface="Arial" panose="020B0604020202020204" pitchFamily="34" charset="0"/>
                <a:cs typeface="Arial" panose="020B0604020202020204" pitchFamily="34" charset="0"/>
              </a:rPr>
              <a:t>: Openly accessible information.</a:t>
            </a:r>
            <a:endParaRPr lang="en-PH" sz="2400" dirty="0">
              <a:effectLst/>
              <a:latin typeface="Arial" panose="020B0604020202020204" pitchFamily="34" charset="0"/>
              <a:cs typeface="Arial" panose="020B0604020202020204" pitchFamily="34" charset="0"/>
            </a:endParaRPr>
          </a:p>
          <a:p>
            <a:pPr rtl="0"/>
            <a:r>
              <a:rPr lang="en-PH" sz="2400" b="1" dirty="0">
                <a:solidFill>
                  <a:srgbClr val="000000"/>
                </a:solidFill>
                <a:latin typeface="Arial" panose="020B0604020202020204" pitchFamily="34" charset="0"/>
                <a:cs typeface="Arial" panose="020B0604020202020204" pitchFamily="34" charset="0"/>
              </a:rPr>
              <a:t>I</a:t>
            </a:r>
            <a:r>
              <a:rPr lang="en-PH" sz="2400" b="1" i="0" u="none" strike="noStrike" dirty="0">
                <a:solidFill>
                  <a:srgbClr val="000000"/>
                </a:solidFill>
                <a:effectLst/>
                <a:latin typeface="Arial" panose="020B0604020202020204" pitchFamily="34" charset="0"/>
                <a:cs typeface="Arial" panose="020B0604020202020204" pitchFamily="34" charset="0"/>
              </a:rPr>
              <a:t>nternal/Confidential:</a:t>
            </a:r>
            <a:r>
              <a:rPr lang="en-PH" sz="2400" b="0" i="0" u="none" strike="noStrike" dirty="0">
                <a:solidFill>
                  <a:srgbClr val="000000"/>
                </a:solidFill>
                <a:effectLst/>
                <a:latin typeface="Arial" panose="020B0604020202020204" pitchFamily="34" charset="0"/>
                <a:cs typeface="Arial" panose="020B0604020202020204" pitchFamily="34" charset="0"/>
              </a:rPr>
              <a:t> Limited access, moderate sensitivity.</a:t>
            </a:r>
            <a:endParaRPr lang="en-PH" sz="2400" dirty="0">
              <a:effectLst/>
              <a:latin typeface="Arial" panose="020B0604020202020204" pitchFamily="34" charset="0"/>
              <a:cs typeface="Arial" panose="020B0604020202020204" pitchFamily="34" charset="0"/>
            </a:endParaRPr>
          </a:p>
          <a:p>
            <a:pPr rtl="0"/>
            <a:r>
              <a:rPr lang="en-PH" sz="2400" b="1" i="0" u="none" strike="noStrike" dirty="0">
                <a:solidFill>
                  <a:srgbClr val="000000"/>
                </a:solidFill>
                <a:effectLst/>
                <a:latin typeface="Arial" panose="020B0604020202020204" pitchFamily="34" charset="0"/>
                <a:cs typeface="Arial" panose="020B0604020202020204" pitchFamily="34" charset="0"/>
              </a:rPr>
              <a:t>Sensitive</a:t>
            </a:r>
            <a:r>
              <a:rPr lang="en-PH" sz="2400" b="0" i="0" u="none" strike="noStrike" dirty="0">
                <a:solidFill>
                  <a:srgbClr val="000000"/>
                </a:solidFill>
                <a:effectLst/>
                <a:latin typeface="Arial" panose="020B0604020202020204" pitchFamily="34" charset="0"/>
                <a:cs typeface="Arial" panose="020B0604020202020204" pitchFamily="34" charset="0"/>
              </a:rPr>
              <a:t>: Potential for harm if breached.</a:t>
            </a:r>
            <a:endParaRPr lang="en-PH" sz="2400" dirty="0">
              <a:effectLst/>
              <a:latin typeface="Arial" panose="020B0604020202020204" pitchFamily="34" charset="0"/>
              <a:cs typeface="Arial" panose="020B0604020202020204" pitchFamily="34" charset="0"/>
            </a:endParaRPr>
          </a:p>
          <a:p>
            <a:pPr rtl="0"/>
            <a:r>
              <a:rPr lang="en-PH" sz="2400" b="1" i="0" u="none" strike="noStrike" dirty="0">
                <a:solidFill>
                  <a:srgbClr val="000000"/>
                </a:solidFill>
                <a:effectLst/>
                <a:latin typeface="Arial" panose="020B0604020202020204" pitchFamily="34" charset="0"/>
                <a:cs typeface="Arial" panose="020B0604020202020204" pitchFamily="34" charset="0"/>
              </a:rPr>
              <a:t>Restricted/Highly Confidential:</a:t>
            </a:r>
            <a:r>
              <a:rPr lang="en-PH" sz="2400" b="0" i="0" u="none" strike="noStrike" dirty="0">
                <a:solidFill>
                  <a:srgbClr val="000000"/>
                </a:solidFill>
                <a:effectLst/>
                <a:latin typeface="Arial" panose="020B0604020202020204" pitchFamily="34" charset="0"/>
                <a:cs typeface="Arial" panose="020B0604020202020204" pitchFamily="34" charset="0"/>
              </a:rPr>
              <a:t> Highest security level, minimal access.</a:t>
            </a:r>
            <a:endParaRPr lang="en-PH" sz="2400" dirty="0">
              <a:effectLst/>
              <a:latin typeface="Arial" panose="020B0604020202020204" pitchFamily="34" charset="0"/>
              <a:cs typeface="Arial" panose="020B0604020202020204" pitchFamily="34" charset="0"/>
            </a:endParaRPr>
          </a:p>
          <a:p>
            <a:pPr marL="0" indent="0" rtl="0">
              <a:buNone/>
            </a:pPr>
            <a:endParaRPr lang="en-PH" sz="2400" dirty="0"/>
          </a:p>
          <a:p>
            <a:pPr marL="0" indent="0" algn="ctr" rtl="0">
              <a:buNone/>
            </a:pPr>
            <a:r>
              <a:rPr lang="en-PH" sz="2400" b="1" i="0" u="none" strike="noStrike" dirty="0">
                <a:solidFill>
                  <a:srgbClr val="000000"/>
                </a:solidFill>
                <a:effectLst/>
                <a:latin typeface="Google Sans"/>
              </a:rPr>
              <a:t>Data Classification Techniques</a:t>
            </a:r>
          </a:p>
          <a:p>
            <a:pPr marL="0" indent="0" algn="ctr" rtl="0">
              <a:buNone/>
            </a:pPr>
            <a:endParaRPr lang="en-PH" sz="2400" b="1" dirty="0">
              <a:effectLst/>
            </a:endParaRPr>
          </a:p>
          <a:p>
            <a:pPr rtl="0"/>
            <a:r>
              <a:rPr lang="en-PH" sz="2400" b="1" i="0" u="none" strike="noStrike" dirty="0">
                <a:solidFill>
                  <a:srgbClr val="000000"/>
                </a:solidFill>
                <a:effectLst/>
                <a:latin typeface="Google Sans"/>
              </a:rPr>
              <a:t>Automated Classification:</a:t>
            </a:r>
            <a:r>
              <a:rPr lang="en-PH" sz="2400" b="0" i="0" u="none" strike="noStrike" dirty="0">
                <a:solidFill>
                  <a:srgbClr val="000000"/>
                </a:solidFill>
                <a:effectLst/>
                <a:latin typeface="Google Sans"/>
              </a:rPr>
              <a:t> Uses AI and machine learning.</a:t>
            </a:r>
            <a:endParaRPr lang="en-PH" sz="2400" dirty="0">
              <a:effectLst/>
            </a:endParaRPr>
          </a:p>
          <a:p>
            <a:r>
              <a:rPr lang="en-PH" sz="2400" b="1" i="0" u="none" strike="noStrike" dirty="0">
                <a:solidFill>
                  <a:srgbClr val="000000"/>
                </a:solidFill>
                <a:effectLst/>
                <a:latin typeface="Google Sans"/>
              </a:rPr>
              <a:t>Manual Classification</a:t>
            </a:r>
            <a:r>
              <a:rPr lang="en-PH" sz="2400" b="0" i="0" u="none" strike="noStrike" dirty="0">
                <a:solidFill>
                  <a:srgbClr val="000000"/>
                </a:solidFill>
                <a:effectLst/>
                <a:latin typeface="Google Sans"/>
              </a:rPr>
              <a:t>: Human-based classification, often policy-driven.</a:t>
            </a:r>
            <a:endParaRPr lang="en-PH" sz="2400" dirty="0">
              <a:effectLst/>
            </a:endParaRPr>
          </a:p>
          <a:p>
            <a:pPr rtl="0"/>
            <a:r>
              <a:rPr lang="en-PH" sz="2400" b="1" i="0" u="none" strike="noStrike" dirty="0">
                <a:solidFill>
                  <a:srgbClr val="000000"/>
                </a:solidFill>
                <a:effectLst/>
                <a:latin typeface="Google Sans"/>
              </a:rPr>
              <a:t>Role-Based Classification</a:t>
            </a:r>
            <a:r>
              <a:rPr lang="en-PH" sz="2400" b="0" i="0" u="none" strike="noStrike" dirty="0">
                <a:solidFill>
                  <a:srgbClr val="000000"/>
                </a:solidFill>
                <a:effectLst/>
                <a:latin typeface="Google Sans"/>
              </a:rPr>
              <a:t>: Access based on user roles.</a:t>
            </a:r>
            <a:endParaRPr lang="en-PH" sz="2400" dirty="0">
              <a:effectLst/>
            </a:endParaRPr>
          </a:p>
          <a:p>
            <a:pPr marL="0" indent="0" rtl="0">
              <a:buNone/>
            </a:pPr>
            <a:endParaRPr lang="en-US" sz="2400" dirty="0"/>
          </a:p>
        </p:txBody>
      </p:sp>
    </p:spTree>
    <p:extLst>
      <p:ext uri="{BB962C8B-B14F-4D97-AF65-F5344CB8AC3E}">
        <p14:creationId xmlns:p14="http://schemas.microsoft.com/office/powerpoint/2010/main" val="2891782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B5514-A65C-0DDC-7AA1-92AF008EFE55}"/>
              </a:ext>
            </a:extLst>
          </p:cNvPr>
          <p:cNvSpPr>
            <a:spLocks noGrp="1"/>
          </p:cNvSpPr>
          <p:nvPr>
            <p:ph type="title"/>
          </p:nvPr>
        </p:nvSpPr>
        <p:spPr>
          <a:xfrm>
            <a:off x="964407" y="736188"/>
            <a:ext cx="10058400" cy="1609344"/>
          </a:xfrm>
        </p:spPr>
        <p:txBody>
          <a:bodyPr/>
          <a:lstStyle/>
          <a:p>
            <a:pPr algn="ctr"/>
            <a:r>
              <a:rPr lang="en-PH" sz="4000" b="1" dirty="0">
                <a:latin typeface="Arial" panose="020B0604020202020204" pitchFamily="34" charset="0"/>
                <a:cs typeface="Arial" panose="020B0604020202020204" pitchFamily="34" charset="0"/>
              </a:rPr>
              <a:t>Data labeling</a:t>
            </a:r>
            <a:r>
              <a:rPr lang="en-PH" b="1" dirty="0"/>
              <a:t> </a:t>
            </a:r>
            <a:endParaRPr lang="en-US" b="1" dirty="0"/>
          </a:p>
        </p:txBody>
      </p:sp>
      <p:sp>
        <p:nvSpPr>
          <p:cNvPr id="3" name="Content Placeholder 2">
            <a:extLst>
              <a:ext uri="{FF2B5EF4-FFF2-40B4-BE49-F238E27FC236}">
                <a16:creationId xmlns:a16="http://schemas.microsoft.com/office/drawing/2014/main" id="{ABCE7023-7340-C80B-AB08-6B6F84F0C05C}"/>
              </a:ext>
            </a:extLst>
          </p:cNvPr>
          <p:cNvSpPr>
            <a:spLocks noGrp="1"/>
          </p:cNvSpPr>
          <p:nvPr>
            <p:ph idx="1"/>
          </p:nvPr>
        </p:nvSpPr>
        <p:spPr>
          <a:xfrm>
            <a:off x="791766" y="3226594"/>
            <a:ext cx="10608468" cy="4964906"/>
          </a:xfrm>
        </p:spPr>
        <p:txBody>
          <a:bodyPr>
            <a:normAutofit/>
          </a:bodyPr>
          <a:lstStyle/>
          <a:p>
            <a:pPr rtl="0"/>
            <a:r>
              <a:rPr lang="en-PH" sz="2400" b="0" i="0" u="none" strike="noStrike" dirty="0">
                <a:solidFill>
                  <a:srgbClr val="000000"/>
                </a:solidFill>
                <a:effectLst/>
                <a:latin typeface="Arial" panose="020B0604020202020204" pitchFamily="34" charset="0"/>
                <a:cs typeface="Arial" panose="020B0604020202020204" pitchFamily="34" charset="0"/>
              </a:rPr>
              <a:t>Data Labeling involves tagging or marking data with metadata to indicate its classification level and handling requirements, ensuring that users and systems treat it according to its sensitivity.</a:t>
            </a:r>
          </a:p>
          <a:p>
            <a:pPr marL="0" indent="0" rtl="0">
              <a:buNone/>
            </a:pPr>
            <a:endParaRPr lang="en-PH" sz="2400" dirty="0">
              <a:solidFill>
                <a:srgbClr val="000000"/>
              </a:solidFill>
              <a:latin typeface="Arial" panose="020B0604020202020204" pitchFamily="34" charset="0"/>
              <a:cs typeface="Arial" panose="020B0604020202020204" pitchFamily="34" charset="0"/>
            </a:endParaRPr>
          </a:p>
          <a:p>
            <a:pPr marL="0" indent="0" rtl="0">
              <a:buNone/>
            </a:pPr>
            <a:endParaRPr lang="en-PH" sz="2400" dirty="0">
              <a:effectLst/>
              <a:latin typeface="Arial" panose="020B0604020202020204" pitchFamily="34" charset="0"/>
              <a:cs typeface="Arial" panose="020B0604020202020204" pitchFamily="34" charset="0"/>
            </a:endParaRPr>
          </a:p>
          <a:p>
            <a:pPr marL="0" indent="0" rtl="0">
              <a:buNone/>
            </a:pPr>
            <a:endParaRPr lang="en-PH" b="1"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1420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E8909BF-1F6E-A816-8294-082E537A9541}"/>
              </a:ext>
            </a:extLst>
          </p:cNvPr>
          <p:cNvSpPr>
            <a:spLocks noGrp="1"/>
          </p:cNvSpPr>
          <p:nvPr>
            <p:ph idx="1"/>
          </p:nvPr>
        </p:nvSpPr>
        <p:spPr>
          <a:xfrm>
            <a:off x="479821" y="1238250"/>
            <a:ext cx="11232357" cy="5231606"/>
          </a:xfrm>
        </p:spPr>
        <p:txBody>
          <a:bodyPr>
            <a:normAutofit fontScale="92500" lnSpcReduction="20000"/>
          </a:bodyPr>
          <a:lstStyle/>
          <a:p>
            <a:pPr marL="0" indent="0" algn="ctr" rtl="0">
              <a:buNone/>
            </a:pPr>
            <a:r>
              <a:rPr lang="en-PH" sz="2600" b="1" i="0" u="none" strike="noStrike" dirty="0">
                <a:solidFill>
                  <a:srgbClr val="000000"/>
                </a:solidFill>
                <a:effectLst/>
                <a:latin typeface="Arial" panose="020B0604020202020204" pitchFamily="34" charset="0"/>
                <a:cs typeface="Arial" panose="020B0604020202020204" pitchFamily="34" charset="0"/>
              </a:rPr>
              <a:t>Types of Data Labels</a:t>
            </a:r>
          </a:p>
          <a:p>
            <a:pPr marL="0" indent="0" algn="ctr" rtl="0">
              <a:buNone/>
            </a:pPr>
            <a:endParaRPr lang="en-PH" sz="2600" b="1" dirty="0">
              <a:effectLst/>
              <a:latin typeface="Arial" panose="020B0604020202020204" pitchFamily="34" charset="0"/>
              <a:cs typeface="Arial" panose="020B0604020202020204" pitchFamily="34" charset="0"/>
            </a:endParaRPr>
          </a:p>
          <a:p>
            <a:pPr rtl="0"/>
            <a:r>
              <a:rPr lang="en-PH" sz="2600" b="1" i="0" u="none" strike="noStrike" dirty="0">
                <a:solidFill>
                  <a:srgbClr val="000000"/>
                </a:solidFill>
                <a:effectLst/>
                <a:latin typeface="Arial" panose="020B0604020202020204" pitchFamily="34" charset="0"/>
                <a:cs typeface="Arial" panose="020B0604020202020204" pitchFamily="34" charset="0"/>
              </a:rPr>
              <a:t>Confidentiality Labels:</a:t>
            </a:r>
            <a:r>
              <a:rPr lang="en-PH" sz="2600" b="0" i="0" u="none" strike="noStrike" dirty="0">
                <a:solidFill>
                  <a:srgbClr val="000000"/>
                </a:solidFill>
                <a:effectLst/>
                <a:latin typeface="Arial" panose="020B0604020202020204" pitchFamily="34" charset="0"/>
                <a:cs typeface="Arial" panose="020B0604020202020204" pitchFamily="34" charset="0"/>
              </a:rPr>
              <a:t> Indicate sensitivity level (e.g., “Public,” “Confidential”).</a:t>
            </a:r>
            <a:endParaRPr lang="en-PH" sz="2600" dirty="0">
              <a:effectLst/>
              <a:latin typeface="Arial" panose="020B0604020202020204" pitchFamily="34" charset="0"/>
              <a:cs typeface="Arial" panose="020B0604020202020204" pitchFamily="34" charset="0"/>
            </a:endParaRPr>
          </a:p>
          <a:p>
            <a:pPr rtl="0"/>
            <a:r>
              <a:rPr lang="en-PH" sz="2600" b="1" i="0" u="none" strike="noStrike" dirty="0">
                <a:solidFill>
                  <a:srgbClr val="000000"/>
                </a:solidFill>
                <a:effectLst/>
                <a:latin typeface="Arial" panose="020B0604020202020204" pitchFamily="34" charset="0"/>
                <a:cs typeface="Arial" panose="020B0604020202020204" pitchFamily="34" charset="0"/>
              </a:rPr>
              <a:t>Retention Labels:</a:t>
            </a:r>
            <a:r>
              <a:rPr lang="en-PH" sz="2600" b="0" i="0" u="none" strike="noStrike" dirty="0">
                <a:solidFill>
                  <a:srgbClr val="000000"/>
                </a:solidFill>
                <a:effectLst/>
                <a:latin typeface="Arial" panose="020B0604020202020204" pitchFamily="34" charset="0"/>
                <a:cs typeface="Arial" panose="020B0604020202020204" pitchFamily="34" charset="0"/>
              </a:rPr>
              <a:t> Define retention period and deletion timelines.</a:t>
            </a:r>
            <a:endParaRPr lang="en-PH" sz="2600" dirty="0">
              <a:effectLst/>
              <a:latin typeface="Arial" panose="020B0604020202020204" pitchFamily="34" charset="0"/>
              <a:cs typeface="Arial" panose="020B0604020202020204" pitchFamily="34" charset="0"/>
            </a:endParaRPr>
          </a:p>
          <a:p>
            <a:r>
              <a:rPr lang="en-PH" sz="2600" b="1" i="0" u="none" strike="noStrike" dirty="0">
                <a:solidFill>
                  <a:srgbClr val="000000"/>
                </a:solidFill>
                <a:effectLst/>
                <a:latin typeface="Arial" panose="020B0604020202020204" pitchFamily="34" charset="0"/>
                <a:cs typeface="Arial" panose="020B0604020202020204" pitchFamily="34" charset="0"/>
              </a:rPr>
              <a:t>Handling Labels</a:t>
            </a:r>
            <a:r>
              <a:rPr lang="en-PH" sz="2600" b="0" i="0" u="none" strike="noStrike" dirty="0">
                <a:solidFill>
                  <a:srgbClr val="000000"/>
                </a:solidFill>
                <a:effectLst/>
                <a:latin typeface="Arial" panose="020B0604020202020204" pitchFamily="34" charset="0"/>
                <a:cs typeface="Arial" panose="020B0604020202020204" pitchFamily="34" charset="0"/>
              </a:rPr>
              <a:t>: Specify handling rules (e.g., “Encrypt before sharing”).</a:t>
            </a:r>
          </a:p>
          <a:p>
            <a:pPr marL="0" indent="0">
              <a:buNone/>
            </a:pPr>
            <a:endParaRPr lang="en-PH" sz="2600" dirty="0">
              <a:effectLst/>
              <a:latin typeface="Arial" panose="020B0604020202020204" pitchFamily="34" charset="0"/>
              <a:cs typeface="Arial" panose="020B0604020202020204" pitchFamily="34" charset="0"/>
            </a:endParaRPr>
          </a:p>
          <a:p>
            <a:pPr marL="0" indent="0" algn="ctr" rtl="0">
              <a:buNone/>
            </a:pPr>
            <a:br>
              <a:rPr lang="en-PH" sz="2600" dirty="0">
                <a:latin typeface="Arial" panose="020B0604020202020204" pitchFamily="34" charset="0"/>
                <a:cs typeface="Arial" panose="020B0604020202020204" pitchFamily="34" charset="0"/>
              </a:rPr>
            </a:br>
            <a:r>
              <a:rPr lang="en-PH" sz="2600" b="1" i="0" u="none" strike="noStrike" dirty="0">
                <a:solidFill>
                  <a:srgbClr val="000000"/>
                </a:solidFill>
                <a:effectLst/>
                <a:latin typeface="Arial" panose="020B0604020202020204" pitchFamily="34" charset="0"/>
                <a:cs typeface="Arial" panose="020B0604020202020204" pitchFamily="34" charset="0"/>
              </a:rPr>
              <a:t>Labeling Techniques</a:t>
            </a:r>
          </a:p>
          <a:p>
            <a:pPr marL="0" indent="0" algn="ctr" rtl="0">
              <a:buNone/>
            </a:pPr>
            <a:endParaRPr lang="en-PH" sz="2600" b="1" dirty="0">
              <a:effectLst/>
              <a:latin typeface="Arial" panose="020B0604020202020204" pitchFamily="34" charset="0"/>
              <a:cs typeface="Arial" panose="020B0604020202020204" pitchFamily="34" charset="0"/>
            </a:endParaRPr>
          </a:p>
          <a:p>
            <a:pPr rtl="0"/>
            <a:r>
              <a:rPr lang="en-PH" sz="2600" b="1" i="0" u="none" strike="noStrike" dirty="0">
                <a:solidFill>
                  <a:srgbClr val="000000"/>
                </a:solidFill>
                <a:effectLst/>
                <a:latin typeface="Arial" panose="020B0604020202020204" pitchFamily="34" charset="0"/>
                <a:cs typeface="Arial" panose="020B0604020202020204" pitchFamily="34" charset="0"/>
              </a:rPr>
              <a:t>Manual Labeling</a:t>
            </a:r>
            <a:r>
              <a:rPr lang="en-PH" sz="2600" b="0" i="0" u="none" strike="noStrike" dirty="0">
                <a:solidFill>
                  <a:srgbClr val="000000"/>
                </a:solidFill>
                <a:effectLst/>
                <a:latin typeface="Arial" panose="020B0604020202020204" pitchFamily="34" charset="0"/>
                <a:cs typeface="Arial" panose="020B0604020202020204" pitchFamily="34" charset="0"/>
              </a:rPr>
              <a:t>: Labels added by users based on data sensitivity.</a:t>
            </a:r>
            <a:endParaRPr lang="en-PH" sz="2600" dirty="0">
              <a:effectLst/>
              <a:latin typeface="Arial" panose="020B0604020202020204" pitchFamily="34" charset="0"/>
              <a:cs typeface="Arial" panose="020B0604020202020204" pitchFamily="34" charset="0"/>
            </a:endParaRPr>
          </a:p>
          <a:p>
            <a:pPr rtl="0"/>
            <a:r>
              <a:rPr lang="en-PH" sz="2600" b="1" i="0" u="none" strike="noStrike" dirty="0">
                <a:solidFill>
                  <a:srgbClr val="000000"/>
                </a:solidFill>
                <a:effectLst/>
                <a:latin typeface="Arial" panose="020B0604020202020204" pitchFamily="34" charset="0"/>
                <a:cs typeface="Arial" panose="020B0604020202020204" pitchFamily="34" charset="0"/>
              </a:rPr>
              <a:t>Automated Labeling: </a:t>
            </a:r>
            <a:r>
              <a:rPr lang="en-PH" sz="2600" b="0" i="0" u="none" strike="noStrike" dirty="0">
                <a:solidFill>
                  <a:srgbClr val="000000"/>
                </a:solidFill>
                <a:effectLst/>
                <a:latin typeface="Arial" panose="020B0604020202020204" pitchFamily="34" charset="0"/>
                <a:cs typeface="Arial" panose="020B0604020202020204" pitchFamily="34" charset="0"/>
              </a:rPr>
              <a:t>Uses rules and algorithms to assign labels consistently.</a:t>
            </a:r>
            <a:endParaRPr lang="en-PH" sz="2600" dirty="0">
              <a:effectLst/>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500860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7D46C-5776-2E5F-FB9E-DDF29A1C479C}"/>
              </a:ext>
            </a:extLst>
          </p:cNvPr>
          <p:cNvSpPr>
            <a:spLocks noGrp="1"/>
          </p:cNvSpPr>
          <p:nvPr>
            <p:ph type="title"/>
          </p:nvPr>
        </p:nvSpPr>
        <p:spPr>
          <a:xfrm>
            <a:off x="1066800" y="663226"/>
            <a:ext cx="10058400" cy="1609344"/>
          </a:xfrm>
        </p:spPr>
        <p:txBody>
          <a:bodyPr>
            <a:normAutofit/>
          </a:bodyPr>
          <a:lstStyle/>
          <a:p>
            <a:pPr algn="ctr"/>
            <a:r>
              <a:rPr lang="en-PH" sz="2800" b="1" dirty="0">
                <a:latin typeface="Arial" panose="020B0604020202020204" pitchFamily="34" charset="0"/>
                <a:cs typeface="Arial" panose="020B0604020202020204" pitchFamily="34" charset="0"/>
              </a:rPr>
              <a:t>Importance of data classification and labeling in security</a:t>
            </a:r>
            <a:endParaRPr lang="en-US"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EA85FE8-3A2F-8070-086A-0AD9E44AA109}"/>
              </a:ext>
            </a:extLst>
          </p:cNvPr>
          <p:cNvSpPr>
            <a:spLocks noGrp="1"/>
          </p:cNvSpPr>
          <p:nvPr>
            <p:ph idx="1"/>
          </p:nvPr>
        </p:nvSpPr>
        <p:spPr>
          <a:xfrm>
            <a:off x="1474660" y="2272570"/>
            <a:ext cx="10058400" cy="4050792"/>
          </a:xfrm>
        </p:spPr>
        <p:txBody>
          <a:bodyPr>
            <a:normAutofit/>
          </a:bodyPr>
          <a:lstStyle/>
          <a:p>
            <a:pPr marL="0" indent="0" rtl="0">
              <a:buNone/>
            </a:pPr>
            <a:endParaRPr lang="en-PH" dirty="0">
              <a:effectLst/>
            </a:endParaRPr>
          </a:p>
          <a:p>
            <a:pPr rtl="0"/>
            <a:r>
              <a:rPr lang="en-PH" b="1" i="0" u="none" strike="noStrike" dirty="0">
                <a:solidFill>
                  <a:srgbClr val="000000"/>
                </a:solidFill>
                <a:effectLst/>
                <a:latin typeface="Arial" panose="020B0604020202020204" pitchFamily="34" charset="0"/>
                <a:cs typeface="Arial" panose="020B0604020202020204" pitchFamily="34" charset="0"/>
              </a:rPr>
              <a:t>Access Control:</a:t>
            </a:r>
            <a:r>
              <a:rPr lang="en-PH" b="0" i="0" u="none" strike="noStrike" dirty="0">
                <a:solidFill>
                  <a:srgbClr val="000000"/>
                </a:solidFill>
                <a:effectLst/>
                <a:latin typeface="Arial" panose="020B0604020202020204" pitchFamily="34" charset="0"/>
                <a:cs typeface="Arial" panose="020B0604020202020204" pitchFamily="34" charset="0"/>
              </a:rPr>
              <a:t> Enforces who can access what data.</a:t>
            </a:r>
          </a:p>
          <a:p>
            <a:pPr rtl="0"/>
            <a:endParaRPr lang="en-PH" dirty="0">
              <a:effectLst/>
              <a:latin typeface="Arial" panose="020B0604020202020204" pitchFamily="34" charset="0"/>
              <a:cs typeface="Arial" panose="020B0604020202020204" pitchFamily="34" charset="0"/>
            </a:endParaRPr>
          </a:p>
          <a:p>
            <a:pPr rtl="0"/>
            <a:r>
              <a:rPr lang="en-PH" b="1" i="0" u="none" strike="noStrike" dirty="0">
                <a:solidFill>
                  <a:srgbClr val="000000"/>
                </a:solidFill>
                <a:effectLst/>
                <a:latin typeface="Arial" panose="020B0604020202020204" pitchFamily="34" charset="0"/>
                <a:cs typeface="Arial" panose="020B0604020202020204" pitchFamily="34" charset="0"/>
              </a:rPr>
              <a:t>Data Loss Prevention (DLP):</a:t>
            </a:r>
            <a:r>
              <a:rPr lang="en-PH" b="0" i="0" u="none" strike="noStrike" dirty="0">
                <a:solidFill>
                  <a:srgbClr val="000000"/>
                </a:solidFill>
                <a:effectLst/>
                <a:latin typeface="Arial" panose="020B0604020202020204" pitchFamily="34" charset="0"/>
                <a:cs typeface="Arial" panose="020B0604020202020204" pitchFamily="34" charset="0"/>
              </a:rPr>
              <a:t> Helps prevent data breaches and unauthorized sharing.</a:t>
            </a:r>
          </a:p>
          <a:p>
            <a:pPr rtl="0"/>
            <a:endParaRPr lang="en-PH" dirty="0">
              <a:effectLst/>
              <a:latin typeface="Arial" panose="020B0604020202020204" pitchFamily="34" charset="0"/>
              <a:cs typeface="Arial" panose="020B0604020202020204" pitchFamily="34" charset="0"/>
            </a:endParaRPr>
          </a:p>
          <a:p>
            <a:pPr rtl="0"/>
            <a:r>
              <a:rPr lang="en-PH" b="1" i="0" u="none" strike="noStrike" dirty="0">
                <a:solidFill>
                  <a:srgbClr val="000000"/>
                </a:solidFill>
                <a:effectLst/>
                <a:latin typeface="Arial" panose="020B0604020202020204" pitchFamily="34" charset="0"/>
                <a:cs typeface="Arial" panose="020B0604020202020204" pitchFamily="34" charset="0"/>
              </a:rPr>
              <a:t>Compliance</a:t>
            </a:r>
            <a:r>
              <a:rPr lang="en-PH" b="0" i="0" u="none" strike="noStrike" dirty="0">
                <a:solidFill>
                  <a:srgbClr val="000000"/>
                </a:solidFill>
                <a:effectLst/>
                <a:latin typeface="Arial" panose="020B0604020202020204" pitchFamily="34" charset="0"/>
                <a:cs typeface="Arial" panose="020B0604020202020204" pitchFamily="34" charset="0"/>
              </a:rPr>
              <a:t>: Ensures adherence to regulations like GDPR, HIPAA, CCPA.</a:t>
            </a:r>
          </a:p>
          <a:p>
            <a:pPr marL="0" indent="0" rtl="0">
              <a:buNone/>
            </a:pPr>
            <a:endParaRPr lang="en-PH" dirty="0">
              <a:effectLst/>
              <a:latin typeface="Arial" panose="020B0604020202020204" pitchFamily="34" charset="0"/>
              <a:cs typeface="Arial" panose="020B0604020202020204" pitchFamily="34" charset="0"/>
            </a:endParaRPr>
          </a:p>
          <a:p>
            <a:pPr rtl="0"/>
            <a:r>
              <a:rPr lang="en-PH" b="1" i="0" u="none" strike="noStrike" dirty="0">
                <a:solidFill>
                  <a:srgbClr val="000000"/>
                </a:solidFill>
                <a:effectLst/>
                <a:latin typeface="Arial" panose="020B0604020202020204" pitchFamily="34" charset="0"/>
                <a:cs typeface="Arial" panose="020B0604020202020204" pitchFamily="34" charset="0"/>
              </a:rPr>
              <a:t>Incident Response</a:t>
            </a:r>
            <a:r>
              <a:rPr lang="en-PH" b="0" i="0" u="none" strike="noStrike" dirty="0">
                <a:solidFill>
                  <a:srgbClr val="000000"/>
                </a:solidFill>
                <a:effectLst/>
                <a:latin typeface="Arial" panose="020B0604020202020204" pitchFamily="34" charset="0"/>
                <a:cs typeface="Arial" panose="020B0604020202020204" pitchFamily="34" charset="0"/>
              </a:rPr>
              <a:t>: Facilitates risk assessment and prioritization during security incidents.</a:t>
            </a:r>
            <a:endParaRPr lang="en-PH" dirty="0">
              <a:effectLst/>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9317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428FA-0A44-70BC-B6AE-1CF09EB34501}"/>
              </a:ext>
            </a:extLst>
          </p:cNvPr>
          <p:cNvSpPr>
            <a:spLocks noGrp="1"/>
          </p:cNvSpPr>
          <p:nvPr>
            <p:ph type="title"/>
          </p:nvPr>
        </p:nvSpPr>
        <p:spPr>
          <a:xfrm>
            <a:off x="1066800" y="782288"/>
            <a:ext cx="10058400" cy="1609344"/>
          </a:xfrm>
        </p:spPr>
        <p:txBody>
          <a:bodyPr>
            <a:normAutofit/>
          </a:bodyPr>
          <a:lstStyle/>
          <a:p>
            <a:pPr algn="ctr"/>
            <a:r>
              <a:rPr lang="en-PH" sz="3200" b="1" dirty="0">
                <a:latin typeface="Arial" panose="020B0604020202020204" pitchFamily="34" charset="0"/>
                <a:cs typeface="Arial" panose="020B0604020202020204" pitchFamily="34" charset="0"/>
              </a:rPr>
              <a:t>Implementing data classification and labeling</a:t>
            </a:r>
            <a:endParaRPr lang="en-US" sz="32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04544B6-DADD-A7E2-2539-28F1D19E83DE}"/>
              </a:ext>
            </a:extLst>
          </p:cNvPr>
          <p:cNvSpPr>
            <a:spLocks noGrp="1"/>
          </p:cNvSpPr>
          <p:nvPr>
            <p:ph idx="1"/>
          </p:nvPr>
        </p:nvSpPr>
        <p:spPr>
          <a:xfrm>
            <a:off x="1340644" y="2585752"/>
            <a:ext cx="10058400" cy="4050792"/>
          </a:xfrm>
        </p:spPr>
        <p:txBody>
          <a:bodyPr/>
          <a:lstStyle/>
          <a:p>
            <a:pPr marL="0" indent="0" rtl="0">
              <a:buNone/>
            </a:pPr>
            <a:endParaRPr lang="en-PH" dirty="0">
              <a:effectLst/>
            </a:endParaRPr>
          </a:p>
          <a:p>
            <a:pPr rtl="0"/>
            <a:r>
              <a:rPr lang="en-PH" b="1" i="0" u="none" strike="noStrike" dirty="0">
                <a:solidFill>
                  <a:srgbClr val="000000"/>
                </a:solidFill>
                <a:effectLst/>
                <a:latin typeface="Arial" panose="020B0604020202020204" pitchFamily="34" charset="0"/>
                <a:cs typeface="Arial" panose="020B0604020202020204" pitchFamily="34" charset="0"/>
              </a:rPr>
              <a:t>Data</a:t>
            </a:r>
            <a:r>
              <a:rPr lang="en-PH" b="0" i="0" u="none" strike="noStrike" dirty="0">
                <a:solidFill>
                  <a:srgbClr val="000000"/>
                </a:solidFill>
                <a:effectLst/>
                <a:latin typeface="Arial" panose="020B0604020202020204" pitchFamily="34" charset="0"/>
                <a:cs typeface="Arial" panose="020B0604020202020204" pitchFamily="34" charset="0"/>
              </a:rPr>
              <a:t> </a:t>
            </a:r>
            <a:r>
              <a:rPr lang="en-PH" b="1" i="0" u="none" strike="noStrike" dirty="0">
                <a:solidFill>
                  <a:srgbClr val="000000"/>
                </a:solidFill>
                <a:effectLst/>
                <a:latin typeface="Arial" panose="020B0604020202020204" pitchFamily="34" charset="0"/>
                <a:cs typeface="Arial" panose="020B0604020202020204" pitchFamily="34" charset="0"/>
              </a:rPr>
              <a:t>Inventory</a:t>
            </a:r>
            <a:r>
              <a:rPr lang="en-PH" b="0" i="0" u="none" strike="noStrike" dirty="0">
                <a:solidFill>
                  <a:srgbClr val="000000"/>
                </a:solidFill>
                <a:effectLst/>
                <a:latin typeface="Arial" panose="020B0604020202020204" pitchFamily="34" charset="0"/>
                <a:cs typeface="Arial" panose="020B0604020202020204" pitchFamily="34" charset="0"/>
              </a:rPr>
              <a:t>: Identify data assets and sensitivity.</a:t>
            </a:r>
          </a:p>
          <a:p>
            <a:pPr marL="0" indent="0" rtl="0">
              <a:buNone/>
            </a:pPr>
            <a:endParaRPr lang="en-PH" dirty="0">
              <a:effectLst/>
              <a:latin typeface="Arial" panose="020B0604020202020204" pitchFamily="34" charset="0"/>
              <a:cs typeface="Arial" panose="020B0604020202020204" pitchFamily="34" charset="0"/>
            </a:endParaRPr>
          </a:p>
          <a:p>
            <a:pPr rtl="0"/>
            <a:r>
              <a:rPr lang="en-PH" b="1" i="0" u="none" strike="noStrike" dirty="0">
                <a:solidFill>
                  <a:srgbClr val="000000"/>
                </a:solidFill>
                <a:effectLst/>
                <a:latin typeface="Arial" panose="020B0604020202020204" pitchFamily="34" charset="0"/>
                <a:cs typeface="Arial" panose="020B0604020202020204" pitchFamily="34" charset="0"/>
              </a:rPr>
              <a:t>Policies</a:t>
            </a:r>
            <a:r>
              <a:rPr lang="en-PH" b="0" i="0" u="none" strike="noStrike" dirty="0">
                <a:solidFill>
                  <a:srgbClr val="000000"/>
                </a:solidFill>
                <a:effectLst/>
                <a:latin typeface="Arial" panose="020B0604020202020204" pitchFamily="34" charset="0"/>
                <a:cs typeface="Arial" panose="020B0604020202020204" pitchFamily="34" charset="0"/>
              </a:rPr>
              <a:t> </a:t>
            </a:r>
            <a:r>
              <a:rPr lang="en-PH" b="1" i="0" u="none" strike="noStrike" dirty="0">
                <a:solidFill>
                  <a:srgbClr val="000000"/>
                </a:solidFill>
                <a:effectLst/>
                <a:latin typeface="Arial" panose="020B0604020202020204" pitchFamily="34" charset="0"/>
                <a:cs typeface="Arial" panose="020B0604020202020204" pitchFamily="34" charset="0"/>
              </a:rPr>
              <a:t>and</a:t>
            </a:r>
            <a:r>
              <a:rPr lang="en-PH" b="0" i="0" u="none" strike="noStrike" dirty="0">
                <a:solidFill>
                  <a:srgbClr val="000000"/>
                </a:solidFill>
                <a:effectLst/>
                <a:latin typeface="Arial" panose="020B0604020202020204" pitchFamily="34" charset="0"/>
                <a:cs typeface="Arial" panose="020B0604020202020204" pitchFamily="34" charset="0"/>
              </a:rPr>
              <a:t> </a:t>
            </a:r>
            <a:r>
              <a:rPr lang="en-PH" b="1" i="0" u="none" strike="noStrike" dirty="0">
                <a:solidFill>
                  <a:srgbClr val="000000"/>
                </a:solidFill>
                <a:effectLst/>
                <a:latin typeface="Arial" panose="020B0604020202020204" pitchFamily="34" charset="0"/>
                <a:cs typeface="Arial" panose="020B0604020202020204" pitchFamily="34" charset="0"/>
              </a:rPr>
              <a:t>Guidelines</a:t>
            </a:r>
            <a:r>
              <a:rPr lang="en-PH" b="0" i="0" u="none" strike="noStrike" dirty="0">
                <a:solidFill>
                  <a:srgbClr val="000000"/>
                </a:solidFill>
                <a:effectLst/>
                <a:latin typeface="Arial" panose="020B0604020202020204" pitchFamily="34" charset="0"/>
                <a:cs typeface="Arial" panose="020B0604020202020204" pitchFamily="34" charset="0"/>
              </a:rPr>
              <a:t>: Set clear policies for consistent classification and labeling.</a:t>
            </a:r>
          </a:p>
          <a:p>
            <a:pPr marL="0" indent="0" rtl="0">
              <a:buNone/>
            </a:pPr>
            <a:endParaRPr lang="en-PH" dirty="0">
              <a:effectLst/>
              <a:latin typeface="Arial" panose="020B0604020202020204" pitchFamily="34" charset="0"/>
              <a:cs typeface="Arial" panose="020B0604020202020204" pitchFamily="34" charset="0"/>
            </a:endParaRPr>
          </a:p>
          <a:p>
            <a:r>
              <a:rPr lang="en-PH" b="1" i="0" u="none" strike="noStrike" dirty="0">
                <a:solidFill>
                  <a:srgbClr val="000000"/>
                </a:solidFill>
                <a:effectLst/>
                <a:latin typeface="Arial" panose="020B0604020202020204" pitchFamily="34" charset="0"/>
                <a:cs typeface="Arial" panose="020B0604020202020204" pitchFamily="34" charset="0"/>
              </a:rPr>
              <a:t>Technology</a:t>
            </a:r>
            <a:r>
              <a:rPr lang="en-PH" b="0" i="0" u="none" strike="noStrike" dirty="0">
                <a:solidFill>
                  <a:srgbClr val="000000"/>
                </a:solidFill>
                <a:effectLst/>
                <a:latin typeface="Arial" panose="020B0604020202020204" pitchFamily="34" charset="0"/>
                <a:cs typeface="Arial" panose="020B0604020202020204" pitchFamily="34" charset="0"/>
              </a:rPr>
              <a:t> </a:t>
            </a:r>
            <a:r>
              <a:rPr lang="en-PH" b="1" i="0" u="none" strike="noStrike" dirty="0">
                <a:solidFill>
                  <a:srgbClr val="000000"/>
                </a:solidFill>
                <a:effectLst/>
                <a:latin typeface="Arial" panose="020B0604020202020204" pitchFamily="34" charset="0"/>
                <a:cs typeface="Arial" panose="020B0604020202020204" pitchFamily="34" charset="0"/>
              </a:rPr>
              <a:t>Integration</a:t>
            </a:r>
            <a:r>
              <a:rPr lang="en-PH" b="0" i="0" u="none" strike="noStrike" dirty="0">
                <a:solidFill>
                  <a:srgbClr val="000000"/>
                </a:solidFill>
                <a:effectLst/>
                <a:latin typeface="Arial" panose="020B0604020202020204" pitchFamily="34" charset="0"/>
                <a:cs typeface="Arial" panose="020B0604020202020204" pitchFamily="34" charset="0"/>
              </a:rPr>
              <a:t>: Use tools like DLP and IRM to automate and enforce policies.</a:t>
            </a:r>
            <a:endParaRPr lang="en-PH" dirty="0">
              <a:effectLst/>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54441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83315-937C-FC46-0EE3-B188AD3F7035}"/>
              </a:ext>
            </a:extLst>
          </p:cNvPr>
          <p:cNvSpPr>
            <a:spLocks noGrp="1"/>
          </p:cNvSpPr>
          <p:nvPr>
            <p:ph type="title"/>
          </p:nvPr>
        </p:nvSpPr>
        <p:spPr>
          <a:xfrm>
            <a:off x="1066800" y="976408"/>
            <a:ext cx="10058400" cy="1609344"/>
          </a:xfrm>
        </p:spPr>
        <p:txBody>
          <a:bodyPr>
            <a:normAutofit/>
          </a:bodyPr>
          <a:lstStyle/>
          <a:p>
            <a:pPr algn="ctr"/>
            <a:r>
              <a:rPr lang="en-PH" sz="3200" b="1" dirty="0">
                <a:latin typeface="Arial" panose="020B0604020202020204" pitchFamily="34" charset="0"/>
                <a:cs typeface="Arial" panose="020B0604020202020204" pitchFamily="34" charset="0"/>
              </a:rPr>
              <a:t>Challenges in Data classification and labeling</a:t>
            </a:r>
            <a:endParaRPr lang="en-US" sz="32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81575EC-AFC9-AF2E-FB9D-D14A2574D8B1}"/>
              </a:ext>
            </a:extLst>
          </p:cNvPr>
          <p:cNvSpPr>
            <a:spLocks noGrp="1"/>
          </p:cNvSpPr>
          <p:nvPr>
            <p:ph idx="1"/>
          </p:nvPr>
        </p:nvSpPr>
        <p:spPr>
          <a:xfrm>
            <a:off x="1066800" y="2807208"/>
            <a:ext cx="10058400" cy="4050792"/>
          </a:xfrm>
        </p:spPr>
        <p:txBody>
          <a:bodyPr/>
          <a:lstStyle/>
          <a:p>
            <a:pPr marL="0" indent="0" rtl="0">
              <a:buNone/>
            </a:pPr>
            <a:endParaRPr lang="en-PH" dirty="0">
              <a:effectLst/>
              <a:latin typeface="Arial" panose="020B0604020202020204" pitchFamily="34" charset="0"/>
              <a:cs typeface="Arial" panose="020B0604020202020204" pitchFamily="34" charset="0"/>
            </a:endParaRPr>
          </a:p>
          <a:p>
            <a:r>
              <a:rPr lang="en-PH" b="1" i="0" u="none" strike="noStrike" dirty="0">
                <a:solidFill>
                  <a:srgbClr val="000000"/>
                </a:solidFill>
                <a:effectLst/>
                <a:latin typeface="Arial" panose="020B0604020202020204" pitchFamily="34" charset="0"/>
                <a:cs typeface="Arial" panose="020B0604020202020204" pitchFamily="34" charset="0"/>
              </a:rPr>
              <a:t>Complexity</a:t>
            </a:r>
            <a:r>
              <a:rPr lang="en-PH" b="0" i="0" u="none" strike="noStrike" dirty="0">
                <a:solidFill>
                  <a:srgbClr val="000000"/>
                </a:solidFill>
                <a:effectLst/>
                <a:latin typeface="Arial" panose="020B0604020202020204" pitchFamily="34" charset="0"/>
                <a:cs typeface="Arial" panose="020B0604020202020204" pitchFamily="34" charset="0"/>
              </a:rPr>
              <a:t>: Requires understanding data, users, and organizational needs.</a:t>
            </a:r>
          </a:p>
          <a:p>
            <a:pPr marL="0" indent="0">
              <a:buNone/>
            </a:pPr>
            <a:endParaRPr lang="en-PH" dirty="0">
              <a:effectLst/>
              <a:latin typeface="Arial" panose="020B0604020202020204" pitchFamily="34" charset="0"/>
              <a:cs typeface="Arial" panose="020B0604020202020204" pitchFamily="34" charset="0"/>
            </a:endParaRPr>
          </a:p>
          <a:p>
            <a:pPr rtl="0"/>
            <a:r>
              <a:rPr lang="en-PH" b="1" i="0" u="none" strike="noStrike" dirty="0">
                <a:solidFill>
                  <a:srgbClr val="000000"/>
                </a:solidFill>
                <a:effectLst/>
                <a:latin typeface="Arial" panose="020B0604020202020204" pitchFamily="34" charset="0"/>
                <a:cs typeface="Arial" panose="020B0604020202020204" pitchFamily="34" charset="0"/>
              </a:rPr>
              <a:t>User Training:</a:t>
            </a:r>
            <a:r>
              <a:rPr lang="en-PH" b="0" i="0" u="none" strike="noStrike" dirty="0">
                <a:solidFill>
                  <a:srgbClr val="000000"/>
                </a:solidFill>
                <a:effectLst/>
                <a:latin typeface="Arial" panose="020B0604020202020204" pitchFamily="34" charset="0"/>
                <a:cs typeface="Arial" panose="020B0604020202020204" pitchFamily="34" charset="0"/>
              </a:rPr>
              <a:t> Ensuring everyone follows and understands policies.</a:t>
            </a:r>
          </a:p>
          <a:p>
            <a:pPr marL="0" indent="0" rtl="0">
              <a:buNone/>
            </a:pPr>
            <a:endParaRPr lang="en-PH" dirty="0">
              <a:effectLst/>
              <a:latin typeface="Arial" panose="020B0604020202020204" pitchFamily="34" charset="0"/>
              <a:cs typeface="Arial" panose="020B0604020202020204" pitchFamily="34" charset="0"/>
            </a:endParaRPr>
          </a:p>
          <a:p>
            <a:r>
              <a:rPr lang="en-PH" b="1" i="0" u="none" strike="noStrike" dirty="0">
                <a:solidFill>
                  <a:srgbClr val="000000"/>
                </a:solidFill>
                <a:effectLst/>
                <a:latin typeface="Arial" panose="020B0604020202020204" pitchFamily="34" charset="0"/>
                <a:cs typeface="Arial" panose="020B0604020202020204" pitchFamily="34" charset="0"/>
              </a:rPr>
              <a:t>Consistency</a:t>
            </a:r>
            <a:r>
              <a:rPr lang="en-PH" b="0" i="0" u="none" strike="noStrike" dirty="0">
                <a:solidFill>
                  <a:srgbClr val="000000"/>
                </a:solidFill>
                <a:effectLst/>
                <a:latin typeface="Arial" panose="020B0604020202020204" pitchFamily="34" charset="0"/>
                <a:cs typeface="Arial" panose="020B0604020202020204" pitchFamily="34" charset="0"/>
              </a:rPr>
              <a:t>: Maintaining uniform classification and labeling across the organization.</a:t>
            </a:r>
            <a:endParaRPr lang="en-PH" dirty="0">
              <a:effectLst/>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426150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otalTime>0</TotalTime>
  <Words>460</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Google Sans</vt:lpstr>
      <vt:lpstr>Arial</vt:lpstr>
      <vt:lpstr>Rockwell</vt:lpstr>
      <vt:lpstr>Rockwell Condensed</vt:lpstr>
      <vt:lpstr>Wingdings</vt:lpstr>
      <vt:lpstr>Wood Type</vt:lpstr>
      <vt:lpstr>Data protection and privacy </vt:lpstr>
      <vt:lpstr>Data Protection and privacy</vt:lpstr>
      <vt:lpstr>Data classification and labeling</vt:lpstr>
      <vt:lpstr>PowerPoint Presentation</vt:lpstr>
      <vt:lpstr>PowerPoint Presentation</vt:lpstr>
      <vt:lpstr>Data labeling </vt:lpstr>
      <vt:lpstr>PowerPoint Presentation</vt:lpstr>
      <vt:lpstr>Importance of data classification and labeling in security</vt:lpstr>
      <vt:lpstr>Implementing data classification and labeling</vt:lpstr>
      <vt:lpstr>Challenges in Data classification and labeling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protection and privacy </dc:title>
  <dc:creator>labortejeremaye@gmail.com</dc:creator>
  <cp:lastModifiedBy>Win10</cp:lastModifiedBy>
  <cp:revision>22</cp:revision>
  <dcterms:created xsi:type="dcterms:W3CDTF">2024-11-14T06:05:30Z</dcterms:created>
  <dcterms:modified xsi:type="dcterms:W3CDTF">2025-11-15T14:13:17Z</dcterms:modified>
</cp:coreProperties>
</file>