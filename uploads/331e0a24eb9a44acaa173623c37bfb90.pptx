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60" r:id="rId5"/>
    <p:sldId id="261" r:id="rId6"/>
    <p:sldId id="263" r:id="rId7"/>
    <p:sldId id="264" r:id="rId8"/>
    <p:sldId id="275" r:id="rId9"/>
    <p:sldId id="279" r:id="rId10"/>
    <p:sldId id="278" r:id="rId11"/>
    <p:sldId id="276"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5" r:id="rId27"/>
    <p:sldId id="297" r:id="rId28"/>
    <p:sldId id="294" r:id="rId29"/>
    <p:sldId id="274" r:id="rId30"/>
    <p:sldId id="266" r:id="rId31"/>
    <p:sldId id="267" r:id="rId32"/>
    <p:sldId id="268" r:id="rId33"/>
    <p:sldId id="269" r:id="rId34"/>
    <p:sldId id="272" r:id="rId35"/>
    <p:sldId id="273" r:id="rId36"/>
    <p:sldId id="270" r:id="rId37"/>
    <p:sldId id="298" r:id="rId38"/>
    <p:sldId id="299" r:id="rId39"/>
    <p:sldId id="300" r:id="rId40"/>
    <p:sldId id="301" r:id="rId41"/>
    <p:sldId id="271" r:id="rId42"/>
  </p:sldIdLst>
  <p:sldSz cx="12192000" cy="6858000"/>
  <p:notesSz cx="6858000" cy="9144000"/>
  <p:embeddedFontLst>
    <p:embeddedFont>
      <p:font typeface="Calibri" panose="020F0502020204030204" charset="0"/>
      <p:regular r:id="rId46"/>
      <p:bold r:id="rId47"/>
      <p:italic r:id="rId48"/>
      <p:boldItalic r:id="rId49"/>
    </p:embeddedFont>
    <p:embeddedFont>
      <p:font typeface="You Are Not Alone" panose="00000500000000000000" charset="0"/>
      <p:regular r:id="rId50"/>
    </p:embeddedFont>
    <p:embeddedFont>
      <p:font typeface="Calibri Light" panose="020F0302020204030204" charset="0"/>
      <p:regular r:id="rId51"/>
      <p:italic r:id="rId52"/>
    </p:embeddedFont>
    <p:embeddedFont>
      <p:font typeface="Mistral" panose="03090702030407020403" charset="0"/>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65" d="100"/>
          <a:sy n="65" d="100"/>
        </p:scale>
        <p:origin x="9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font" Target="fonts/font8.fntdata"/><Relationship Id="rId52" Type="http://schemas.openxmlformats.org/officeDocument/2006/relationships/font" Target="fonts/font7.fntdata"/><Relationship Id="rId51" Type="http://schemas.openxmlformats.org/officeDocument/2006/relationships/font" Target="fonts/font6.fntdata"/><Relationship Id="rId50" Type="http://schemas.openxmlformats.org/officeDocument/2006/relationships/font" Target="fonts/font5.fntdata"/><Relationship Id="rId5" Type="http://schemas.openxmlformats.org/officeDocument/2006/relationships/slide" Target="slides/slide3.xml"/><Relationship Id="rId49" Type="http://schemas.openxmlformats.org/officeDocument/2006/relationships/font" Target="fonts/font4.fntdata"/><Relationship Id="rId48" Type="http://schemas.openxmlformats.org/officeDocument/2006/relationships/font" Target="fonts/font3.fntdata"/><Relationship Id="rId47" Type="http://schemas.openxmlformats.org/officeDocument/2006/relationships/font" Target="fonts/font2.fntdata"/><Relationship Id="rId46" Type="http://schemas.openxmlformats.org/officeDocument/2006/relationships/font" Target="fonts/font1.fntdata"/><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jpeg"/><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png"/><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100" name="Picture 99"/>
          <p:cNvPicPr/>
          <p:nvPr/>
        </p:nvPicPr>
        <p:blipFill>
          <a:blip r:embed="rId1"/>
          <a:stretch>
            <a:fillRect/>
          </a:stretch>
        </p:blipFill>
        <p:spPr>
          <a:xfrm>
            <a:off x="0" y="0"/>
            <a:ext cx="12192000" cy="68580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4" name="Text Box 3"/>
          <p:cNvSpPr txBox="1"/>
          <p:nvPr/>
        </p:nvSpPr>
        <p:spPr>
          <a:xfrm>
            <a:off x="116840" y="365125"/>
            <a:ext cx="7609205" cy="706755"/>
          </a:xfrm>
          <a:prstGeom prst="rect">
            <a:avLst/>
          </a:prstGeom>
          <a:noFill/>
        </p:spPr>
        <p:txBody>
          <a:bodyPr wrap="square" rtlCol="0">
            <a:spAutoFit/>
          </a:bodyPr>
          <a:lstStyle/>
          <a:p>
            <a:r>
              <a:rPr lang="en-PH" altLang="en-US" sz="4000" b="1">
                <a:solidFill>
                  <a:schemeClr val="tx1"/>
                </a:solidFill>
                <a:latin typeface="Calibri" panose="020F0502020204030204" charset="0"/>
                <a:cs typeface="Calibri" panose="020F0502020204030204" charset="0"/>
                <a:sym typeface="+mn-ea"/>
              </a:rPr>
              <a:t>What is Intelectual Property?</a:t>
            </a:r>
            <a:endParaRPr lang="en-PH" altLang="en-US" sz="4000" b="1">
              <a:solidFill>
                <a:schemeClr val="tx1"/>
              </a:solidFill>
              <a:latin typeface="Calibri" panose="020F0502020204030204" charset="0"/>
              <a:cs typeface="Calibri" panose="020F0502020204030204" charset="0"/>
              <a:sym typeface="+mn-ea"/>
            </a:endParaRPr>
          </a:p>
        </p:txBody>
      </p:sp>
      <p:sp>
        <p:nvSpPr>
          <p:cNvPr id="5" name="Text Box 4"/>
          <p:cNvSpPr txBox="1"/>
          <p:nvPr/>
        </p:nvSpPr>
        <p:spPr>
          <a:xfrm>
            <a:off x="316865" y="1563370"/>
            <a:ext cx="11237595" cy="2462530"/>
          </a:xfrm>
          <a:prstGeom prst="rect">
            <a:avLst/>
          </a:prstGeom>
          <a:noFill/>
        </p:spPr>
        <p:txBody>
          <a:bodyPr wrap="square" rtlCol="0">
            <a:noAutofit/>
          </a:bodyPr>
          <a:lstStyle/>
          <a:p>
            <a:pPr algn="just"/>
            <a:r>
              <a:rPr lang="en-US" sz="3600">
                <a:solidFill>
                  <a:schemeClr val="tx1"/>
                </a:solidFill>
                <a:latin typeface="Arial" panose="020B0604020202020204" pitchFamily="34" charset="0"/>
                <a:cs typeface="Arial" panose="020B0604020202020204" pitchFamily="34" charset="0"/>
              </a:rPr>
              <a:t>Intellectual property rights (IPR) have been defined as ideas, inventions, and creative expressions based on which there is a public willingness to bestow the status of property. IPR provide certain exclusive rights to the inventors or creators of that property, in order to enable them to reap commercial benefits from their creative efforts or reputation. There are several types of intellectual property protection like patent, copyright, trademark, etc. </a:t>
            </a:r>
            <a:endParaRPr lang="en-US" sz="36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4" name="Text Box 3"/>
          <p:cNvSpPr txBox="1"/>
          <p:nvPr/>
        </p:nvSpPr>
        <p:spPr>
          <a:xfrm>
            <a:off x="116840" y="365125"/>
            <a:ext cx="10184765" cy="706755"/>
          </a:xfrm>
          <a:prstGeom prst="rect">
            <a:avLst/>
          </a:prstGeom>
          <a:noFill/>
        </p:spPr>
        <p:txBody>
          <a:bodyPr wrap="square" rtlCol="0">
            <a:spAutoFit/>
          </a:bodyPr>
          <a:lstStyle/>
          <a:p>
            <a:pPr algn="ctr"/>
            <a:r>
              <a:rPr lang="en-PH" altLang="en-US" sz="4000" b="1">
                <a:solidFill>
                  <a:schemeClr val="tx1"/>
                </a:solidFill>
                <a:cs typeface="+mn-lt"/>
                <a:sym typeface="+mn-ea"/>
              </a:rPr>
              <a:t>PHILIPPINE LAWS ON INTELLECTUAL PROPERTY</a:t>
            </a:r>
            <a:endParaRPr lang="en-PH" altLang="en-US" sz="4000" b="1">
              <a:solidFill>
                <a:schemeClr val="tx1"/>
              </a:solidFill>
              <a:cs typeface="+mn-lt"/>
              <a:sym typeface="+mn-ea"/>
            </a:endParaRPr>
          </a:p>
        </p:txBody>
      </p:sp>
      <p:sp>
        <p:nvSpPr>
          <p:cNvPr id="5" name="Text Box 4"/>
          <p:cNvSpPr txBox="1"/>
          <p:nvPr/>
        </p:nvSpPr>
        <p:spPr>
          <a:xfrm>
            <a:off x="837565" y="1824990"/>
            <a:ext cx="10515600" cy="4351655"/>
          </a:xfrm>
          <a:prstGeom prst="rect">
            <a:avLst/>
          </a:prstGeom>
          <a:noFill/>
        </p:spPr>
        <p:txBody>
          <a:bodyPr wrap="square" rtlCol="0">
            <a:noAutofit/>
          </a:bodyPr>
          <a:lstStyle/>
          <a:p>
            <a:pPr algn="just"/>
            <a:r>
              <a:rPr lang="en-US" sz="3600" b="1">
                <a:solidFill>
                  <a:srgbClr val="FF0000"/>
                </a:solidFill>
              </a:rPr>
              <a:t>R.A. 8293</a:t>
            </a:r>
            <a:r>
              <a:rPr lang="en-PH" altLang="en-US" sz="3600">
                <a:solidFill>
                  <a:srgbClr val="FF0000"/>
                </a:solidFill>
              </a:rPr>
              <a:t> </a:t>
            </a:r>
            <a:r>
              <a:rPr lang="en-PH" altLang="en-US" sz="3600">
                <a:solidFill>
                  <a:schemeClr val="tx1"/>
                </a:solidFill>
              </a:rPr>
              <a:t>- An Act prescribing the Intellectual Property Code and establishing the Intellectual Property Office, providing for its powers and functions, and for other purposes.</a:t>
            </a:r>
            <a:endParaRPr lang="en-US" sz="3600">
              <a:solidFill>
                <a:schemeClr val="tx1"/>
              </a:solidFill>
            </a:endParaRPr>
          </a:p>
          <a:p>
            <a:pPr algn="just"/>
            <a:r>
              <a:rPr lang="en-US" sz="3600" b="1">
                <a:solidFill>
                  <a:srgbClr val="FF0000"/>
                </a:solidFill>
              </a:rPr>
              <a:t>R.A. 165</a:t>
            </a:r>
            <a:r>
              <a:rPr lang="en-PH" altLang="en-US" sz="3600">
                <a:solidFill>
                  <a:schemeClr val="tx1"/>
                </a:solidFill>
              </a:rPr>
              <a:t> - </a:t>
            </a:r>
            <a:r>
              <a:rPr lang="en-US" sz="3600">
                <a:solidFill>
                  <a:schemeClr val="tx1"/>
                </a:solidFill>
              </a:rPr>
              <a:t>An Act  creating a patent office, prescribing its powers and duties, regulating the issuance of patents, and appropriating funds therefore</a:t>
            </a:r>
            <a:endParaRPr lang="en-US" sz="360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837565" y="365125"/>
            <a:ext cx="10515600" cy="4351655"/>
          </a:xfrm>
          <a:prstGeom prst="rect">
            <a:avLst/>
          </a:prstGeom>
          <a:noFill/>
        </p:spPr>
        <p:txBody>
          <a:bodyPr wrap="square" rtlCol="0">
            <a:noAutofit/>
          </a:bodyPr>
          <a:lstStyle/>
          <a:p>
            <a:pPr algn="just"/>
            <a:r>
              <a:rPr sz="3600" b="1">
                <a:solidFill>
                  <a:srgbClr val="FF0000"/>
                </a:solidFill>
              </a:rPr>
              <a:t>R.A. 166</a:t>
            </a:r>
            <a:r>
              <a:rPr lang="en-PH" sz="3600" b="1">
                <a:solidFill>
                  <a:srgbClr val="FF0000"/>
                </a:solidFill>
              </a:rPr>
              <a:t> - </a:t>
            </a:r>
            <a:r>
              <a:rPr sz="3600"/>
              <a:t>An Act to provide for the registration and protection of trade-marks, trade-names, and service marks, defining unfair competition and false marking and providing remedies against the same, and for other purposes</a:t>
            </a:r>
            <a:r>
              <a:rPr lang="en-PH" sz="3600"/>
              <a:t>.</a:t>
            </a:r>
            <a:endParaRPr lang="en-PH" sz="3600"/>
          </a:p>
          <a:p>
            <a:pPr algn="just"/>
            <a:endParaRPr lang="en-PH" sz="3600"/>
          </a:p>
          <a:p>
            <a:pPr algn="just"/>
            <a:r>
              <a:rPr lang="en-PH" sz="3600" b="1">
                <a:solidFill>
                  <a:srgbClr val="FF0000"/>
                </a:solidFill>
              </a:rPr>
              <a:t>PRESIDENTIAL DECREE NO. 49</a:t>
            </a:r>
            <a:endParaRPr lang="en-PH" sz="3600" b="1">
              <a:solidFill>
                <a:srgbClr val="FF0000"/>
              </a:solidFill>
            </a:endParaRPr>
          </a:p>
          <a:p>
            <a:pPr algn="just"/>
            <a:r>
              <a:rPr lang="en-PH" sz="3600"/>
              <a:t>Decree on the protection of intellectual property </a:t>
            </a:r>
            <a:endParaRPr lang="en-PH" sz="3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469900" y="264795"/>
            <a:ext cx="11134090" cy="4351655"/>
          </a:xfrm>
          <a:prstGeom prst="rect">
            <a:avLst/>
          </a:prstGeom>
          <a:noFill/>
        </p:spPr>
        <p:txBody>
          <a:bodyPr wrap="square" rtlCol="0">
            <a:noAutofit/>
          </a:bodyPr>
          <a:lstStyle/>
          <a:p>
            <a:pPr algn="just"/>
            <a:r>
              <a:rPr lang="en-PH" sz="3600" b="1">
                <a:latin typeface="You Are Not Alone" panose="00000500000000000000" charset="0"/>
                <a:cs typeface="You Are Not Alone" panose="00000500000000000000" charset="0"/>
              </a:rPr>
              <a:t>PATENT</a:t>
            </a:r>
            <a:endParaRPr lang="en-PH" sz="3600" b="1">
              <a:latin typeface="You Are Not Alone" panose="00000500000000000000" charset="0"/>
              <a:cs typeface="You Are Not Alone" panose="00000500000000000000" charset="0"/>
            </a:endParaRPr>
          </a:p>
          <a:p>
            <a:pPr algn="just"/>
            <a:endParaRPr lang="en-PH" sz="3600" b="1">
              <a:latin typeface="You Are Not Alone" panose="00000500000000000000" charset="0"/>
              <a:cs typeface="You Are Not Alone" panose="00000500000000000000" charset="0"/>
            </a:endParaRPr>
          </a:p>
          <a:p>
            <a:pPr algn="just"/>
            <a:r>
              <a:rPr lang="en-PH" sz="3600">
                <a:latin typeface="Arial" panose="020B0604020202020204" pitchFamily="34" charset="0"/>
                <a:cs typeface="Arial" panose="020B0604020202020204" pitchFamily="34" charset="0"/>
              </a:rPr>
              <a:t>A patent is an exclusive right granted for an invention, which is a product or a process that provides, in general, a new way of doing something, or offers a new technical solution to a problem. To get a patent, technical information about the invention must be disclosed to the public in a patent application.</a:t>
            </a:r>
            <a:endParaRPr lang="en-PH" sz="360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469900" y="264795"/>
            <a:ext cx="11134090" cy="4351655"/>
          </a:xfrm>
          <a:prstGeom prst="rect">
            <a:avLst/>
          </a:prstGeom>
          <a:noFill/>
        </p:spPr>
        <p:txBody>
          <a:bodyPr wrap="square" rtlCol="0">
            <a:noAutofit/>
          </a:bodyPr>
          <a:lstStyle/>
          <a:p>
            <a:pPr algn="just"/>
            <a:endParaRPr lang="en-PH" sz="3600">
              <a:latin typeface="Arial" panose="020B0604020202020204" pitchFamily="34" charset="0"/>
              <a:cs typeface="Arial" panose="020B0604020202020204" pitchFamily="34" charset="0"/>
            </a:endParaRPr>
          </a:p>
        </p:txBody>
      </p:sp>
      <p:pic>
        <p:nvPicPr>
          <p:cNvPr id="4" name="Picture 3" descr="IPOPHL-web-headers_patent"/>
          <p:cNvPicPr>
            <a:picLocks noChangeAspect="1"/>
          </p:cNvPicPr>
          <p:nvPr/>
        </p:nvPicPr>
        <p:blipFill>
          <a:blip r:embed="rId2"/>
          <a:stretch>
            <a:fillRect/>
          </a:stretch>
        </p:blipFill>
        <p:spPr>
          <a:xfrm>
            <a:off x="1403985" y="2759075"/>
            <a:ext cx="9753600" cy="3762375"/>
          </a:xfrm>
          <a:prstGeom prst="rect">
            <a:avLst/>
          </a:prstGeom>
        </p:spPr>
      </p:pic>
      <p:pic>
        <p:nvPicPr>
          <p:cNvPr id="6" name="Content Placeholder 3"/>
          <p:cNvPicPr>
            <a:picLocks noChangeAspect="1"/>
          </p:cNvPicPr>
          <p:nvPr/>
        </p:nvPicPr>
        <p:blipFill>
          <a:blip r:embed="rId3"/>
          <a:srcRect l="20683" t="20845" r="50132" b="67595"/>
          <a:stretch>
            <a:fillRect/>
          </a:stretch>
        </p:blipFill>
        <p:spPr>
          <a:xfrm>
            <a:off x="3555365" y="877570"/>
            <a:ext cx="5450840" cy="1214120"/>
          </a:xfrm>
          <a:prstGeom prst="rect">
            <a:avLst/>
          </a:prstGeom>
          <a:effectLst>
            <a:glow rad="114300">
              <a:schemeClr val="accent1">
                <a:alpha val="78000"/>
              </a:schemeClr>
            </a:glo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6" name="Text Box 5"/>
          <p:cNvSpPr txBox="1"/>
          <p:nvPr/>
        </p:nvSpPr>
        <p:spPr>
          <a:xfrm>
            <a:off x="486410" y="60325"/>
            <a:ext cx="8369300" cy="768350"/>
          </a:xfrm>
          <a:prstGeom prst="rect">
            <a:avLst/>
          </a:prstGeom>
          <a:noFill/>
        </p:spPr>
        <p:txBody>
          <a:bodyPr wrap="square" rtlCol="0">
            <a:spAutoFit/>
          </a:bodyPr>
          <a:lstStyle/>
          <a:p>
            <a:r>
              <a:rPr lang="en-US" sz="4400" b="1"/>
              <a:t>Magnetic Levitation (Maglev)</a:t>
            </a:r>
            <a:endParaRPr lang="en-US" sz="4400" b="1"/>
          </a:p>
        </p:txBody>
      </p:sp>
      <p:pic>
        <p:nvPicPr>
          <p:cNvPr id="116" name="Picture 115"/>
          <p:cNvPicPr/>
          <p:nvPr/>
        </p:nvPicPr>
        <p:blipFill>
          <a:blip r:embed="rId2"/>
          <a:stretch>
            <a:fillRect/>
          </a:stretch>
        </p:blipFill>
        <p:spPr>
          <a:xfrm>
            <a:off x="609600" y="828040"/>
            <a:ext cx="10742930" cy="4476750"/>
          </a:xfrm>
          <a:prstGeom prst="rect">
            <a:avLst/>
          </a:prstGeom>
          <a:noFill/>
          <a:ln w="9525">
            <a:noFill/>
          </a:ln>
        </p:spPr>
      </p:pic>
      <p:sp>
        <p:nvSpPr>
          <p:cNvPr id="4" name="Text Box 3"/>
          <p:cNvSpPr txBox="1"/>
          <p:nvPr/>
        </p:nvSpPr>
        <p:spPr>
          <a:xfrm>
            <a:off x="838200" y="5419725"/>
            <a:ext cx="10514965" cy="1076325"/>
          </a:xfrm>
          <a:prstGeom prst="rect">
            <a:avLst/>
          </a:prstGeom>
          <a:noFill/>
        </p:spPr>
        <p:txBody>
          <a:bodyPr wrap="square" rtlCol="0">
            <a:spAutoFit/>
          </a:bodyPr>
          <a:lstStyle/>
          <a:p>
            <a:r>
              <a:rPr lang="en-US" sz="3200"/>
              <a:t>Patent Name: “Electromagnetic inductive suspension and stabilization system for a ground vehicle”</a:t>
            </a:r>
            <a:endParaRPr lang="en-US" sz="3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551815" y="365125"/>
            <a:ext cx="11068050" cy="3471545"/>
          </a:xfrm>
          <a:prstGeom prst="rect">
            <a:avLst/>
          </a:prstGeom>
          <a:noFill/>
        </p:spPr>
        <p:txBody>
          <a:bodyPr wrap="square" rtlCol="0">
            <a:noAutofit/>
          </a:bodyPr>
          <a:lstStyle/>
          <a:p>
            <a:pPr algn="just"/>
            <a:r>
              <a:rPr lang="en-PH" altLang="en-US" sz="3200">
                <a:latin typeface="Arial" panose="020B0604020202020204" pitchFamily="34" charset="0"/>
                <a:cs typeface="Arial" panose="020B0604020202020204" pitchFamily="34" charset="0"/>
              </a:rPr>
              <a:t>The story of the maglev train begins with Eric Laithwaite and his work on full-size linear induction motors. The inventor realized a linear motor, which does not require contact with a railroad track, could be used to develop a transportation system based on magnetic fields. Laithwaite tested linear induction motors that could use magnets to achieve both lift and forward thrust.</a:t>
            </a:r>
            <a:endParaRPr lang="en-PH" altLang="en-US" sz="3200">
              <a:latin typeface="Arial" panose="020B0604020202020204" pitchFamily="34" charset="0"/>
              <a:cs typeface="Arial" panose="020B0604020202020204" pitchFamily="34" charset="0"/>
            </a:endParaRPr>
          </a:p>
          <a:p>
            <a:pPr algn="just"/>
            <a:endParaRPr lang="en-PH" altLang="en-US" sz="3200">
              <a:latin typeface="Arial" panose="020B0604020202020204" pitchFamily="34" charset="0"/>
              <a:cs typeface="Arial" panose="020B0604020202020204" pitchFamily="34" charset="0"/>
            </a:endParaRPr>
          </a:p>
          <a:p>
            <a:pPr algn="just"/>
            <a:r>
              <a:rPr lang="en-PH" altLang="en-US" sz="3200">
                <a:latin typeface="Arial" panose="020B0604020202020204" pitchFamily="34" charset="0"/>
                <a:cs typeface="Arial" panose="020B0604020202020204" pitchFamily="34" charset="0"/>
              </a:rPr>
              <a:t>Laithwaite’s work was widely studied, and in 1967, James Powell and Gordon Danby of the Brookhaven National Laboratory received the first patent for a maglev train.</a:t>
            </a:r>
            <a:endParaRPr lang="en-PH" altLang="en-US" sz="320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6" name="Text Box 5"/>
          <p:cNvSpPr txBox="1"/>
          <p:nvPr/>
        </p:nvSpPr>
        <p:spPr>
          <a:xfrm>
            <a:off x="486410" y="60325"/>
            <a:ext cx="8369300" cy="768350"/>
          </a:xfrm>
          <a:prstGeom prst="rect">
            <a:avLst/>
          </a:prstGeom>
          <a:noFill/>
        </p:spPr>
        <p:txBody>
          <a:bodyPr wrap="square" rtlCol="0">
            <a:spAutoFit/>
          </a:bodyPr>
          <a:lstStyle/>
          <a:p>
            <a:r>
              <a:rPr lang="en-US" sz="4400" b="1"/>
              <a:t>iPhone</a:t>
            </a:r>
            <a:endParaRPr lang="en-US" sz="4400" b="1"/>
          </a:p>
        </p:txBody>
      </p:sp>
      <p:sp>
        <p:nvSpPr>
          <p:cNvPr id="4" name="Text Box 3"/>
          <p:cNvSpPr txBox="1"/>
          <p:nvPr/>
        </p:nvSpPr>
        <p:spPr>
          <a:xfrm>
            <a:off x="1085850" y="5705475"/>
            <a:ext cx="10514965" cy="583565"/>
          </a:xfrm>
          <a:prstGeom prst="rect">
            <a:avLst/>
          </a:prstGeom>
          <a:noFill/>
        </p:spPr>
        <p:txBody>
          <a:bodyPr wrap="square" rtlCol="0">
            <a:spAutoFit/>
          </a:bodyPr>
          <a:lstStyle/>
          <a:p>
            <a:r>
              <a:rPr lang="en-US" sz="3200"/>
              <a:t>Patent Name: Patent Name: “Electronic device”</a:t>
            </a:r>
            <a:endParaRPr lang="en-US" sz="3200"/>
          </a:p>
        </p:txBody>
      </p:sp>
      <p:pic>
        <p:nvPicPr>
          <p:cNvPr id="117" name="Picture 116"/>
          <p:cNvPicPr/>
          <p:nvPr/>
        </p:nvPicPr>
        <p:blipFill>
          <a:blip r:embed="rId2"/>
          <a:stretch>
            <a:fillRect/>
          </a:stretch>
        </p:blipFill>
        <p:spPr>
          <a:xfrm>
            <a:off x="1160780" y="828358"/>
            <a:ext cx="9334500" cy="460057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551815" y="365125"/>
            <a:ext cx="11068050" cy="3471545"/>
          </a:xfrm>
          <a:prstGeom prst="rect">
            <a:avLst/>
          </a:prstGeom>
          <a:noFill/>
        </p:spPr>
        <p:txBody>
          <a:bodyPr wrap="square" rtlCol="0">
            <a:noAutofit/>
          </a:bodyPr>
          <a:lstStyle/>
          <a:p>
            <a:pPr algn="just"/>
            <a:r>
              <a:rPr lang="en-PH" altLang="en-US" sz="3200">
                <a:latin typeface="Arial" panose="020B0604020202020204" pitchFamily="34" charset="0"/>
                <a:cs typeface="Arial" panose="020B0604020202020204" pitchFamily="34" charset="0"/>
              </a:rPr>
              <a:t>The patent for the signature device of the 21st century tells you almost nothing about it. In its entirety, Apple’s patent for the original iPhone, listed simply as an “electronic device,” says only that it is an “ornamental design of an electronic device, as shown and described.” The document then labels eight figures of the “electronic device,” telling you only which direction it is shown from, and then cites other relevant patents and documentation.</a:t>
            </a:r>
            <a:endParaRPr lang="en-PH" altLang="en-US" sz="320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6" name="Text Box 5"/>
          <p:cNvSpPr txBox="1"/>
          <p:nvPr/>
        </p:nvSpPr>
        <p:spPr>
          <a:xfrm>
            <a:off x="486410" y="60325"/>
            <a:ext cx="8369300" cy="768350"/>
          </a:xfrm>
          <a:prstGeom prst="rect">
            <a:avLst/>
          </a:prstGeom>
          <a:noFill/>
        </p:spPr>
        <p:txBody>
          <a:bodyPr wrap="square" rtlCol="0">
            <a:spAutoFit/>
          </a:bodyPr>
          <a:lstStyle/>
          <a:p>
            <a:r>
              <a:rPr lang="en-US" sz="4400" b="1"/>
              <a:t>Quadcopter Drone</a:t>
            </a:r>
            <a:endParaRPr lang="en-US" sz="4400" b="1"/>
          </a:p>
        </p:txBody>
      </p:sp>
      <p:sp>
        <p:nvSpPr>
          <p:cNvPr id="4" name="Text Box 3"/>
          <p:cNvSpPr txBox="1"/>
          <p:nvPr/>
        </p:nvSpPr>
        <p:spPr>
          <a:xfrm>
            <a:off x="1085850" y="5705475"/>
            <a:ext cx="10514965" cy="583565"/>
          </a:xfrm>
          <a:prstGeom prst="rect">
            <a:avLst/>
          </a:prstGeom>
          <a:noFill/>
        </p:spPr>
        <p:txBody>
          <a:bodyPr wrap="square" rtlCol="0">
            <a:spAutoFit/>
          </a:bodyPr>
          <a:lstStyle/>
          <a:p>
            <a:r>
              <a:rPr lang="en-US" sz="3200"/>
              <a:t>Patent Name: “Omni-directional, vertical-lift, helicopter drone”</a:t>
            </a:r>
            <a:endParaRPr lang="en-US" sz="3200"/>
          </a:p>
        </p:txBody>
      </p:sp>
      <p:pic>
        <p:nvPicPr>
          <p:cNvPr id="118" name="Picture 117"/>
          <p:cNvPicPr/>
          <p:nvPr/>
        </p:nvPicPr>
        <p:blipFill>
          <a:blip r:embed="rId2"/>
          <a:stretch>
            <a:fillRect/>
          </a:stretch>
        </p:blipFill>
        <p:spPr>
          <a:xfrm>
            <a:off x="628650" y="828675"/>
            <a:ext cx="10725150" cy="468185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551815" y="365125"/>
            <a:ext cx="11068050" cy="3471545"/>
          </a:xfrm>
          <a:prstGeom prst="rect">
            <a:avLst/>
          </a:prstGeom>
          <a:noFill/>
        </p:spPr>
        <p:txBody>
          <a:bodyPr wrap="square" rtlCol="0">
            <a:noAutofit/>
          </a:bodyPr>
          <a:lstStyle/>
          <a:p>
            <a:pPr algn="just"/>
            <a:r>
              <a:rPr lang="en-PH" altLang="en-US" sz="3200">
                <a:latin typeface="Arial" panose="020B0604020202020204" pitchFamily="34" charset="0"/>
                <a:cs typeface="Arial" panose="020B0604020202020204" pitchFamily="34" charset="0"/>
              </a:rPr>
              <a:t>The quadcopter drone, found today buzzing over parks and bothering airplanes, was first patented back in 1962. Edward G. Vanderlip, an engineer for Piasecki Aircraft Corporation. His patent for an “omni-directional, vertical-lift, helicopter drone” outlines a UAV designed to be “extremely simple” to fly.</a:t>
            </a:r>
            <a:endParaRPr lang="en-PH" altLang="en-US" sz="320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6" name="Text Box 5"/>
          <p:cNvSpPr txBox="1"/>
          <p:nvPr/>
        </p:nvSpPr>
        <p:spPr>
          <a:xfrm>
            <a:off x="486410" y="60325"/>
            <a:ext cx="8369300" cy="768350"/>
          </a:xfrm>
          <a:prstGeom prst="rect">
            <a:avLst/>
          </a:prstGeom>
          <a:noFill/>
        </p:spPr>
        <p:txBody>
          <a:bodyPr wrap="square" rtlCol="0">
            <a:spAutoFit/>
          </a:bodyPr>
          <a:lstStyle/>
          <a:p>
            <a:r>
              <a:rPr lang="en-US" sz="4400" b="1"/>
              <a:t>3D Printer</a:t>
            </a:r>
            <a:endParaRPr lang="en-US" sz="4400" b="1"/>
          </a:p>
        </p:txBody>
      </p:sp>
      <p:sp>
        <p:nvSpPr>
          <p:cNvPr id="4" name="Text Box 3"/>
          <p:cNvSpPr txBox="1"/>
          <p:nvPr/>
        </p:nvSpPr>
        <p:spPr>
          <a:xfrm>
            <a:off x="1085850" y="5705475"/>
            <a:ext cx="10514965" cy="1076325"/>
          </a:xfrm>
          <a:prstGeom prst="rect">
            <a:avLst/>
          </a:prstGeom>
          <a:noFill/>
        </p:spPr>
        <p:txBody>
          <a:bodyPr wrap="square" rtlCol="0">
            <a:spAutoFit/>
          </a:bodyPr>
          <a:lstStyle/>
          <a:p>
            <a:r>
              <a:rPr lang="en-US" sz="3200"/>
              <a:t>Patent Name: “Apparatus for production of three-dimensional objects by stereolithography”</a:t>
            </a:r>
            <a:endParaRPr lang="en-US" sz="3200"/>
          </a:p>
        </p:txBody>
      </p:sp>
      <p:pic>
        <p:nvPicPr>
          <p:cNvPr id="119" name="Picture 118"/>
          <p:cNvPicPr/>
          <p:nvPr/>
        </p:nvPicPr>
        <p:blipFill>
          <a:blip r:embed="rId2"/>
          <a:stretch>
            <a:fillRect/>
          </a:stretch>
        </p:blipFill>
        <p:spPr>
          <a:xfrm>
            <a:off x="1238250" y="828675"/>
            <a:ext cx="8322310" cy="485775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551815" y="365125"/>
            <a:ext cx="11068050" cy="3471545"/>
          </a:xfrm>
          <a:prstGeom prst="rect">
            <a:avLst/>
          </a:prstGeom>
          <a:noFill/>
        </p:spPr>
        <p:txBody>
          <a:bodyPr wrap="square" rtlCol="0">
            <a:noAutofit/>
          </a:bodyPr>
          <a:lstStyle/>
          <a:p>
            <a:pPr algn="just"/>
            <a:r>
              <a:rPr lang="en-PH" altLang="en-US" sz="3200">
                <a:latin typeface="Arial" panose="020B0604020202020204" pitchFamily="34" charset="0"/>
                <a:cs typeface="Arial" panose="020B0604020202020204" pitchFamily="34" charset="0"/>
              </a:rPr>
              <a:t>Issued in 1986, the patent for a 3D-printer was ahead of its time. The document outlines the basic technology used by most 3D printers: stereolithography, or light-solidification of resin.</a:t>
            </a:r>
            <a:endParaRPr lang="en-PH" altLang="en-US" sz="320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6" name="Text Box 5"/>
          <p:cNvSpPr txBox="1"/>
          <p:nvPr/>
        </p:nvSpPr>
        <p:spPr>
          <a:xfrm>
            <a:off x="486410" y="60325"/>
            <a:ext cx="8369300" cy="768350"/>
          </a:xfrm>
          <a:prstGeom prst="rect">
            <a:avLst/>
          </a:prstGeom>
          <a:noFill/>
        </p:spPr>
        <p:txBody>
          <a:bodyPr wrap="square" rtlCol="0">
            <a:spAutoFit/>
          </a:bodyPr>
          <a:lstStyle/>
          <a:p>
            <a:r>
              <a:rPr lang="en-US" sz="4400" b="1"/>
              <a:t>Global Positioning System</a:t>
            </a:r>
            <a:endParaRPr lang="en-US" sz="4400" b="1"/>
          </a:p>
        </p:txBody>
      </p:sp>
      <p:sp>
        <p:nvSpPr>
          <p:cNvPr id="4" name="Text Box 3"/>
          <p:cNvSpPr txBox="1"/>
          <p:nvPr/>
        </p:nvSpPr>
        <p:spPr>
          <a:xfrm>
            <a:off x="1085850" y="5705475"/>
            <a:ext cx="10514965" cy="1076325"/>
          </a:xfrm>
          <a:prstGeom prst="rect">
            <a:avLst/>
          </a:prstGeom>
          <a:noFill/>
        </p:spPr>
        <p:txBody>
          <a:bodyPr wrap="square" rtlCol="0">
            <a:spAutoFit/>
          </a:bodyPr>
          <a:lstStyle/>
          <a:p>
            <a:r>
              <a:rPr lang="en-US" sz="3200"/>
              <a:t>Patent Name: “Navigation system using satellites and passive ranging techniques”</a:t>
            </a:r>
            <a:endParaRPr lang="en-US" sz="3200"/>
          </a:p>
        </p:txBody>
      </p:sp>
      <p:pic>
        <p:nvPicPr>
          <p:cNvPr id="120" name="Picture 119"/>
          <p:cNvPicPr/>
          <p:nvPr/>
        </p:nvPicPr>
        <p:blipFill>
          <a:blip r:embed="rId2"/>
          <a:stretch>
            <a:fillRect/>
          </a:stretch>
        </p:blipFill>
        <p:spPr>
          <a:xfrm>
            <a:off x="1368425" y="828675"/>
            <a:ext cx="8477250" cy="486664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551815" y="365125"/>
            <a:ext cx="11068050" cy="3471545"/>
          </a:xfrm>
          <a:prstGeom prst="rect">
            <a:avLst/>
          </a:prstGeom>
          <a:noFill/>
        </p:spPr>
        <p:txBody>
          <a:bodyPr wrap="square" rtlCol="0">
            <a:noAutofit/>
          </a:bodyPr>
          <a:lstStyle/>
          <a:p>
            <a:pPr algn="just"/>
            <a:r>
              <a:rPr lang="en-PH" altLang="en-US" sz="3200">
                <a:latin typeface="Arial" panose="020B0604020202020204" pitchFamily="34" charset="0"/>
                <a:cs typeface="Arial" panose="020B0604020202020204" pitchFamily="34" charset="0"/>
              </a:rPr>
              <a:t>The Navy invented GPS satellites, and today, the Air Force operates them. Roger L. Easton was the mastermind behind the Global Positioning System, as he developed technologies in the 1950s for the Naval Research Laboratory (NRL) to track U.S.</a:t>
            </a:r>
            <a:endParaRPr lang="en-PH" altLang="en-US" sz="3200">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6" name="Text Box 5"/>
          <p:cNvSpPr txBox="1"/>
          <p:nvPr/>
        </p:nvSpPr>
        <p:spPr>
          <a:xfrm>
            <a:off x="486410" y="60325"/>
            <a:ext cx="8369300" cy="768350"/>
          </a:xfrm>
          <a:prstGeom prst="rect">
            <a:avLst/>
          </a:prstGeom>
          <a:noFill/>
        </p:spPr>
        <p:txBody>
          <a:bodyPr wrap="square" rtlCol="0">
            <a:spAutoFit/>
          </a:bodyPr>
          <a:lstStyle/>
          <a:p>
            <a:r>
              <a:rPr lang="en-US" sz="4400" b="1"/>
              <a:t>Bluetooth</a:t>
            </a:r>
            <a:endParaRPr lang="en-US" sz="4400" b="1"/>
          </a:p>
        </p:txBody>
      </p:sp>
      <p:sp>
        <p:nvSpPr>
          <p:cNvPr id="4" name="Text Box 3"/>
          <p:cNvSpPr txBox="1"/>
          <p:nvPr/>
        </p:nvSpPr>
        <p:spPr>
          <a:xfrm>
            <a:off x="1085850" y="5705475"/>
            <a:ext cx="10514965" cy="1076325"/>
          </a:xfrm>
          <a:prstGeom prst="rect">
            <a:avLst/>
          </a:prstGeom>
          <a:noFill/>
        </p:spPr>
        <p:txBody>
          <a:bodyPr wrap="square" rtlCol="0">
            <a:spAutoFit/>
          </a:bodyPr>
          <a:lstStyle/>
          <a:p>
            <a:r>
              <a:rPr lang="en-US" sz="3200"/>
              <a:t>Patent Name: “Peer to peer information exchange for mobile communications devices”</a:t>
            </a:r>
            <a:endParaRPr lang="en-US" sz="3200"/>
          </a:p>
        </p:txBody>
      </p:sp>
      <p:pic>
        <p:nvPicPr>
          <p:cNvPr id="121" name="Picture 120"/>
          <p:cNvPicPr/>
          <p:nvPr/>
        </p:nvPicPr>
        <p:blipFill>
          <a:blip r:embed="rId2"/>
          <a:stretch>
            <a:fillRect/>
          </a:stretch>
        </p:blipFill>
        <p:spPr>
          <a:xfrm>
            <a:off x="1714500" y="820420"/>
            <a:ext cx="7616825" cy="478472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551815" y="365125"/>
            <a:ext cx="11068050" cy="3471545"/>
          </a:xfrm>
          <a:prstGeom prst="rect">
            <a:avLst/>
          </a:prstGeom>
          <a:noFill/>
        </p:spPr>
        <p:txBody>
          <a:bodyPr wrap="square" rtlCol="0">
            <a:noAutofit/>
          </a:bodyPr>
          <a:lstStyle/>
          <a:p>
            <a:pPr algn="just"/>
            <a:r>
              <a:rPr lang="en-PH" altLang="en-US" sz="3200">
                <a:latin typeface="Arial" panose="020B0604020202020204" pitchFamily="34" charset="0"/>
                <a:cs typeface="Arial" panose="020B0604020202020204" pitchFamily="34" charset="0"/>
              </a:rPr>
              <a:t>Jaap Haartsen invented Bluetooth in 1994, allowing electronic devices in close proximity to connect to each other using low-power, ultra high-frequency radio waves. Haartsen has drafted multiple patents relating to Bluetooth, but they have been stymied by lawsuits and patent trolls. This 2013 patent describes how the technology can be used to transmit GPS data.</a:t>
            </a:r>
            <a:endParaRPr lang="en-PH" altLang="en-US" sz="3200">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4" name="Text Box 3"/>
          <p:cNvSpPr txBox="1"/>
          <p:nvPr/>
        </p:nvSpPr>
        <p:spPr>
          <a:xfrm>
            <a:off x="1085850" y="5705475"/>
            <a:ext cx="10514965" cy="583565"/>
          </a:xfrm>
          <a:prstGeom prst="rect">
            <a:avLst/>
          </a:prstGeom>
          <a:noFill/>
        </p:spPr>
        <p:txBody>
          <a:bodyPr wrap="square" rtlCol="0">
            <a:spAutoFit/>
          </a:bodyPr>
          <a:lstStyle/>
          <a:p>
            <a:r>
              <a:rPr lang="en-US" sz="3200"/>
              <a:t>Patent Name:</a:t>
            </a:r>
            <a:r>
              <a:rPr lang="en-PH" altLang="en-US" sz="3200"/>
              <a:t> </a:t>
            </a:r>
            <a:r>
              <a:rPr lang="en-US" sz="3200"/>
              <a:t>“Apparatus for utilizing solar radiant energy”</a:t>
            </a:r>
            <a:endParaRPr lang="en-US" sz="3200"/>
          </a:p>
        </p:txBody>
      </p:sp>
      <p:pic>
        <p:nvPicPr>
          <p:cNvPr id="121" name="Picture 120"/>
          <p:cNvPicPr/>
          <p:nvPr/>
        </p:nvPicPr>
        <p:blipFill>
          <a:blip r:embed="rId2"/>
          <a:stretch>
            <a:fillRect/>
          </a:stretch>
        </p:blipFill>
        <p:spPr>
          <a:xfrm>
            <a:off x="1447800" y="916305"/>
            <a:ext cx="7636510" cy="4709160"/>
          </a:xfrm>
          <a:prstGeom prst="rect">
            <a:avLst/>
          </a:prstGeom>
          <a:noFill/>
          <a:ln w="9525">
            <a:noFill/>
          </a:ln>
        </p:spPr>
      </p:pic>
      <p:sp>
        <p:nvSpPr>
          <p:cNvPr id="7" name="Text Box 6"/>
          <p:cNvSpPr txBox="1"/>
          <p:nvPr/>
        </p:nvSpPr>
        <p:spPr>
          <a:xfrm>
            <a:off x="466725" y="180975"/>
            <a:ext cx="5283200" cy="615315"/>
          </a:xfrm>
          <a:prstGeom prst="rect">
            <a:avLst/>
          </a:prstGeom>
          <a:noFill/>
        </p:spPr>
        <p:txBody>
          <a:bodyPr wrap="square" rtlCol="0">
            <a:noAutofit/>
          </a:bodyPr>
          <a:lstStyle/>
          <a:p>
            <a:r>
              <a:rPr lang="en-US" sz="4400" b="1"/>
              <a:t>Solar Panel</a:t>
            </a:r>
            <a:endParaRPr lang="en-US" sz="440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551815" y="365125"/>
            <a:ext cx="11068050" cy="3471545"/>
          </a:xfrm>
          <a:prstGeom prst="rect">
            <a:avLst/>
          </a:prstGeom>
          <a:noFill/>
        </p:spPr>
        <p:txBody>
          <a:bodyPr wrap="square" rtlCol="0">
            <a:noAutofit/>
          </a:bodyPr>
          <a:lstStyle/>
          <a:p>
            <a:pPr algn="just"/>
            <a:r>
              <a:rPr lang="en-PH" altLang="en-US" sz="3200">
                <a:latin typeface="Arial" panose="020B0604020202020204" pitchFamily="34" charset="0"/>
                <a:cs typeface="Arial" panose="020B0604020202020204" pitchFamily="34" charset="0"/>
              </a:rPr>
              <a:t>In the early 19th century, French physicist Edmund Becquerel discovered that certain materials generate a small electric current when exposed to light: the photovoltaic effect. In 1839, he created the first photovoltaic cell by connecting silver chloride placed in an acid solution to platinum electrodes.</a:t>
            </a:r>
            <a:endParaRPr lang="en-PH" altLang="en-US" sz="3200">
              <a:latin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4" name="Text Box 3"/>
          <p:cNvSpPr txBox="1"/>
          <p:nvPr/>
        </p:nvSpPr>
        <p:spPr>
          <a:xfrm>
            <a:off x="1085850" y="5705475"/>
            <a:ext cx="10514965" cy="1076325"/>
          </a:xfrm>
          <a:prstGeom prst="rect">
            <a:avLst/>
          </a:prstGeom>
          <a:noFill/>
        </p:spPr>
        <p:txBody>
          <a:bodyPr wrap="square" rtlCol="0">
            <a:spAutoFit/>
          </a:bodyPr>
          <a:lstStyle/>
          <a:p>
            <a:r>
              <a:rPr lang="en-US" sz="3200"/>
              <a:t>Patent Name:</a:t>
            </a:r>
            <a:r>
              <a:rPr lang="en-PH" altLang="en-US" sz="3200"/>
              <a:t> </a:t>
            </a:r>
            <a:r>
              <a:rPr lang="en-US" sz="3200"/>
              <a:t>“Virtual reality generator for displaying abstract information”</a:t>
            </a:r>
            <a:endParaRPr lang="en-US" sz="3200"/>
          </a:p>
        </p:txBody>
      </p:sp>
      <p:sp>
        <p:nvSpPr>
          <p:cNvPr id="7" name="Text Box 6"/>
          <p:cNvSpPr txBox="1"/>
          <p:nvPr/>
        </p:nvSpPr>
        <p:spPr>
          <a:xfrm>
            <a:off x="466725" y="180975"/>
            <a:ext cx="5283200" cy="615315"/>
          </a:xfrm>
          <a:prstGeom prst="rect">
            <a:avLst/>
          </a:prstGeom>
          <a:noFill/>
        </p:spPr>
        <p:txBody>
          <a:bodyPr wrap="square" rtlCol="0">
            <a:noAutofit/>
          </a:bodyPr>
          <a:lstStyle/>
          <a:p>
            <a:r>
              <a:rPr lang="en-US" sz="4400" b="1"/>
              <a:t>Virtual Reality</a:t>
            </a:r>
            <a:endParaRPr lang="en-US" sz="4400" b="1"/>
          </a:p>
        </p:txBody>
      </p:sp>
      <p:pic>
        <p:nvPicPr>
          <p:cNvPr id="122" name="Picture 121"/>
          <p:cNvPicPr/>
          <p:nvPr/>
        </p:nvPicPr>
        <p:blipFill>
          <a:blip r:embed="rId2"/>
          <a:stretch>
            <a:fillRect/>
          </a:stretch>
        </p:blipFill>
        <p:spPr>
          <a:xfrm>
            <a:off x="1885315" y="1102360"/>
            <a:ext cx="7181850" cy="452310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551815" y="365125"/>
            <a:ext cx="11068050" cy="3471545"/>
          </a:xfrm>
          <a:prstGeom prst="rect">
            <a:avLst/>
          </a:prstGeom>
          <a:noFill/>
        </p:spPr>
        <p:txBody>
          <a:bodyPr wrap="square" rtlCol="0">
            <a:noAutofit/>
          </a:bodyPr>
          <a:lstStyle/>
          <a:p>
            <a:pPr algn="just"/>
            <a:r>
              <a:rPr lang="en-PH" altLang="en-US" sz="3200">
                <a:latin typeface="Arial" panose="020B0604020202020204" pitchFamily="34" charset="0"/>
                <a:cs typeface="Arial" panose="020B0604020202020204" pitchFamily="34" charset="0"/>
              </a:rPr>
              <a:t>The first proposed VR headset was designed not to play video games or watch sports, but to help users analyze financial data. The 2000 patent for a “virtual reality generator” awarded to inventor Paul Marshall describes a computer-generated world that the user could navigate through “using control devices, such as a trackball or spaceball, an electronic data glove, a magnetic head position tracker, a keyboard, a joystick or a steering wheel.”</a:t>
            </a:r>
            <a:endParaRPr lang="en-PH" altLang="en-US" sz="3200">
              <a:latin typeface="Arial" panose="020B0604020202020204" pitchFamily="34" charset="0"/>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374650" y="74295"/>
            <a:ext cx="11134090" cy="6656705"/>
          </a:xfrm>
          <a:prstGeom prst="rect">
            <a:avLst/>
          </a:prstGeom>
          <a:noFill/>
        </p:spPr>
        <p:txBody>
          <a:bodyPr wrap="square" rtlCol="0">
            <a:noAutofit/>
          </a:bodyPr>
          <a:lstStyle/>
          <a:p>
            <a:pPr algn="just"/>
            <a:r>
              <a:rPr lang="en-PH" sz="3600" b="1">
                <a:latin typeface="You Are Not Alone" panose="00000500000000000000" charset="0"/>
                <a:cs typeface="You Are Not Alone" panose="00000500000000000000" charset="0"/>
              </a:rPr>
              <a:t>COPYRIGHT</a:t>
            </a:r>
            <a:endParaRPr lang="en-PH" sz="3600" b="1">
              <a:latin typeface="You Are Not Alone" panose="00000500000000000000" charset="0"/>
              <a:cs typeface="You Are Not Alone" panose="00000500000000000000" charset="0"/>
            </a:endParaRPr>
          </a:p>
          <a:p>
            <a:pPr algn="just"/>
            <a:endParaRPr lang="en-PH" sz="3600" b="1">
              <a:latin typeface="You Are Not Alone" panose="00000500000000000000" charset="0"/>
              <a:cs typeface="You Are Not Alone" panose="00000500000000000000" charset="0"/>
            </a:endParaRPr>
          </a:p>
          <a:p>
            <a:pPr marL="571500" indent="-571500" algn="just">
              <a:buFont typeface="Arial" panose="020B0604020202020204" pitchFamily="34" charset="0"/>
              <a:buChar char="•"/>
            </a:pPr>
            <a:r>
              <a:rPr lang="en-PH" sz="3600">
                <a:latin typeface="Arial" panose="020B0604020202020204" pitchFamily="34" charset="0"/>
                <a:cs typeface="Arial" panose="020B0604020202020204" pitchFamily="34" charset="0"/>
              </a:rPr>
              <a:t>Copyright is the right of an author of a creative work to prevent others from copying that work. Creative works include computer code, brochures, manuals, web pages, books, songs, movies, and blog posts. </a:t>
            </a:r>
            <a:endParaRPr lang="en-PH" sz="36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sz="3600">
                <a:latin typeface="Arial" panose="020B0604020202020204" pitchFamily="34" charset="0"/>
                <a:cs typeface="Arial" panose="020B0604020202020204" pitchFamily="34" charset="0"/>
              </a:rPr>
              <a:t>It is a good idea, however, to include a copyright notice, such as “© David Canton 2022. All rights reserved”.</a:t>
            </a:r>
            <a:endParaRPr lang="en-PH" sz="3600">
              <a:latin typeface="Arial" panose="020B0604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7" name="Text Box 6"/>
          <p:cNvSpPr txBox="1"/>
          <p:nvPr/>
        </p:nvSpPr>
        <p:spPr>
          <a:xfrm>
            <a:off x="466725" y="180975"/>
            <a:ext cx="5283200" cy="615315"/>
          </a:xfrm>
          <a:prstGeom prst="rect">
            <a:avLst/>
          </a:prstGeom>
          <a:noFill/>
        </p:spPr>
        <p:txBody>
          <a:bodyPr wrap="square" rtlCol="0">
            <a:noAutofit/>
          </a:bodyPr>
          <a:lstStyle/>
          <a:p>
            <a:endParaRPr lang="en-US" sz="4400" b="1"/>
          </a:p>
        </p:txBody>
      </p:sp>
      <p:pic>
        <p:nvPicPr>
          <p:cNvPr id="123" name="Picture 122"/>
          <p:cNvPicPr/>
          <p:nvPr/>
        </p:nvPicPr>
        <p:blipFill>
          <a:blip r:embed="rId2"/>
          <a:stretch>
            <a:fillRect/>
          </a:stretch>
        </p:blipFill>
        <p:spPr>
          <a:xfrm>
            <a:off x="305435" y="496570"/>
            <a:ext cx="11581130" cy="392303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4" name="Text Box 3"/>
          <p:cNvSpPr txBox="1"/>
          <p:nvPr/>
        </p:nvSpPr>
        <p:spPr>
          <a:xfrm>
            <a:off x="466725" y="466090"/>
            <a:ext cx="10887075" cy="5377815"/>
          </a:xfrm>
          <a:prstGeom prst="rect">
            <a:avLst/>
          </a:prstGeom>
          <a:noFill/>
        </p:spPr>
        <p:txBody>
          <a:bodyPr wrap="square" rtlCol="0">
            <a:noAutofit/>
          </a:bodyPr>
          <a:lstStyle/>
          <a:p>
            <a:r>
              <a:rPr lang="en-US" sz="4000"/>
              <a:t>When to Use No Copyright Infringement Intended?</a:t>
            </a:r>
            <a:endParaRPr lang="en-US" sz="4000"/>
          </a:p>
          <a:p>
            <a:endParaRPr lang="en-US" sz="4000"/>
          </a:p>
          <a:p>
            <a:pPr algn="just"/>
            <a:r>
              <a:rPr lang="en-US" sz="4000"/>
              <a:t>The phrase “no infringement of copyright is intended” is often used as a disclaimer to show that the use of copyrighted material in a certain work was not done with the intention of infringing on the original owner’s rights.</a:t>
            </a:r>
            <a:endParaRPr lang="en-US" sz="4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4" name="Text Box 3"/>
          <p:cNvSpPr txBox="1"/>
          <p:nvPr/>
        </p:nvSpPr>
        <p:spPr>
          <a:xfrm>
            <a:off x="466725" y="466090"/>
            <a:ext cx="10887075" cy="5377815"/>
          </a:xfrm>
          <a:prstGeom prst="rect">
            <a:avLst/>
          </a:prstGeom>
          <a:noFill/>
        </p:spPr>
        <p:txBody>
          <a:bodyPr wrap="square" rtlCol="0">
            <a:noAutofit/>
          </a:bodyPr>
          <a:lstStyle/>
          <a:p>
            <a:r>
              <a:rPr lang="en-US" sz="3200"/>
              <a:t>What to Use Instead of “No Copyright Infringement Intended?”</a:t>
            </a:r>
            <a:endParaRPr lang="en-US" sz="3200"/>
          </a:p>
          <a:p>
            <a:endParaRPr lang="en-US" sz="3200"/>
          </a:p>
          <a:p>
            <a:r>
              <a:rPr lang="en-US" sz="3200"/>
              <a:t>Instead of using “no copyright infringement intended,” you can consider using phrases such as:</a:t>
            </a:r>
            <a:endParaRPr lang="en-US" sz="3200"/>
          </a:p>
          <a:p>
            <a:pPr marL="457200" indent="-457200">
              <a:buFont typeface="Arial" panose="020B0604020202020204" pitchFamily="34" charset="0"/>
              <a:buChar char="•"/>
            </a:pPr>
            <a:r>
              <a:rPr lang="en-PH" altLang="en-US" sz="3200"/>
              <a:t>“</a:t>
            </a:r>
            <a:r>
              <a:rPr lang="en-US" sz="3200"/>
              <a:t>Content used with permission”</a:t>
            </a:r>
            <a:endParaRPr lang="en-US" sz="3200"/>
          </a:p>
          <a:p>
            <a:pPr marL="457200" indent="-457200">
              <a:buFont typeface="Arial" panose="020B0604020202020204" pitchFamily="34" charset="0"/>
              <a:buChar char="•"/>
            </a:pPr>
            <a:r>
              <a:rPr lang="en-US" sz="3200"/>
              <a:t>“Used under fair use/fair dealing”</a:t>
            </a:r>
            <a:endParaRPr lang="en-US" sz="3200"/>
          </a:p>
          <a:p>
            <a:pPr marL="457200" indent="-457200">
              <a:buFont typeface="Arial" panose="020B0604020202020204" pitchFamily="34" charset="0"/>
              <a:buChar char="•"/>
            </a:pPr>
            <a:r>
              <a:rPr lang="en-US" sz="3200"/>
              <a:t>“All rights belong to the respective owners”</a:t>
            </a:r>
            <a:endParaRPr lang="en-US" sz="3200"/>
          </a:p>
          <a:p>
            <a:pPr marL="457200" indent="-457200">
              <a:buFont typeface="Arial" panose="020B0604020202020204" pitchFamily="34" charset="0"/>
              <a:buChar char="•"/>
            </a:pPr>
            <a:r>
              <a:rPr lang="en-US" sz="3200"/>
              <a:t>“Content shared for informational/educational purposes”</a:t>
            </a:r>
            <a:endParaRPr lang="en-US" sz="3200"/>
          </a:p>
          <a:p>
            <a:pPr marL="457200" indent="-457200">
              <a:buFont typeface="Arial" panose="020B0604020202020204" pitchFamily="34" charset="0"/>
              <a:buChar char="•"/>
            </a:pPr>
            <a:r>
              <a:rPr lang="en-US" sz="3200"/>
              <a:t>“Used with proper attribution”</a:t>
            </a:r>
            <a:endParaRPr lang="en-US" sz="3200"/>
          </a:p>
          <a:p>
            <a:pPr marL="457200" indent="-457200">
              <a:buFont typeface="Arial" panose="020B0604020202020204" pitchFamily="34" charset="0"/>
              <a:buChar char="•"/>
            </a:pPr>
            <a:r>
              <a:rPr lang="en-US" sz="3200"/>
              <a:t>“Content used in accordance with copyright law”</a:t>
            </a:r>
            <a:endParaRPr lang="en-US" sz="3200"/>
          </a:p>
          <a:p>
            <a:pPr marL="457200" indent="-457200">
              <a:buFont typeface="Arial" panose="020B0604020202020204" pitchFamily="34" charset="0"/>
              <a:buChar char="•"/>
            </a:pPr>
            <a:r>
              <a:rPr lang="en-US" sz="3200"/>
              <a:t>“Material shared with consent of copyright holder”</a:t>
            </a:r>
            <a:endParaRPr lang="en-US" sz="3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133350" y="496570"/>
            <a:ext cx="11389360" cy="5128895"/>
          </a:xfrm>
          <a:prstGeom prst="rect">
            <a:avLst/>
          </a:prstGeom>
          <a:noFill/>
        </p:spPr>
        <p:txBody>
          <a:bodyPr wrap="square" rtlCol="0">
            <a:noAutofit/>
          </a:bodyPr>
          <a:lstStyle/>
          <a:p>
            <a:pPr algn="just"/>
            <a:endParaRPr lang="en-PH" altLang="en-US" sz="3600">
              <a:latin typeface="Arial" panose="020B0604020202020204" pitchFamily="34" charset="0"/>
              <a:cs typeface="Arial" panose="020B0604020202020204" pitchFamily="34" charset="0"/>
            </a:endParaRPr>
          </a:p>
        </p:txBody>
      </p:sp>
      <p:sp>
        <p:nvSpPr>
          <p:cNvPr id="7" name="Text Box 6"/>
          <p:cNvSpPr txBox="1"/>
          <p:nvPr/>
        </p:nvSpPr>
        <p:spPr>
          <a:xfrm>
            <a:off x="466725" y="180975"/>
            <a:ext cx="5283200" cy="615315"/>
          </a:xfrm>
          <a:prstGeom prst="rect">
            <a:avLst/>
          </a:prstGeom>
          <a:noFill/>
        </p:spPr>
        <p:txBody>
          <a:bodyPr wrap="square" rtlCol="0">
            <a:noAutofit/>
          </a:bodyPr>
          <a:lstStyle/>
          <a:p>
            <a:endParaRPr lang="en-US" sz="4400" b="1"/>
          </a:p>
        </p:txBody>
      </p:sp>
      <p:pic>
        <p:nvPicPr>
          <p:cNvPr id="124" name="Picture 123"/>
          <p:cNvPicPr/>
          <p:nvPr/>
        </p:nvPicPr>
        <p:blipFill>
          <a:blip r:embed="rId2"/>
          <a:stretch>
            <a:fillRect/>
          </a:stretch>
        </p:blipFill>
        <p:spPr>
          <a:xfrm>
            <a:off x="323850" y="2476500"/>
            <a:ext cx="5810885" cy="4190365"/>
          </a:xfrm>
          <a:prstGeom prst="rect">
            <a:avLst/>
          </a:prstGeom>
          <a:noFill/>
          <a:ln w="9525">
            <a:noFill/>
          </a:ln>
        </p:spPr>
      </p:pic>
      <p:pic>
        <p:nvPicPr>
          <p:cNvPr id="125" name="Picture 124"/>
          <p:cNvPicPr/>
          <p:nvPr/>
        </p:nvPicPr>
        <p:blipFill>
          <a:blip r:embed="rId3"/>
          <a:stretch>
            <a:fillRect/>
          </a:stretch>
        </p:blipFill>
        <p:spPr>
          <a:xfrm>
            <a:off x="5749925" y="180658"/>
            <a:ext cx="6191250" cy="4295775"/>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4" name="Text Box 3"/>
          <p:cNvSpPr txBox="1"/>
          <p:nvPr/>
        </p:nvSpPr>
        <p:spPr>
          <a:xfrm>
            <a:off x="116840" y="155575"/>
            <a:ext cx="7609205" cy="706755"/>
          </a:xfrm>
          <a:prstGeom prst="rect">
            <a:avLst/>
          </a:prstGeom>
          <a:noFill/>
        </p:spPr>
        <p:txBody>
          <a:bodyPr wrap="square" rtlCol="0">
            <a:spAutoFit/>
          </a:bodyPr>
          <a:lstStyle/>
          <a:p>
            <a:r>
              <a:rPr lang="en-PH" altLang="en-US" sz="4000" b="1">
                <a:solidFill>
                  <a:schemeClr val="tx1"/>
                </a:solidFill>
                <a:latin typeface="You Are Not Alone" panose="00000500000000000000" charset="0"/>
                <a:cs typeface="You Are Not Alone" panose="00000500000000000000" charset="0"/>
                <a:sym typeface="+mn-ea"/>
              </a:rPr>
              <a:t>Trade Secret</a:t>
            </a:r>
            <a:endParaRPr lang="en-PH" altLang="en-US" sz="4000" b="1">
              <a:solidFill>
                <a:schemeClr val="tx1"/>
              </a:solidFill>
              <a:latin typeface="You Are Not Alone" panose="00000500000000000000" charset="0"/>
              <a:cs typeface="You Are Not Alone" panose="00000500000000000000" charset="0"/>
              <a:sym typeface="+mn-ea"/>
            </a:endParaRPr>
          </a:p>
        </p:txBody>
      </p:sp>
      <p:sp>
        <p:nvSpPr>
          <p:cNvPr id="5" name="Text Box 4"/>
          <p:cNvSpPr txBox="1"/>
          <p:nvPr/>
        </p:nvSpPr>
        <p:spPr>
          <a:xfrm>
            <a:off x="183515" y="1220470"/>
            <a:ext cx="11389360" cy="5128895"/>
          </a:xfrm>
          <a:prstGeom prst="rect">
            <a:avLst/>
          </a:prstGeom>
          <a:noFill/>
        </p:spPr>
        <p:txBody>
          <a:bodyPr wrap="square" rtlCol="0">
            <a:noAutofit/>
          </a:bodyPr>
          <a:lstStyle/>
          <a:p>
            <a:pPr algn="just"/>
            <a:r>
              <a:rPr lang="en-US" sz="3600">
                <a:solidFill>
                  <a:schemeClr val="tx1"/>
                </a:solidFill>
                <a:latin typeface="Arial" panose="020B0604020202020204" pitchFamily="34" charset="0"/>
                <a:cs typeface="Arial" panose="020B0604020202020204" pitchFamily="34" charset="0"/>
              </a:rPr>
              <a:t>Trade secrets are a type of intellectual property that includes formulas, practices, processes, designs, instruments, patterns, or compilations of information that have inherent economic value because they are not generally known or readily ascertainable by others, and which the owner takes reasonable measures to keep secret. Intellectual property law gives the owner of a trade secret the right to restrict others from disclosing it</a:t>
            </a:r>
            <a:r>
              <a:rPr lang="en-PH" altLang="en-US" sz="3600">
                <a:solidFill>
                  <a:schemeClr val="tx1"/>
                </a:solidFill>
                <a:latin typeface="Arial" panose="020B0604020202020204" pitchFamily="34" charset="0"/>
                <a:cs typeface="Arial" panose="020B0604020202020204" pitchFamily="34" charset="0"/>
              </a:rPr>
              <a:t>.</a:t>
            </a:r>
            <a:endParaRPr lang="en-PH" altLang="en-US" sz="36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4" name="Text Box 3"/>
          <p:cNvSpPr txBox="1"/>
          <p:nvPr/>
        </p:nvSpPr>
        <p:spPr>
          <a:xfrm>
            <a:off x="116840" y="365125"/>
            <a:ext cx="9438005" cy="706755"/>
          </a:xfrm>
          <a:prstGeom prst="rect">
            <a:avLst/>
          </a:prstGeom>
          <a:noFill/>
        </p:spPr>
        <p:txBody>
          <a:bodyPr wrap="square" rtlCol="0">
            <a:spAutoFit/>
          </a:bodyPr>
          <a:lstStyle/>
          <a:p>
            <a:r>
              <a:rPr lang="en-PH" altLang="en-US" sz="4000" b="1">
                <a:solidFill>
                  <a:schemeClr val="tx1"/>
                </a:solidFill>
                <a:latin typeface="You Are Not Alone" panose="00000500000000000000" charset="0"/>
                <a:cs typeface="You Are Not Alone" panose="00000500000000000000" charset="0"/>
                <a:sym typeface="+mn-ea"/>
              </a:rPr>
              <a:t>A trade secret is information that:</a:t>
            </a:r>
            <a:endParaRPr lang="en-PH" altLang="en-US" sz="4000" b="1">
              <a:solidFill>
                <a:schemeClr val="tx1"/>
              </a:solidFill>
              <a:latin typeface="You Are Not Alone" panose="00000500000000000000" charset="0"/>
              <a:cs typeface="You Are Not Alone" panose="00000500000000000000" charset="0"/>
              <a:sym typeface="+mn-ea"/>
            </a:endParaRPr>
          </a:p>
        </p:txBody>
      </p:sp>
      <p:sp>
        <p:nvSpPr>
          <p:cNvPr id="5" name="Text Box 4"/>
          <p:cNvSpPr txBox="1"/>
          <p:nvPr/>
        </p:nvSpPr>
        <p:spPr>
          <a:xfrm>
            <a:off x="183515" y="1220470"/>
            <a:ext cx="11389360" cy="5128895"/>
          </a:xfrm>
          <a:prstGeom prst="rect">
            <a:avLst/>
          </a:prstGeom>
          <a:noFill/>
        </p:spPr>
        <p:txBody>
          <a:bodyPr wrap="square" rtlCol="0">
            <a:noAutofit/>
          </a:bodyPr>
          <a:lstStyle/>
          <a:p>
            <a:pPr marL="571500" indent="-571500" algn="just">
              <a:buFont typeface="Arial" panose="020B0604020202020204" pitchFamily="34" charset="0"/>
              <a:buChar char="•"/>
            </a:pPr>
            <a:r>
              <a:rPr lang="en-PH" altLang="en-US" sz="3600">
                <a:solidFill>
                  <a:schemeClr val="tx1"/>
                </a:solidFill>
                <a:latin typeface="Arial" panose="020B0604020202020204" pitchFamily="34" charset="0"/>
                <a:cs typeface="Arial" panose="020B0604020202020204" pitchFamily="34" charset="0"/>
              </a:rPr>
              <a:t>Is not generally known to the public;</a:t>
            </a:r>
            <a:endParaRPr lang="en-PH" altLang="en-US" sz="3600">
              <a:solidFill>
                <a:schemeClr val="tx1"/>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3600">
                <a:solidFill>
                  <a:schemeClr val="tx1"/>
                </a:solidFill>
                <a:latin typeface="Arial" panose="020B0604020202020204" pitchFamily="34" charset="0"/>
                <a:cs typeface="Arial" panose="020B0604020202020204" pitchFamily="34" charset="0"/>
              </a:rPr>
              <a:t>Confers economic benefit on its holder because the information is not publicly known.</a:t>
            </a:r>
            <a:endParaRPr lang="en-PH" altLang="en-US" sz="3600">
              <a:solidFill>
                <a:schemeClr val="tx1"/>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3600">
                <a:solidFill>
                  <a:schemeClr val="tx1"/>
                </a:solidFill>
                <a:latin typeface="Arial" panose="020B0604020202020204" pitchFamily="34" charset="0"/>
                <a:cs typeface="Arial" panose="020B0604020202020204" pitchFamily="34" charset="0"/>
              </a:rPr>
              <a:t>Where the holder makes reasonable efforts to maintain its secrecy.</a:t>
            </a:r>
            <a:endParaRPr lang="en-PH" altLang="en-US" sz="36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229870" y="365125"/>
            <a:ext cx="11389360" cy="2157730"/>
          </a:xfrm>
          <a:prstGeom prst="rect">
            <a:avLst/>
          </a:prstGeom>
          <a:noFill/>
        </p:spPr>
        <p:txBody>
          <a:bodyPr wrap="square" rtlCol="0">
            <a:noAutofit/>
          </a:bodyPr>
          <a:lstStyle/>
          <a:p>
            <a:pPr marL="571500" indent="-571500" algn="just">
              <a:buFont typeface="Arial" panose="020B0604020202020204" pitchFamily="34" charset="0"/>
              <a:buChar char="•"/>
            </a:pPr>
            <a:r>
              <a:rPr lang="en-PH" altLang="en-US" sz="3600">
                <a:latin typeface="Arial" panose="020B0604020202020204" pitchFamily="34" charset="0"/>
                <a:cs typeface="Arial" panose="020B0604020202020204" pitchFamily="34" charset="0"/>
              </a:rPr>
              <a:t>Examples of trade secrets include the Coca-Cola recipe, search engine algorithms, customer lists or sales methods.</a:t>
            </a:r>
            <a:endParaRPr lang="en-PH" altLang="en-US" sz="36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altLang="en-US" sz="3600">
              <a:latin typeface="Arial" panose="020B0604020202020204" pitchFamily="34" charset="0"/>
              <a:cs typeface="Arial" panose="020B0604020202020204" pitchFamily="34" charset="0"/>
            </a:endParaRPr>
          </a:p>
        </p:txBody>
      </p:sp>
      <p:pic>
        <p:nvPicPr>
          <p:cNvPr id="106" name="Picture 105"/>
          <p:cNvPicPr/>
          <p:nvPr/>
        </p:nvPicPr>
        <p:blipFill>
          <a:blip r:embed="rId2"/>
          <a:stretch>
            <a:fillRect/>
          </a:stretch>
        </p:blipFill>
        <p:spPr>
          <a:xfrm>
            <a:off x="2114550" y="2367280"/>
            <a:ext cx="7771765" cy="407670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401320" y="1550035"/>
            <a:ext cx="11389360" cy="3757930"/>
          </a:xfrm>
          <a:prstGeom prst="rect">
            <a:avLst/>
          </a:prstGeom>
          <a:noFill/>
        </p:spPr>
        <p:txBody>
          <a:bodyPr wrap="square" rtlCol="0">
            <a:noAutofit/>
          </a:bodyPr>
          <a:lstStyle/>
          <a:p>
            <a:pPr marL="571500" indent="-571500" algn="just">
              <a:buFont typeface="Arial" panose="020B0604020202020204" pitchFamily="34" charset="0"/>
              <a:buChar char="•"/>
            </a:pPr>
            <a:r>
              <a:rPr lang="en-PH" altLang="en-US" sz="3600">
                <a:latin typeface="Arial" panose="020B0604020202020204" pitchFamily="34" charset="0"/>
                <a:cs typeface="Arial" panose="020B0604020202020204" pitchFamily="34" charset="0"/>
              </a:rPr>
              <a:t>Google's search algorithm exists as intellectual property in code and is regularly updated to improve and protect its operations</a:t>
            </a:r>
            <a:endParaRPr lang="en-PH" altLang="en-US" sz="3600">
              <a:latin typeface="Arial" panose="020B0604020202020204" pitchFamily="34" charset="0"/>
              <a:cs typeface="Arial" panose="020B0604020202020204" pitchFamily="34" charset="0"/>
            </a:endParaRPr>
          </a:p>
        </p:txBody>
      </p:sp>
      <p:sp>
        <p:nvSpPr>
          <p:cNvPr id="6" name="Text Box 5"/>
          <p:cNvSpPr txBox="1"/>
          <p:nvPr/>
        </p:nvSpPr>
        <p:spPr>
          <a:xfrm>
            <a:off x="838200" y="365125"/>
            <a:ext cx="3683635" cy="706755"/>
          </a:xfrm>
          <a:prstGeom prst="rect">
            <a:avLst/>
          </a:prstGeom>
          <a:noFill/>
        </p:spPr>
        <p:txBody>
          <a:bodyPr wrap="square" rtlCol="0">
            <a:spAutoFit/>
          </a:bodyPr>
          <a:lstStyle/>
          <a:p>
            <a:r>
              <a:rPr lang="en-PH" altLang="en-US" sz="4000"/>
              <a:t>Example:</a:t>
            </a:r>
            <a:endParaRPr lang="en-PH" altLang="en-US" sz="4000"/>
          </a:p>
        </p:txBody>
      </p:sp>
      <p:pic>
        <p:nvPicPr>
          <p:cNvPr id="107" name="Picture 106"/>
          <p:cNvPicPr/>
          <p:nvPr/>
        </p:nvPicPr>
        <p:blipFill>
          <a:blip r:embed="rId2"/>
          <a:stretch>
            <a:fillRect/>
          </a:stretch>
        </p:blipFill>
        <p:spPr>
          <a:xfrm>
            <a:off x="6400165" y="3429000"/>
            <a:ext cx="5390515" cy="2748280"/>
          </a:xfrm>
          <a:prstGeom prst="rect">
            <a:avLst/>
          </a:prstGeom>
          <a:noFill/>
          <a:ln w="9525">
            <a:noFill/>
          </a:ln>
        </p:spPr>
      </p:pic>
      <p:pic>
        <p:nvPicPr>
          <p:cNvPr id="108" name="Picture 107"/>
          <p:cNvPicPr/>
          <p:nvPr/>
        </p:nvPicPr>
        <p:blipFill>
          <a:blip r:embed="rId3"/>
          <a:stretch>
            <a:fillRect/>
          </a:stretch>
        </p:blipFill>
        <p:spPr>
          <a:xfrm>
            <a:off x="628650" y="3429000"/>
            <a:ext cx="5258435" cy="274891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0"/>
            <a:ext cx="12192635" cy="6858000"/>
          </a:xfrm>
          <a:prstGeom prst="rect">
            <a:avLst/>
          </a:prstGeom>
          <a:noFill/>
          <a:ln w="9525">
            <a:noFill/>
          </a:ln>
        </p:spPr>
      </p:pic>
      <p:sp>
        <p:nvSpPr>
          <p:cNvPr id="5" name="Text Box 4"/>
          <p:cNvSpPr txBox="1"/>
          <p:nvPr/>
        </p:nvSpPr>
        <p:spPr>
          <a:xfrm>
            <a:off x="401320" y="1550035"/>
            <a:ext cx="11389360" cy="3757930"/>
          </a:xfrm>
          <a:prstGeom prst="rect">
            <a:avLst/>
          </a:prstGeom>
          <a:noFill/>
        </p:spPr>
        <p:txBody>
          <a:bodyPr wrap="square" rtlCol="0">
            <a:noAutofit/>
          </a:bodyPr>
          <a:lstStyle/>
          <a:p>
            <a:pPr marL="571500" indent="-571500" algn="just">
              <a:buFont typeface="Arial" panose="020B0604020202020204" pitchFamily="34" charset="0"/>
              <a:buChar char="•"/>
            </a:pPr>
            <a:endParaRPr lang="en-PH" altLang="en-US" sz="3600">
              <a:latin typeface="Arial" panose="020B0604020202020204" pitchFamily="34" charset="0"/>
              <a:cs typeface="Arial" panose="020B0604020202020204" pitchFamily="34" charset="0"/>
            </a:endParaRPr>
          </a:p>
        </p:txBody>
      </p:sp>
      <p:pic>
        <p:nvPicPr>
          <p:cNvPr id="109" name="Picture 108"/>
          <p:cNvPicPr/>
          <p:nvPr/>
        </p:nvPicPr>
        <p:blipFill>
          <a:blip r:embed="rId2"/>
          <a:stretch>
            <a:fillRect/>
          </a:stretch>
        </p:blipFill>
        <p:spPr>
          <a:xfrm>
            <a:off x="401320" y="2841625"/>
            <a:ext cx="6437630" cy="3875405"/>
          </a:xfrm>
          <a:prstGeom prst="rect">
            <a:avLst/>
          </a:prstGeom>
          <a:noFill/>
          <a:ln w="9525">
            <a:noFill/>
          </a:ln>
        </p:spPr>
      </p:pic>
      <p:pic>
        <p:nvPicPr>
          <p:cNvPr id="110" name="Picture 109"/>
          <p:cNvPicPr/>
          <p:nvPr/>
        </p:nvPicPr>
        <p:blipFill>
          <a:blip r:embed="rId3"/>
          <a:stretch>
            <a:fillRect/>
          </a:stretch>
        </p:blipFill>
        <p:spPr>
          <a:xfrm>
            <a:off x="5374640" y="365125"/>
            <a:ext cx="6567805" cy="346710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247650"/>
            <a:ext cx="12192635" cy="7105650"/>
          </a:xfrm>
          <a:prstGeom prst="rect">
            <a:avLst/>
          </a:prstGeom>
          <a:noFill/>
          <a:ln w="9525">
            <a:noFill/>
          </a:ln>
        </p:spPr>
      </p:pic>
      <p:sp>
        <p:nvSpPr>
          <p:cNvPr id="5" name="Text Box 4"/>
          <p:cNvSpPr txBox="1"/>
          <p:nvPr/>
        </p:nvSpPr>
        <p:spPr>
          <a:xfrm>
            <a:off x="401320" y="1550035"/>
            <a:ext cx="11389360" cy="3757930"/>
          </a:xfrm>
          <a:prstGeom prst="rect">
            <a:avLst/>
          </a:prstGeom>
          <a:noFill/>
        </p:spPr>
        <p:txBody>
          <a:bodyPr wrap="square" rtlCol="0">
            <a:noAutofit/>
          </a:bodyPr>
          <a:lstStyle/>
          <a:p>
            <a:pPr marL="571500" indent="-571500" algn="just">
              <a:buFont typeface="Arial" panose="020B0604020202020204" pitchFamily="34" charset="0"/>
              <a:buChar char="•"/>
            </a:pPr>
            <a:r>
              <a:rPr lang="en-PH" altLang="en-US" sz="3600">
                <a:latin typeface="Arial" panose="020B0604020202020204" pitchFamily="34" charset="0"/>
                <a:cs typeface="Arial" panose="020B0604020202020204" pitchFamily="34" charset="0"/>
              </a:rPr>
              <a:t>The term trademark refers to a recognizable insignia, phrase, word, or symbol that denotes a specific product and legally differentiates it from all other products of its kind. A trademark exclusively identifies a product as belonging to a specific company and recognizes the company's ownership of the brand.</a:t>
            </a:r>
            <a:endParaRPr lang="en-PH" altLang="en-US" sz="3600">
              <a:latin typeface="Arial" panose="020B0604020202020204" pitchFamily="34" charset="0"/>
              <a:cs typeface="Arial" panose="020B0604020202020204" pitchFamily="34" charset="0"/>
            </a:endParaRPr>
          </a:p>
        </p:txBody>
      </p:sp>
      <p:sp>
        <p:nvSpPr>
          <p:cNvPr id="4" name="Text Box 3"/>
          <p:cNvSpPr txBox="1"/>
          <p:nvPr/>
        </p:nvSpPr>
        <p:spPr>
          <a:xfrm>
            <a:off x="838200" y="212725"/>
            <a:ext cx="4064000" cy="829945"/>
          </a:xfrm>
          <a:prstGeom prst="rect">
            <a:avLst/>
          </a:prstGeom>
          <a:noFill/>
        </p:spPr>
        <p:txBody>
          <a:bodyPr wrap="square" rtlCol="0">
            <a:spAutoFit/>
          </a:bodyPr>
          <a:lstStyle/>
          <a:p>
            <a:r>
              <a:rPr lang="en-PH" altLang="en-US" sz="4800">
                <a:latin typeface="You Are Not Alone" panose="00000500000000000000" charset="0"/>
                <a:cs typeface="You Are Not Alone" panose="00000500000000000000" charset="0"/>
              </a:rPr>
              <a:t>TRADEMARK</a:t>
            </a:r>
            <a:endParaRPr lang="en-PH" altLang="en-US" sz="4800">
              <a:latin typeface="You Are Not Alone" panose="00000500000000000000" charset="0"/>
              <a:cs typeface="You Are Not Alone" panose="00000500000000000000"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247650"/>
            <a:ext cx="12192635" cy="6858000"/>
          </a:xfrm>
          <a:prstGeom prst="rect">
            <a:avLst/>
          </a:prstGeom>
          <a:noFill/>
          <a:ln w="9525">
            <a:noFill/>
          </a:ln>
        </p:spPr>
      </p:pic>
      <p:sp>
        <p:nvSpPr>
          <p:cNvPr id="5" name="Text Box 4"/>
          <p:cNvSpPr txBox="1"/>
          <p:nvPr/>
        </p:nvSpPr>
        <p:spPr>
          <a:xfrm>
            <a:off x="401320" y="1550035"/>
            <a:ext cx="11389360" cy="3757930"/>
          </a:xfrm>
          <a:prstGeom prst="rect">
            <a:avLst/>
          </a:prstGeom>
          <a:noFill/>
        </p:spPr>
        <p:txBody>
          <a:bodyPr wrap="square" rtlCol="0">
            <a:noAutofit/>
          </a:bodyPr>
          <a:lstStyle/>
          <a:p>
            <a:pPr marL="571500" indent="-571500" algn="just">
              <a:buFont typeface="Arial" panose="020B0604020202020204" pitchFamily="34" charset="0"/>
              <a:buChar char="•"/>
            </a:pPr>
            <a:endParaRPr lang="en-PH" altLang="en-US" sz="3600">
              <a:latin typeface="Arial" panose="020B0604020202020204" pitchFamily="34" charset="0"/>
              <a:cs typeface="Arial" panose="020B0604020202020204" pitchFamily="34" charset="0"/>
            </a:endParaRPr>
          </a:p>
        </p:txBody>
      </p:sp>
      <p:pic>
        <p:nvPicPr>
          <p:cNvPr id="111" name="Picture 110"/>
          <p:cNvPicPr/>
          <p:nvPr/>
        </p:nvPicPr>
        <p:blipFill>
          <a:blip r:embed="rId2"/>
          <a:stretch>
            <a:fillRect/>
          </a:stretch>
        </p:blipFill>
        <p:spPr>
          <a:xfrm>
            <a:off x="229870" y="4681855"/>
            <a:ext cx="6553835" cy="1852295"/>
          </a:xfrm>
          <a:prstGeom prst="rect">
            <a:avLst/>
          </a:prstGeom>
          <a:noFill/>
          <a:ln w="9525">
            <a:noFill/>
          </a:ln>
        </p:spPr>
      </p:pic>
      <p:pic>
        <p:nvPicPr>
          <p:cNvPr id="112" name="Picture 111"/>
          <p:cNvPicPr/>
          <p:nvPr/>
        </p:nvPicPr>
        <p:blipFill>
          <a:blip r:embed="rId3"/>
          <a:stretch>
            <a:fillRect/>
          </a:stretch>
        </p:blipFill>
        <p:spPr>
          <a:xfrm>
            <a:off x="229870" y="76200"/>
            <a:ext cx="5796915" cy="4464685"/>
          </a:xfrm>
          <a:prstGeom prst="rect">
            <a:avLst/>
          </a:prstGeom>
          <a:noFill/>
          <a:ln w="9525">
            <a:noFill/>
          </a:ln>
        </p:spPr>
      </p:pic>
      <p:pic>
        <p:nvPicPr>
          <p:cNvPr id="113" name="Picture 112"/>
          <p:cNvPicPr/>
          <p:nvPr/>
        </p:nvPicPr>
        <p:blipFill>
          <a:blip r:embed="rId4"/>
          <a:stretch>
            <a:fillRect/>
          </a:stretch>
        </p:blipFill>
        <p:spPr>
          <a:xfrm>
            <a:off x="6230620" y="95250"/>
            <a:ext cx="5560060" cy="4076700"/>
          </a:xfrm>
          <a:prstGeom prst="rect">
            <a:avLst/>
          </a:prstGeom>
          <a:noFill/>
          <a:ln w="9525">
            <a:noFill/>
          </a:ln>
        </p:spPr>
      </p:pic>
      <p:pic>
        <p:nvPicPr>
          <p:cNvPr id="114" name="Picture 113"/>
          <p:cNvPicPr/>
          <p:nvPr/>
        </p:nvPicPr>
        <p:blipFill>
          <a:blip r:embed="rId5"/>
          <a:stretch>
            <a:fillRect/>
          </a:stretch>
        </p:blipFill>
        <p:spPr>
          <a:xfrm>
            <a:off x="9353550" y="3905250"/>
            <a:ext cx="2838450" cy="2085975"/>
          </a:xfrm>
          <a:prstGeom prst="rect">
            <a:avLst/>
          </a:prstGeom>
          <a:noFill/>
          <a:ln w="9525">
            <a:noFill/>
          </a:ln>
        </p:spPr>
      </p:pic>
      <p:pic>
        <p:nvPicPr>
          <p:cNvPr id="115" name="Picture 114"/>
          <p:cNvPicPr/>
          <p:nvPr/>
        </p:nvPicPr>
        <p:blipFill>
          <a:blip r:embed="rId6"/>
          <a:stretch>
            <a:fillRect/>
          </a:stretch>
        </p:blipFill>
        <p:spPr>
          <a:xfrm>
            <a:off x="6868795" y="4630420"/>
            <a:ext cx="2552065" cy="1979930"/>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Differences in general Trademarks and Domain Names: What’s the Difference</a:t>
            </a:r>
            <a:endParaRPr lang="en-US" b="1"/>
          </a:p>
        </p:txBody>
      </p:sp>
      <p:sp>
        <p:nvSpPr>
          <p:cNvPr id="3" name="Content Placeholder 2"/>
          <p:cNvSpPr>
            <a:spLocks noGrp="1"/>
          </p:cNvSpPr>
          <p:nvPr>
            <p:ph idx="1"/>
          </p:nvPr>
        </p:nvSpPr>
        <p:spPr/>
        <p:txBody>
          <a:bodyPr/>
          <a:lstStyle/>
          <a:p>
            <a:r>
              <a:rPr lang="en-US"/>
              <a:t>Trademarks protect a company’s brand or design in order to set it apart from rivals selling identical goods or services.</a:t>
            </a:r>
            <a:endParaRPr lang="en-US"/>
          </a:p>
          <a:p>
            <a:r>
              <a:rPr lang="en-US"/>
              <a:t>The words that connect you to a website are known as domain names. To visit a website without domain names, you’d need to know its IP address.</a:t>
            </a:r>
            <a:endParaRPr lang="en-US"/>
          </a:p>
          <a:p>
            <a:endParaRPr lang="en-US"/>
          </a:p>
          <a:p>
            <a:r>
              <a:rPr lang="en-US"/>
              <a:t>www.trademark.net.ph</a:t>
            </a:r>
            <a:endParaRPr lang="en-US"/>
          </a:p>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191135"/>
            <a:ext cx="12192635" cy="7049135"/>
          </a:xfrm>
          <a:prstGeom prst="rect">
            <a:avLst/>
          </a:prstGeom>
          <a:noFill/>
          <a:ln w="9525">
            <a:noFill/>
          </a:ln>
        </p:spPr>
      </p:pic>
      <p:sp>
        <p:nvSpPr>
          <p:cNvPr id="5" name="Text Box 4"/>
          <p:cNvSpPr txBox="1"/>
          <p:nvPr/>
        </p:nvSpPr>
        <p:spPr>
          <a:xfrm>
            <a:off x="401320" y="1550035"/>
            <a:ext cx="11389360" cy="3230245"/>
          </a:xfrm>
          <a:prstGeom prst="rect">
            <a:avLst/>
          </a:prstGeom>
          <a:noFill/>
        </p:spPr>
        <p:txBody>
          <a:bodyPr wrap="square" rtlCol="0">
            <a:noAutofit/>
          </a:bodyPr>
          <a:lstStyle/>
          <a:p>
            <a:pPr marL="571500" indent="-571500" algn="just">
              <a:buFont typeface="Arial" panose="020B0604020202020204" pitchFamily="34" charset="0"/>
              <a:buChar char="•"/>
            </a:pPr>
            <a:r>
              <a:rPr lang="en-PH" altLang="en-US" sz="3600">
                <a:latin typeface="Arial" panose="020B0604020202020204" pitchFamily="34" charset="0"/>
                <a:cs typeface="Arial" panose="020B0604020202020204" pitchFamily="34" charset="0"/>
              </a:rPr>
              <a:t>Plagiarism is the use of another’s work, words, or ideas without attribution. The word “plagiarism” comes from the Latin word for “kidnapper” and is considered a form of theft, a breach of honesty in the academic community.</a:t>
            </a:r>
            <a:endParaRPr lang="en-PH" altLang="en-US" sz="3600">
              <a:latin typeface="Arial" panose="020B0604020202020204" pitchFamily="34" charset="0"/>
              <a:cs typeface="Arial" panose="020B0604020202020204" pitchFamily="34" charset="0"/>
            </a:endParaRPr>
          </a:p>
        </p:txBody>
      </p:sp>
      <p:sp>
        <p:nvSpPr>
          <p:cNvPr id="4" name="Text Box 3"/>
          <p:cNvSpPr txBox="1"/>
          <p:nvPr/>
        </p:nvSpPr>
        <p:spPr>
          <a:xfrm>
            <a:off x="838200" y="250825"/>
            <a:ext cx="4064000" cy="829945"/>
          </a:xfrm>
          <a:prstGeom prst="rect">
            <a:avLst/>
          </a:prstGeom>
          <a:noFill/>
        </p:spPr>
        <p:txBody>
          <a:bodyPr wrap="square" rtlCol="0">
            <a:spAutoFit/>
          </a:bodyPr>
          <a:lstStyle/>
          <a:p>
            <a:r>
              <a:rPr lang="en-PH" altLang="en-US" sz="4800">
                <a:latin typeface="You Are Not Alone" panose="00000500000000000000" charset="0"/>
                <a:cs typeface="You Are Not Alone" panose="00000500000000000000" charset="0"/>
              </a:rPr>
              <a:t>PLAGIARISM</a:t>
            </a:r>
            <a:endParaRPr lang="en-PH" altLang="en-US" sz="4800">
              <a:latin typeface="You Are Not Alone" panose="00000500000000000000" charset="0"/>
              <a:cs typeface="You Are Not Alone" panose="00000500000000000000"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191135"/>
            <a:ext cx="12192635" cy="7049135"/>
          </a:xfrm>
          <a:prstGeom prst="rect">
            <a:avLst/>
          </a:prstGeom>
          <a:noFill/>
          <a:ln w="9525">
            <a:noFill/>
          </a:ln>
        </p:spPr>
      </p:pic>
      <p:sp>
        <p:nvSpPr>
          <p:cNvPr id="5" name="Text Box 4"/>
          <p:cNvSpPr txBox="1"/>
          <p:nvPr/>
        </p:nvSpPr>
        <p:spPr>
          <a:xfrm>
            <a:off x="401320" y="-88265"/>
            <a:ext cx="11389360" cy="6851015"/>
          </a:xfrm>
          <a:prstGeom prst="rect">
            <a:avLst/>
          </a:prstGeom>
          <a:noFill/>
        </p:spPr>
        <p:txBody>
          <a:bodyPr wrap="square" rtlCol="0">
            <a:noAutofit/>
          </a:bodyPr>
          <a:lstStyle/>
          <a:p>
            <a:pPr marL="571500" indent="-571500" algn="just">
              <a:buFont typeface="Arial" panose="020B0604020202020204" pitchFamily="34" charset="0"/>
              <a:buChar char="•"/>
            </a:pPr>
            <a:r>
              <a:rPr lang="en-PH" altLang="en-US" sz="3200">
                <a:latin typeface="Arial" panose="020B0604020202020204" pitchFamily="34" charset="0"/>
                <a:cs typeface="Arial" panose="020B0604020202020204" pitchFamily="34" charset="0"/>
              </a:rPr>
              <a:t>Here are some examples of Plagiarism:</a:t>
            </a:r>
            <a:endParaRPr lang="en-PH" altLang="en-US" sz="32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3200">
                <a:latin typeface="Arial" panose="020B0604020202020204" pitchFamily="34" charset="0"/>
                <a:cs typeface="Arial" panose="020B0604020202020204" pitchFamily="34" charset="0"/>
              </a:rPr>
              <a:t>Turning in someone else's work as your own.</a:t>
            </a:r>
            <a:endParaRPr lang="en-PH" altLang="en-US" sz="32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3200">
                <a:latin typeface="Arial" panose="020B0604020202020204" pitchFamily="34" charset="0"/>
                <a:cs typeface="Arial" panose="020B0604020202020204" pitchFamily="34" charset="0"/>
              </a:rPr>
              <a:t>Copying large pieces of text from a source without citing that source.</a:t>
            </a:r>
            <a:endParaRPr lang="en-PH" altLang="en-US" sz="32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3200">
                <a:latin typeface="Arial" panose="020B0604020202020204" pitchFamily="34" charset="0"/>
                <a:cs typeface="Arial" panose="020B0604020202020204" pitchFamily="34" charset="0"/>
              </a:rPr>
              <a:t>Taking passages from multiple sources, piecing them together, and turning in the work as your own.</a:t>
            </a:r>
            <a:endParaRPr lang="en-PH" altLang="en-US" sz="32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3200">
                <a:latin typeface="Arial" panose="020B0604020202020204" pitchFamily="34" charset="0"/>
                <a:cs typeface="Arial" panose="020B0604020202020204" pitchFamily="34" charset="0"/>
              </a:rPr>
              <a:t>Copying from a source but changing a few words and phrases to disguise plagiarism.</a:t>
            </a:r>
            <a:endParaRPr lang="en-PH" altLang="en-US" sz="32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3200">
                <a:latin typeface="Arial" panose="020B0604020202020204" pitchFamily="34" charset="0"/>
                <a:cs typeface="Arial" panose="020B0604020202020204" pitchFamily="34" charset="0"/>
              </a:rPr>
              <a:t>Paraphrasing from a number of different sources without citing those sources.</a:t>
            </a:r>
            <a:endParaRPr lang="en-PH" altLang="en-US" sz="32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3200">
                <a:latin typeface="Arial" panose="020B0604020202020204" pitchFamily="34" charset="0"/>
                <a:cs typeface="Arial" panose="020B0604020202020204" pitchFamily="34" charset="0"/>
              </a:rPr>
              <a:t>Turning in work that you did for another class without getting your professor's permission first.</a:t>
            </a:r>
            <a:endParaRPr lang="en-PH" altLang="en-US" sz="32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3200">
                <a:latin typeface="Arial" panose="020B0604020202020204" pitchFamily="34" charset="0"/>
                <a:cs typeface="Arial" panose="020B0604020202020204" pitchFamily="34" charset="0"/>
              </a:rPr>
              <a:t>Buying an essay or paper and turning it in as your own work.</a:t>
            </a:r>
            <a:endParaRPr lang="en-PH" altLang="en-US" sz="3200">
              <a:latin typeface="Arial" panose="020B0604020202020204" pitchFamily="34" charset="0"/>
              <a:cs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172085"/>
            <a:ext cx="12192635" cy="7049135"/>
          </a:xfrm>
          <a:prstGeom prst="rect">
            <a:avLst/>
          </a:prstGeom>
          <a:noFill/>
          <a:ln w="9525">
            <a:noFill/>
          </a:ln>
        </p:spPr>
      </p:pic>
      <p:sp>
        <p:nvSpPr>
          <p:cNvPr id="5" name="Text Box 4"/>
          <p:cNvSpPr txBox="1"/>
          <p:nvPr/>
        </p:nvSpPr>
        <p:spPr>
          <a:xfrm>
            <a:off x="401320" y="159385"/>
            <a:ext cx="11389360" cy="6264910"/>
          </a:xfrm>
          <a:prstGeom prst="rect">
            <a:avLst/>
          </a:prstGeom>
          <a:noFill/>
        </p:spPr>
        <p:txBody>
          <a:bodyPr wrap="square" rtlCol="0">
            <a:noAutofit/>
          </a:bodyPr>
          <a:lstStyle/>
          <a:p>
            <a:pPr marL="571500" indent="-571500" algn="just">
              <a:buFont typeface="Arial" panose="020B0604020202020204" pitchFamily="34" charset="0"/>
              <a:buChar char="•"/>
            </a:pPr>
            <a:r>
              <a:rPr lang="en-PH" altLang="en-US" sz="2800">
                <a:latin typeface="Arial" panose="020B0604020202020204" pitchFamily="34" charset="0"/>
                <a:cs typeface="Arial" panose="020B0604020202020204" pitchFamily="34" charset="0"/>
              </a:rPr>
              <a:t>It's important to remember that plagiarism can be both intentional and unintentional. However, unintentional plagiarism carries the same consequences. There are steps you can take to avoid plagiarizing unintentionally:</a:t>
            </a:r>
            <a:endParaRPr lang="en-PH" altLang="en-US" sz="28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altLang="en-US" sz="28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2800" b="1">
                <a:latin typeface="Arial" panose="020B0604020202020204" pitchFamily="34" charset="0"/>
                <a:cs typeface="Arial" panose="020B0604020202020204" pitchFamily="34" charset="0"/>
              </a:rPr>
              <a:t>Plan well:</a:t>
            </a:r>
            <a:r>
              <a:rPr lang="en-PH" altLang="en-US" sz="2800">
                <a:latin typeface="Arial" panose="020B0604020202020204" pitchFamily="34" charset="0"/>
                <a:cs typeface="Arial" panose="020B0604020202020204" pitchFamily="34" charset="0"/>
              </a:rPr>
              <a:t> Make sure you give yourself enough time to properly research and write your assignment. This will get rid of the temptation to plagiarize and make you less likely to make a careless mistake.</a:t>
            </a:r>
            <a:endParaRPr lang="en-PH" altLang="en-US" sz="2800">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altLang="en-US" sz="2800" b="1">
                <a:latin typeface="Arial" panose="020B0604020202020204" pitchFamily="34" charset="0"/>
                <a:cs typeface="Arial" panose="020B0604020202020204" pitchFamily="34" charset="0"/>
              </a:rPr>
              <a:t>Take good notes</a:t>
            </a:r>
            <a:r>
              <a:rPr lang="en-PH" altLang="en-US" sz="2800">
                <a:latin typeface="Arial" panose="020B0604020202020204" pitchFamily="34" charset="0"/>
                <a:cs typeface="Arial" panose="020B0604020202020204" pitchFamily="34" charset="0"/>
              </a:rPr>
              <a:t>: When taking notes, be sure to keep track of which source your information is coming from, which of your notes are direct quotes and paraphrases, and make sure to note where in the source your information is coming from.</a:t>
            </a:r>
            <a:endParaRPr lang="en-PH" altLang="en-US" sz="2800">
              <a:latin typeface="Arial" panose="020B0604020202020204" pitchFamily="34" charset="0"/>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ltLang="en-US" b="1"/>
          </a:p>
        </p:txBody>
      </p:sp>
      <p:sp>
        <p:nvSpPr>
          <p:cNvPr id="3" name="Content Placeholder 2"/>
          <p:cNvSpPr>
            <a:spLocks noGrp="1"/>
          </p:cNvSpPr>
          <p:nvPr>
            <p:ph idx="1"/>
          </p:nvPr>
        </p:nvSpPr>
        <p:spPr/>
        <p:txBody>
          <a:bodyPr/>
          <a:lstStyle/>
          <a:p>
            <a:endParaRPr lang="en-US"/>
          </a:p>
        </p:txBody>
      </p:sp>
      <p:pic>
        <p:nvPicPr>
          <p:cNvPr id="101" name="Picture 100"/>
          <p:cNvPicPr/>
          <p:nvPr/>
        </p:nvPicPr>
        <p:blipFill>
          <a:blip r:embed="rId1">
            <a:alphaModFix amt="28000"/>
          </a:blip>
          <a:stretch>
            <a:fillRect/>
          </a:stretch>
        </p:blipFill>
        <p:spPr>
          <a:xfrm>
            <a:off x="0" y="-210185"/>
            <a:ext cx="12192635" cy="7049135"/>
          </a:xfrm>
          <a:prstGeom prst="rect">
            <a:avLst/>
          </a:prstGeom>
          <a:noFill/>
          <a:ln w="9525">
            <a:noFill/>
          </a:ln>
        </p:spPr>
      </p:pic>
      <p:sp>
        <p:nvSpPr>
          <p:cNvPr id="4" name="Text Box 3"/>
          <p:cNvSpPr txBox="1"/>
          <p:nvPr/>
        </p:nvSpPr>
        <p:spPr>
          <a:xfrm>
            <a:off x="418465" y="60325"/>
            <a:ext cx="10935970" cy="5706110"/>
          </a:xfrm>
          <a:prstGeom prst="rect">
            <a:avLst/>
          </a:prstGeom>
          <a:noFill/>
        </p:spPr>
        <p:txBody>
          <a:bodyPr wrap="square" rtlCol="0">
            <a:noAutofit/>
          </a:bodyPr>
          <a:lstStyle/>
          <a:p>
            <a:r>
              <a:rPr lang="en-US" sz="3200"/>
              <a:t>You can avoid plagiarism by:</a:t>
            </a:r>
            <a:endParaRPr lang="en-US" sz="3200"/>
          </a:p>
          <a:p>
            <a:endParaRPr lang="en-US" sz="3200"/>
          </a:p>
          <a:p>
            <a:pPr marL="457200" indent="-457200">
              <a:buFont typeface="Arial" panose="020B0604020202020204" pitchFamily="34" charset="0"/>
              <a:buChar char="•"/>
            </a:pPr>
            <a:r>
              <a:rPr lang="en-US" sz="3200"/>
              <a:t>Keeping track of the sources you consult in your research</a:t>
            </a:r>
            <a:endParaRPr lang="en-US" sz="3200"/>
          </a:p>
          <a:p>
            <a:pPr marL="457200" indent="-457200">
              <a:buFont typeface="Arial" panose="020B0604020202020204" pitchFamily="34" charset="0"/>
              <a:buChar char="•"/>
            </a:pPr>
            <a:r>
              <a:rPr lang="en-US" sz="3200"/>
              <a:t>Paraphrasing or quoting from your sources (by using a paraphrasing tool and adding your own ideas)</a:t>
            </a:r>
            <a:endParaRPr lang="en-US" sz="3200"/>
          </a:p>
          <a:p>
            <a:pPr marL="457200" indent="-457200">
              <a:buFont typeface="Arial" panose="020B0604020202020204" pitchFamily="34" charset="0"/>
              <a:buChar char="•"/>
            </a:pPr>
            <a:r>
              <a:rPr lang="en-US" sz="3200"/>
              <a:t>Crediting the original author in an in-text citation and in your reference list</a:t>
            </a:r>
            <a:endParaRPr lang="en-US" sz="3200"/>
          </a:p>
          <a:p>
            <a:pPr marL="457200" indent="-457200">
              <a:buFont typeface="Arial" panose="020B0604020202020204" pitchFamily="34" charset="0"/>
              <a:buChar char="•"/>
            </a:pPr>
            <a:r>
              <a:rPr lang="en-US" sz="3200"/>
              <a:t>Using a plagiarism checker before you submit</a:t>
            </a:r>
            <a:endParaRPr lang="en-US" sz="3200"/>
          </a:p>
          <a:p>
            <a:pPr marL="457200" indent="-457200">
              <a:buFont typeface="Arial" panose="020B0604020202020204" pitchFamily="34" charset="0"/>
              <a:buChar char="•"/>
            </a:pPr>
            <a:r>
              <a:rPr lang="en-US" sz="3200"/>
              <a:t>Use generative AI tools responsibly (outputs may be detected by an AI detector)</a:t>
            </a:r>
            <a:endParaRPr lang="en-US" sz="32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altLang="en-US" sz="7200" b="1">
                <a:latin typeface="Mistral" panose="03090702030407020403" charset="0"/>
                <a:cs typeface="Mistral" panose="03090702030407020403" charset="0"/>
              </a:rPr>
              <a:t>THANK YOU!</a:t>
            </a:r>
            <a:endParaRPr lang="en-PH" altLang="en-US" sz="7200" b="1">
              <a:latin typeface="Mistral" panose="03090702030407020403" charset="0"/>
              <a:cs typeface="Mistral" panose="03090702030407020403" charset="0"/>
            </a:endParaRPr>
          </a:p>
        </p:txBody>
      </p:sp>
      <p:sp>
        <p:nvSpPr>
          <p:cNvPr id="3" name="Content Placeholder 2"/>
          <p:cNvSpPr>
            <a:spLocks noGrp="1"/>
          </p:cNvSpPr>
          <p:nvPr>
            <p:ph idx="1"/>
          </p:nvPr>
        </p:nvSpPr>
        <p:spPr/>
        <p:txBody>
          <a:bodyPr/>
          <a:lstStyle/>
          <a:p>
            <a:endParaRPr lang="en-US"/>
          </a:p>
        </p:txBody>
      </p:sp>
      <p:pic>
        <p:nvPicPr>
          <p:cNvPr id="128" name="Picture 127"/>
          <p:cNvPicPr/>
          <p:nvPr/>
        </p:nvPicPr>
        <p:blipFill>
          <a:blip r:embed="rId1"/>
          <a:stretch>
            <a:fillRect/>
          </a:stretch>
        </p:blipFill>
        <p:spPr>
          <a:xfrm>
            <a:off x="4171315" y="544830"/>
            <a:ext cx="6515735" cy="5768340"/>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9508</Words>
  <Application>WPS Presentation</Application>
  <PresentationFormat>Widescreen</PresentationFormat>
  <Paragraphs>145</Paragraphs>
  <Slides>40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40</vt:i4>
      </vt:variant>
    </vt:vector>
  </HeadingPairs>
  <TitlesOfParts>
    <vt:vector size="50" baseType="lpstr">
      <vt:lpstr>Arial</vt:lpstr>
      <vt:lpstr>SimSun</vt:lpstr>
      <vt:lpstr>Wingdings</vt:lpstr>
      <vt:lpstr>Calibri</vt:lpstr>
      <vt:lpstr>You Are Not Alone</vt:lpstr>
      <vt:lpstr>Calibri Light</vt:lpstr>
      <vt:lpstr>Microsoft YaHei</vt:lpstr>
      <vt:lpstr>Arial Unicode MS</vt:lpstr>
      <vt:lpstr>Mistral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Differences in general Trademarks and Domain Names: What’s the Difference</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63956</dc:creator>
  <cp:lastModifiedBy>EDDIE S. CENITA JR</cp:lastModifiedBy>
  <cp:revision>139</cp:revision>
  <dcterms:created xsi:type="dcterms:W3CDTF">2024-04-03T09:09:00Z</dcterms:created>
  <dcterms:modified xsi:type="dcterms:W3CDTF">2024-06-03T11:02:43Z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B04E38BF5C1E4EFA8AEDB027D045D8FF_13</vt:lpwstr>
  </property>
  <property fmtid="{D5CDD505-2E9C-101B-9397-08002B2CF9AE}" pid="3" name="KSOProductBuildVer">
    <vt:lpwstr>1033-12.2.0.16909</vt:lpwstr>
  </property>
</Properties>
</file>